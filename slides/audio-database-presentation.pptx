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1" r:id="rId9"/>
    <p:sldId id="272" r:id="rId10"/>
    <p:sldId id="273" r:id="rId11"/>
    <p:sldId id="274" r:id="rId12"/>
    <p:sldId id="276" r:id="rId13"/>
    <p:sldId id="266" r:id="rId14"/>
    <p:sldId id="265" r:id="rId15"/>
    <p:sldId id="268"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BẢO VỆ ĐỒ ÁN</a:t>
            </a:r>
          </a:p>
        </p:txBody>
      </p:sp>
      <p:sp>
        <p:nvSpPr>
          <p:cNvPr id="4" name="TextBox 3"/>
          <p:cNvSpPr txBox="1"/>
          <p:nvPr/>
        </p:nvSpPr>
        <p:spPr>
          <a:xfrm>
            <a:off x="713232" y="1234440"/>
            <a:ext cx="6035040" cy="1874519"/>
          </a:xfrm>
          <a:prstGeom prst="rect">
            <a:avLst/>
          </a:prstGeom>
          <a:noFill/>
        </p:spPr>
        <p:txBody>
          <a:bodyPr wrap="square" lIns="0" tIns="0" rIns="0" bIns="0">
            <a:normAutofit/>
          </a:bodyPr>
          <a:lstStyle/>
          <a:p>
            <a:r>
              <a:rPr sz="3800" dirty="0" err="1">
                <a:solidFill>
                  <a:srgbClr val="2A2119"/>
                </a:solidFill>
                <a:latin typeface="Georgia"/>
              </a:rPr>
              <a:t>Thiết</a:t>
            </a:r>
            <a:r>
              <a:rPr sz="3800" dirty="0">
                <a:solidFill>
                  <a:srgbClr val="2A2119"/>
                </a:solidFill>
                <a:latin typeface="Georgia"/>
              </a:rPr>
              <a:t> </a:t>
            </a:r>
            <a:r>
              <a:rPr sz="3800" dirty="0" err="1">
                <a:solidFill>
                  <a:srgbClr val="2A2119"/>
                </a:solidFill>
                <a:latin typeface="Georgia"/>
              </a:rPr>
              <a:t>kế</a:t>
            </a:r>
            <a:r>
              <a:rPr sz="3800" dirty="0">
                <a:solidFill>
                  <a:srgbClr val="2A2119"/>
                </a:solidFill>
                <a:latin typeface="Georgia"/>
              </a:rPr>
              <a:t> </a:t>
            </a:r>
            <a:r>
              <a:rPr sz="3800" dirty="0" err="1">
                <a:solidFill>
                  <a:srgbClr val="2A2119"/>
                </a:solidFill>
                <a:latin typeface="Georgia"/>
              </a:rPr>
              <a:t>và</a:t>
            </a:r>
            <a:r>
              <a:rPr sz="3800" dirty="0">
                <a:solidFill>
                  <a:srgbClr val="2A2119"/>
                </a:solidFill>
                <a:latin typeface="Georgia"/>
              </a:rPr>
              <a:t> </a:t>
            </a:r>
            <a:r>
              <a:rPr sz="3800" dirty="0" err="1">
                <a:solidFill>
                  <a:srgbClr val="2A2119"/>
                </a:solidFill>
                <a:latin typeface="Georgia"/>
              </a:rPr>
              <a:t>xây</a:t>
            </a:r>
            <a:r>
              <a:rPr sz="3800" dirty="0">
                <a:solidFill>
                  <a:srgbClr val="2A2119"/>
                </a:solidFill>
                <a:latin typeface="Georgia"/>
              </a:rPr>
              <a:t> </a:t>
            </a:r>
            <a:r>
              <a:rPr sz="3800" dirty="0" err="1">
                <a:solidFill>
                  <a:srgbClr val="2A2119"/>
                </a:solidFill>
                <a:latin typeface="Georgia"/>
              </a:rPr>
              <a:t>dựng</a:t>
            </a:r>
            <a:r>
              <a:rPr sz="3800" dirty="0">
                <a:solidFill>
                  <a:srgbClr val="2A2119"/>
                </a:solidFill>
                <a:latin typeface="Georgia"/>
              </a:rPr>
              <a:t> </a:t>
            </a:r>
            <a:r>
              <a:rPr sz="3800" dirty="0" err="1">
                <a:solidFill>
                  <a:srgbClr val="2A2119"/>
                </a:solidFill>
                <a:latin typeface="Georgia"/>
              </a:rPr>
              <a:t>hệ</a:t>
            </a:r>
            <a:r>
              <a:rPr sz="3800" dirty="0">
                <a:solidFill>
                  <a:srgbClr val="2A2119"/>
                </a:solidFill>
                <a:latin typeface="Georgia"/>
              </a:rPr>
              <a:t> </a:t>
            </a:r>
            <a:r>
              <a:rPr sz="3800" dirty="0" err="1">
                <a:solidFill>
                  <a:srgbClr val="2A2119"/>
                </a:solidFill>
                <a:latin typeface="Georgia"/>
              </a:rPr>
              <a:t>cơ</a:t>
            </a:r>
            <a:r>
              <a:rPr sz="3800" dirty="0">
                <a:solidFill>
                  <a:srgbClr val="2A2119"/>
                </a:solidFill>
                <a:latin typeface="Georgia"/>
              </a:rPr>
              <a:t> </a:t>
            </a:r>
            <a:r>
              <a:rPr sz="3800" dirty="0" err="1">
                <a:solidFill>
                  <a:srgbClr val="2A2119"/>
                </a:solidFill>
                <a:latin typeface="Georgia"/>
              </a:rPr>
              <a:t>sở</a:t>
            </a:r>
            <a:r>
              <a:rPr sz="3800" dirty="0">
                <a:solidFill>
                  <a:srgbClr val="2A2119"/>
                </a:solidFill>
                <a:latin typeface="Georgia"/>
              </a:rPr>
              <a:t> </a:t>
            </a:r>
            <a:r>
              <a:rPr sz="3800" dirty="0" err="1">
                <a:solidFill>
                  <a:srgbClr val="2A2119"/>
                </a:solidFill>
                <a:latin typeface="Georgia"/>
              </a:rPr>
              <a:t>dữ</a:t>
            </a:r>
            <a:r>
              <a:rPr sz="3800" dirty="0">
                <a:solidFill>
                  <a:srgbClr val="2A2119"/>
                </a:solidFill>
                <a:latin typeface="Georgia"/>
              </a:rPr>
              <a:t> </a:t>
            </a:r>
            <a:r>
              <a:rPr sz="3800" dirty="0" err="1">
                <a:solidFill>
                  <a:srgbClr val="2A2119"/>
                </a:solidFill>
                <a:latin typeface="Georgia"/>
              </a:rPr>
              <a:t>liệu</a:t>
            </a:r>
            <a:r>
              <a:rPr sz="3800" dirty="0">
                <a:solidFill>
                  <a:srgbClr val="2A2119"/>
                </a:solidFill>
                <a:latin typeface="Georgia"/>
              </a:rPr>
              <a:t> </a:t>
            </a:r>
            <a:r>
              <a:rPr sz="3800" dirty="0" err="1">
                <a:solidFill>
                  <a:srgbClr val="2A2119"/>
                </a:solidFill>
                <a:latin typeface="Georgia"/>
              </a:rPr>
              <a:t>âm</a:t>
            </a:r>
            <a:r>
              <a:rPr sz="3800" dirty="0">
                <a:solidFill>
                  <a:srgbClr val="2A2119"/>
                </a:solidFill>
                <a:latin typeface="Georgia"/>
              </a:rPr>
              <a:t> </a:t>
            </a:r>
            <a:r>
              <a:rPr sz="3800" dirty="0" err="1">
                <a:solidFill>
                  <a:srgbClr val="2A2119"/>
                </a:solidFill>
                <a:latin typeface="Georgia"/>
              </a:rPr>
              <a:t>thanh</a:t>
            </a:r>
            <a:endParaRPr sz="3800" dirty="0">
              <a:solidFill>
                <a:srgbClr val="2A2119"/>
              </a:solidFill>
              <a:latin typeface="Georgia"/>
            </a:endParaRPr>
          </a:p>
        </p:txBody>
      </p:sp>
      <p:sp>
        <p:nvSpPr>
          <p:cNvPr id="5" name="TextBox 4"/>
          <p:cNvSpPr txBox="1"/>
          <p:nvPr/>
        </p:nvSpPr>
        <p:spPr>
          <a:xfrm>
            <a:off x="685800" y="2779776"/>
            <a:ext cx="6035040" cy="1371600"/>
          </a:xfrm>
          <a:prstGeom prst="rect">
            <a:avLst/>
          </a:prstGeom>
          <a:noFill/>
        </p:spPr>
        <p:txBody>
          <a:bodyPr wrap="square" lIns="0" tIns="0" rIns="0" bIns="0">
            <a:normAutofit/>
          </a:bodyPr>
          <a:lstStyle/>
          <a:p>
            <a:r>
              <a:rPr lang="vi-VN" sz="2000" dirty="0">
                <a:solidFill>
                  <a:srgbClr val="726659"/>
                </a:solidFill>
                <a:latin typeface="Aptos"/>
              </a:rPr>
              <a:t>Phan Công Hoài </a:t>
            </a:r>
          </a:p>
          <a:p>
            <a:r>
              <a:rPr lang="vi-VN" sz="2000" dirty="0">
                <a:solidFill>
                  <a:srgbClr val="726659"/>
                </a:solidFill>
                <a:latin typeface="Aptos"/>
              </a:rPr>
              <a:t>MSSV: N22DCCN030</a:t>
            </a:r>
          </a:p>
          <a:p>
            <a:r>
              <a:rPr lang="vi-VN" sz="2000" dirty="0">
                <a:solidFill>
                  <a:srgbClr val="726659"/>
                </a:solidFill>
                <a:latin typeface="Aptos"/>
              </a:rPr>
              <a:t>GVHD: Lê Hà Thanh</a:t>
            </a:r>
            <a:endParaRPr sz="2000" dirty="0">
              <a:solidFill>
                <a:srgbClr val="726659"/>
              </a:solidFill>
              <a:latin typeface="Aptos"/>
            </a:endParaRPr>
          </a:p>
        </p:txBody>
      </p:sp>
      <p:sp>
        <p:nvSpPr>
          <p:cNvPr id="6" name="Rounded Rectangle 5"/>
          <p:cNvSpPr/>
          <p:nvPr/>
        </p:nvSpPr>
        <p:spPr>
          <a:xfrm>
            <a:off x="7315200" y="1234440"/>
            <a:ext cx="3931920" cy="429768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0" y="1618488"/>
            <a:ext cx="2743200" cy="530352"/>
          </a:xfrm>
          <a:prstGeom prst="rect">
            <a:avLst/>
          </a:prstGeom>
          <a:noFill/>
        </p:spPr>
        <p:txBody>
          <a:bodyPr wrap="square" lIns="0" tIns="0" rIns="0" bIns="0">
            <a:normAutofit/>
          </a:bodyPr>
          <a:lstStyle/>
          <a:p>
            <a:r>
              <a:rPr sz="2200">
                <a:solidFill>
                  <a:srgbClr val="2A2119"/>
                </a:solidFill>
                <a:latin typeface="Georgia"/>
              </a:rPr>
              <a:t>Thông tin chính</a:t>
            </a:r>
          </a:p>
        </p:txBody>
      </p:sp>
      <p:sp>
        <p:nvSpPr>
          <p:cNvPr id="8" name="TextBox 7"/>
          <p:cNvSpPr txBox="1"/>
          <p:nvPr/>
        </p:nvSpPr>
        <p:spPr>
          <a:xfrm>
            <a:off x="7589520" y="2011680"/>
            <a:ext cx="3200400" cy="822960"/>
          </a:xfrm>
          <a:prstGeom prst="rect">
            <a:avLst/>
          </a:prstGeom>
          <a:noFill/>
        </p:spPr>
        <p:txBody>
          <a:bodyPr wrap="square" lIns="0" tIns="0" rIns="0" bIns="0">
            <a:normAutofit/>
          </a:bodyPr>
          <a:lstStyle/>
          <a:p>
            <a:r>
              <a:rPr sz="1800">
                <a:solidFill>
                  <a:srgbClr val="726659"/>
                </a:solidFill>
                <a:latin typeface="Aptos"/>
              </a:rPr>
              <a:t>Môn học
Multimedia Database Systems</a:t>
            </a:r>
          </a:p>
        </p:txBody>
      </p:sp>
      <p:sp>
        <p:nvSpPr>
          <p:cNvPr id="9" name="TextBox 8"/>
          <p:cNvSpPr txBox="1"/>
          <p:nvPr/>
        </p:nvSpPr>
        <p:spPr>
          <a:xfrm>
            <a:off x="7589520" y="2926080"/>
            <a:ext cx="3200400" cy="822960"/>
          </a:xfrm>
          <a:prstGeom prst="rect">
            <a:avLst/>
          </a:prstGeom>
          <a:noFill/>
        </p:spPr>
        <p:txBody>
          <a:bodyPr wrap="square" lIns="0" tIns="0" rIns="0" bIns="0">
            <a:normAutofit/>
          </a:bodyPr>
          <a:lstStyle/>
          <a:p>
            <a:r>
              <a:rPr sz="1800">
                <a:solidFill>
                  <a:srgbClr val="726659"/>
                </a:solidFill>
                <a:latin typeface="Aptos"/>
              </a:rPr>
              <a:t>Công nghệ
React, Node.js, Express</a:t>
            </a:r>
          </a:p>
        </p:txBody>
      </p:sp>
      <p:sp>
        <p:nvSpPr>
          <p:cNvPr id="10" name="TextBox 9"/>
          <p:cNvSpPr txBox="1"/>
          <p:nvPr/>
        </p:nvSpPr>
        <p:spPr>
          <a:xfrm>
            <a:off x="7589520" y="3840480"/>
            <a:ext cx="3200400" cy="914400"/>
          </a:xfrm>
          <a:prstGeom prst="rect">
            <a:avLst/>
          </a:prstGeom>
          <a:noFill/>
        </p:spPr>
        <p:txBody>
          <a:bodyPr wrap="square" lIns="0" tIns="0" rIns="0" bIns="0">
            <a:normAutofit/>
          </a:bodyPr>
          <a:lstStyle/>
          <a:p>
            <a:r>
              <a:rPr sz="1800">
                <a:solidFill>
                  <a:srgbClr val="726659"/>
                </a:solidFill>
                <a:latin typeface="Aptos"/>
              </a:rPr>
              <a:t>Dữ liệu thật
Tiếng vỗ tay, tiếng trống, tiếng chuông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ĐỀ BÀI</a:t>
            </a:r>
          </a:p>
        </p:txBody>
      </p:sp>
      <p:sp>
        <p:nvSpPr>
          <p:cNvPr id="4" name="TextBox 3"/>
          <p:cNvSpPr txBox="1"/>
          <p:nvPr/>
        </p:nvSpPr>
        <p:spPr>
          <a:xfrm>
            <a:off x="713232" y="960120"/>
            <a:ext cx="7680960" cy="1874519"/>
          </a:xfrm>
          <a:prstGeom prst="rect">
            <a:avLst/>
          </a:prstGeom>
          <a:noFill/>
        </p:spPr>
        <p:txBody>
          <a:bodyPr wrap="square" lIns="0" tIns="0" rIns="0" bIns="0">
            <a:normAutofit/>
          </a:bodyPr>
          <a:lstStyle/>
          <a:p>
            <a:r>
              <a:rPr sz="3800">
                <a:solidFill>
                  <a:srgbClr val="2A2119"/>
                </a:solidFill>
                <a:latin typeface="Georgia"/>
              </a:rPr>
              <a:t>Bài toán mà đồ án phải giải quyết</a:t>
            </a:r>
          </a:p>
        </p:txBody>
      </p:sp>
      <p:sp>
        <p:nvSpPr>
          <p:cNvPr id="5" name="TextBox 4"/>
          <p:cNvSpPr txBox="1"/>
          <p:nvPr/>
        </p:nvSpPr>
        <p:spPr>
          <a:xfrm>
            <a:off x="749808" y="1828800"/>
            <a:ext cx="6400800" cy="3749039"/>
          </a:xfrm>
          <a:prstGeom prst="rect">
            <a:avLst/>
          </a:prstGeom>
          <a:noFill/>
        </p:spPr>
        <p:txBody>
          <a:bodyPr wrap="square" lIns="0" tIns="0" rIns="0" bIns="0">
            <a:normAutofit/>
          </a:bodyPr>
          <a:lstStyle/>
          <a:p>
            <a:pPr>
              <a:spcBef>
                <a:spcPts val="0"/>
              </a:spcBef>
              <a:spcAft>
                <a:spcPts val="1000"/>
              </a:spcAft>
            </a:pPr>
            <a:r>
              <a:rPr sz="1800" dirty="0" err="1">
                <a:solidFill>
                  <a:srgbClr val="726659"/>
                </a:solidFill>
                <a:latin typeface="Aptos"/>
              </a:rPr>
              <a:t>Bài</a:t>
            </a:r>
            <a:r>
              <a:rPr sz="1800" dirty="0">
                <a:solidFill>
                  <a:srgbClr val="726659"/>
                </a:solidFill>
                <a:latin typeface="Aptos"/>
              </a:rPr>
              <a:t> 1: </a:t>
            </a:r>
            <a:r>
              <a:rPr sz="1800" dirty="0" err="1">
                <a:solidFill>
                  <a:srgbClr val="726659"/>
                </a:solidFill>
                <a:latin typeface="Aptos"/>
              </a:rPr>
              <a:t>Thiết</a:t>
            </a:r>
            <a:r>
              <a:rPr sz="1800" dirty="0">
                <a:solidFill>
                  <a:srgbClr val="726659"/>
                </a:solidFill>
                <a:latin typeface="Aptos"/>
              </a:rPr>
              <a:t> </a:t>
            </a:r>
            <a:r>
              <a:rPr sz="1800" dirty="0" err="1">
                <a:solidFill>
                  <a:srgbClr val="726659"/>
                </a:solidFill>
                <a:latin typeface="Aptos"/>
              </a:rPr>
              <a:t>kế</a:t>
            </a:r>
            <a:r>
              <a:rPr sz="1800" dirty="0">
                <a:solidFill>
                  <a:srgbClr val="726659"/>
                </a:solidFill>
                <a:latin typeface="Aptos"/>
              </a:rPr>
              <a:t> </a:t>
            </a:r>
            <a:r>
              <a:rPr sz="1800" dirty="0" err="1">
                <a:solidFill>
                  <a:srgbClr val="726659"/>
                </a:solidFill>
                <a:latin typeface="Aptos"/>
              </a:rPr>
              <a:t>tập</a:t>
            </a:r>
            <a:r>
              <a:rPr sz="1800" dirty="0">
                <a:solidFill>
                  <a:srgbClr val="726659"/>
                </a:solidFill>
                <a:latin typeface="Aptos"/>
              </a:rPr>
              <a:t> </a:t>
            </a:r>
            <a:r>
              <a:rPr sz="1800" dirty="0" err="1">
                <a:solidFill>
                  <a:srgbClr val="726659"/>
                </a:solidFill>
                <a:latin typeface="Aptos"/>
              </a:rPr>
              <a:t>hàm</a:t>
            </a:r>
            <a:r>
              <a:rPr sz="1800" dirty="0">
                <a:solidFill>
                  <a:srgbClr val="726659"/>
                </a:solidFill>
                <a:latin typeface="Aptos"/>
              </a:rPr>
              <a:t> </a:t>
            </a:r>
            <a:r>
              <a:rPr sz="1800" dirty="0" err="1">
                <a:solidFill>
                  <a:srgbClr val="726659"/>
                </a:solidFill>
                <a:latin typeface="Aptos"/>
              </a:rPr>
              <a:t>nguyên</a:t>
            </a:r>
            <a:r>
              <a:rPr sz="1800" dirty="0">
                <a:solidFill>
                  <a:srgbClr val="726659"/>
                </a:solidFill>
                <a:latin typeface="Aptos"/>
              </a:rPr>
              <a:t> </a:t>
            </a:r>
            <a:r>
              <a:rPr sz="1800" dirty="0" err="1">
                <a:solidFill>
                  <a:srgbClr val="726659"/>
                </a:solidFill>
                <a:latin typeface="Aptos"/>
              </a:rPr>
              <a:t>thủy</a:t>
            </a:r>
            <a:r>
              <a:rPr sz="1800" dirty="0">
                <a:solidFill>
                  <a:srgbClr val="726659"/>
                </a:solidFill>
                <a:latin typeface="Aptos"/>
              </a:rPr>
              <a:t> </a:t>
            </a:r>
            <a:r>
              <a:rPr sz="1800" dirty="0" err="1">
                <a:solidFill>
                  <a:srgbClr val="726659"/>
                </a:solidFill>
                <a:latin typeface="Aptos"/>
              </a:rPr>
              <a:t>cho</a:t>
            </a:r>
            <a:r>
              <a:rPr sz="1800" dirty="0">
                <a:solidFill>
                  <a:srgbClr val="726659"/>
                </a:solidFill>
                <a:latin typeface="Aptos"/>
              </a:rPr>
              <a:t> audio retrieval.</a:t>
            </a:r>
          </a:p>
          <a:p>
            <a:pPr>
              <a:spcBef>
                <a:spcPts val="0"/>
              </a:spcBef>
              <a:spcAft>
                <a:spcPts val="1000"/>
              </a:spcAft>
            </a:pPr>
            <a:r>
              <a:rPr sz="1800" dirty="0" err="1">
                <a:solidFill>
                  <a:srgbClr val="726659"/>
                </a:solidFill>
                <a:latin typeface="Aptos"/>
              </a:rPr>
              <a:t>Bài</a:t>
            </a:r>
            <a:r>
              <a:rPr sz="1800" dirty="0">
                <a:solidFill>
                  <a:srgbClr val="726659"/>
                </a:solidFill>
                <a:latin typeface="Aptos"/>
              </a:rPr>
              <a:t> 2: </a:t>
            </a:r>
            <a:r>
              <a:rPr sz="1800" dirty="0" err="1">
                <a:solidFill>
                  <a:srgbClr val="726659"/>
                </a:solidFill>
                <a:latin typeface="Aptos"/>
              </a:rPr>
              <a:t>Xây</a:t>
            </a:r>
            <a:r>
              <a:rPr sz="1800" dirty="0">
                <a:solidFill>
                  <a:srgbClr val="726659"/>
                </a:solidFill>
                <a:latin typeface="Aptos"/>
              </a:rPr>
              <a:t> </a:t>
            </a:r>
            <a:r>
              <a:rPr sz="1800" dirty="0" err="1">
                <a:solidFill>
                  <a:srgbClr val="726659"/>
                </a:solidFill>
                <a:latin typeface="Aptos"/>
              </a:rPr>
              <a:t>cấu</a:t>
            </a:r>
            <a:r>
              <a:rPr sz="1800" dirty="0">
                <a:solidFill>
                  <a:srgbClr val="726659"/>
                </a:solidFill>
                <a:latin typeface="Aptos"/>
              </a:rPr>
              <a:t> </a:t>
            </a:r>
            <a:r>
              <a:rPr sz="1800" dirty="0" err="1">
                <a:solidFill>
                  <a:srgbClr val="726659"/>
                </a:solidFill>
                <a:latin typeface="Aptos"/>
              </a:rPr>
              <a:t>trúc</a:t>
            </a:r>
            <a:r>
              <a:rPr sz="1800" dirty="0">
                <a:solidFill>
                  <a:srgbClr val="726659"/>
                </a:solidFill>
                <a:latin typeface="Aptos"/>
              </a:rPr>
              <a:t> </a:t>
            </a:r>
            <a:r>
              <a:rPr sz="1800" dirty="0" err="1">
                <a:solidFill>
                  <a:srgbClr val="726659"/>
                </a:solidFill>
                <a:latin typeface="Aptos"/>
              </a:rPr>
              <a:t>AudioIndex</a:t>
            </a:r>
            <a:r>
              <a:rPr sz="1800" dirty="0">
                <a:solidFill>
                  <a:srgbClr val="726659"/>
                </a:solidFill>
                <a:latin typeface="Aptos"/>
              </a:rPr>
              <a:t> </a:t>
            </a:r>
            <a:r>
              <a:rPr sz="1800" dirty="0" err="1">
                <a:solidFill>
                  <a:srgbClr val="726659"/>
                </a:solidFill>
                <a:latin typeface="Aptos"/>
              </a:rPr>
              <a:t>mở</a:t>
            </a:r>
            <a:r>
              <a:rPr sz="1800" dirty="0">
                <a:solidFill>
                  <a:srgbClr val="726659"/>
                </a:solidFill>
                <a:latin typeface="Aptos"/>
              </a:rPr>
              <a:t> </a:t>
            </a:r>
            <a:r>
              <a:rPr sz="1800" dirty="0" err="1">
                <a:solidFill>
                  <a:srgbClr val="726659"/>
                </a:solidFill>
                <a:latin typeface="Aptos"/>
              </a:rPr>
              <a:t>rộng</a:t>
            </a:r>
            <a:r>
              <a:rPr sz="1800" dirty="0">
                <a:solidFill>
                  <a:srgbClr val="726659"/>
                </a:solidFill>
                <a:latin typeface="Aptos"/>
              </a:rPr>
              <a:t> </a:t>
            </a:r>
            <a:r>
              <a:rPr sz="1800" dirty="0" err="1">
                <a:solidFill>
                  <a:srgbClr val="726659"/>
                </a:solidFill>
                <a:latin typeface="Aptos"/>
              </a:rPr>
              <a:t>từ</a:t>
            </a:r>
            <a:r>
              <a:rPr sz="1800" dirty="0">
                <a:solidFill>
                  <a:srgbClr val="726659"/>
                </a:solidFill>
                <a:latin typeface="Aptos"/>
              </a:rPr>
              <a:t> </a:t>
            </a:r>
            <a:r>
              <a:rPr sz="1800" dirty="0" err="1">
                <a:solidFill>
                  <a:srgbClr val="726659"/>
                </a:solidFill>
                <a:latin typeface="Aptos"/>
              </a:rPr>
              <a:t>CreateAudioIndex</a:t>
            </a:r>
            <a:r>
              <a:rPr sz="1800" dirty="0">
                <a:solidFill>
                  <a:srgbClr val="726659"/>
                </a:solidFill>
                <a:latin typeface="Aptos"/>
              </a:rPr>
              <a:t>.</a:t>
            </a:r>
          </a:p>
          <a:p>
            <a:pPr>
              <a:spcBef>
                <a:spcPts val="0"/>
              </a:spcBef>
              <a:spcAft>
                <a:spcPts val="1000"/>
              </a:spcAft>
            </a:pPr>
            <a:r>
              <a:rPr sz="1800" dirty="0" err="1">
                <a:solidFill>
                  <a:srgbClr val="726659"/>
                </a:solidFill>
                <a:latin typeface="Aptos"/>
              </a:rPr>
              <a:t>Bài</a:t>
            </a:r>
            <a:r>
              <a:rPr sz="1800" dirty="0">
                <a:solidFill>
                  <a:srgbClr val="726659"/>
                </a:solidFill>
                <a:latin typeface="Aptos"/>
              </a:rPr>
              <a:t> 3: </a:t>
            </a:r>
            <a:r>
              <a:rPr sz="1800" dirty="0" err="1">
                <a:solidFill>
                  <a:srgbClr val="726659"/>
                </a:solidFill>
                <a:latin typeface="Aptos"/>
              </a:rPr>
              <a:t>Thiết</a:t>
            </a:r>
            <a:r>
              <a:rPr sz="1800" dirty="0">
                <a:solidFill>
                  <a:srgbClr val="726659"/>
                </a:solidFill>
                <a:latin typeface="Aptos"/>
              </a:rPr>
              <a:t> </a:t>
            </a:r>
            <a:r>
              <a:rPr sz="1800" dirty="0" err="1">
                <a:solidFill>
                  <a:srgbClr val="726659"/>
                </a:solidFill>
                <a:latin typeface="Aptos"/>
              </a:rPr>
              <a:t>kế</a:t>
            </a:r>
            <a:r>
              <a:rPr sz="1800" dirty="0">
                <a:solidFill>
                  <a:srgbClr val="726659"/>
                </a:solidFill>
                <a:latin typeface="Aptos"/>
              </a:rPr>
              <a:t> </a:t>
            </a:r>
            <a:r>
              <a:rPr sz="1800" dirty="0" err="1">
                <a:solidFill>
                  <a:srgbClr val="726659"/>
                </a:solidFill>
                <a:latin typeface="Aptos"/>
              </a:rPr>
              <a:t>AudioSQL</a:t>
            </a:r>
            <a:r>
              <a:rPr sz="1800" dirty="0">
                <a:solidFill>
                  <a:srgbClr val="726659"/>
                </a:solidFill>
                <a:latin typeface="Aptos"/>
              </a:rPr>
              <a:t> </a:t>
            </a:r>
            <a:r>
              <a:rPr sz="1800" dirty="0" err="1">
                <a:solidFill>
                  <a:srgbClr val="726659"/>
                </a:solidFill>
                <a:latin typeface="Aptos"/>
              </a:rPr>
              <a:t>để</a:t>
            </a:r>
            <a:r>
              <a:rPr sz="1800" dirty="0">
                <a:solidFill>
                  <a:srgbClr val="726659"/>
                </a:solidFill>
                <a:latin typeface="Aptos"/>
              </a:rPr>
              <a:t> </a:t>
            </a:r>
            <a:r>
              <a:rPr sz="1800" dirty="0" err="1">
                <a:solidFill>
                  <a:srgbClr val="726659"/>
                </a:solidFill>
                <a:latin typeface="Aptos"/>
              </a:rPr>
              <a:t>truy</a:t>
            </a:r>
            <a:r>
              <a:rPr sz="1800" dirty="0">
                <a:solidFill>
                  <a:srgbClr val="726659"/>
                </a:solidFill>
                <a:latin typeface="Aptos"/>
              </a:rPr>
              <a:t> </a:t>
            </a:r>
            <a:r>
              <a:rPr sz="1800" dirty="0" err="1">
                <a:solidFill>
                  <a:srgbClr val="726659"/>
                </a:solidFill>
                <a:latin typeface="Aptos"/>
              </a:rPr>
              <a:t>vấn</a:t>
            </a:r>
            <a:r>
              <a:rPr sz="1800" dirty="0">
                <a:solidFill>
                  <a:srgbClr val="726659"/>
                </a:solidFill>
                <a:latin typeface="Aptos"/>
              </a:rPr>
              <a:t> </a:t>
            </a:r>
            <a:r>
              <a:rPr sz="1800" dirty="0" err="1">
                <a:solidFill>
                  <a:srgbClr val="726659"/>
                </a:solidFill>
                <a:latin typeface="Aptos"/>
              </a:rPr>
              <a:t>cơ</a:t>
            </a:r>
            <a:r>
              <a:rPr sz="1800" dirty="0">
                <a:solidFill>
                  <a:srgbClr val="726659"/>
                </a:solidFill>
                <a:latin typeface="Aptos"/>
              </a:rPr>
              <a:t> </a:t>
            </a:r>
            <a:r>
              <a:rPr sz="1800" dirty="0" err="1">
                <a:solidFill>
                  <a:srgbClr val="726659"/>
                </a:solidFill>
                <a:latin typeface="Aptos"/>
              </a:rPr>
              <a:t>sở</a:t>
            </a:r>
            <a:r>
              <a:rPr sz="1800" dirty="0">
                <a:solidFill>
                  <a:srgbClr val="726659"/>
                </a:solidFill>
                <a:latin typeface="Aptos"/>
              </a:rPr>
              <a:t> </a:t>
            </a:r>
            <a:r>
              <a:rPr sz="1800" dirty="0" err="1">
                <a:solidFill>
                  <a:srgbClr val="726659"/>
                </a:solidFill>
                <a:latin typeface="Aptos"/>
              </a:rPr>
              <a:t>dữ</a:t>
            </a:r>
            <a:r>
              <a:rPr sz="1800" dirty="0">
                <a:solidFill>
                  <a:srgbClr val="726659"/>
                </a:solidFill>
                <a:latin typeface="Aptos"/>
              </a:rPr>
              <a:t> </a:t>
            </a:r>
            <a:r>
              <a:rPr sz="1800" dirty="0" err="1">
                <a:solidFill>
                  <a:srgbClr val="726659"/>
                </a:solidFill>
                <a:latin typeface="Aptos"/>
              </a:rPr>
              <a:t>liệu</a:t>
            </a:r>
            <a:r>
              <a:rPr sz="1800" dirty="0">
                <a:solidFill>
                  <a:srgbClr val="726659"/>
                </a:solidFill>
                <a:latin typeface="Aptos"/>
              </a:rPr>
              <a:t> </a:t>
            </a:r>
            <a:r>
              <a:rPr sz="1800" dirty="0" err="1">
                <a:solidFill>
                  <a:srgbClr val="726659"/>
                </a:solidFill>
                <a:latin typeface="Aptos"/>
              </a:rPr>
              <a:t>âm</a:t>
            </a:r>
            <a:r>
              <a:rPr sz="1800" dirty="0">
                <a:solidFill>
                  <a:srgbClr val="726659"/>
                </a:solidFill>
                <a:latin typeface="Aptos"/>
              </a:rPr>
              <a:t> </a:t>
            </a:r>
            <a:r>
              <a:rPr sz="1800" dirty="0" err="1">
                <a:solidFill>
                  <a:srgbClr val="726659"/>
                </a:solidFill>
                <a:latin typeface="Aptos"/>
              </a:rPr>
              <a:t>thanh</a:t>
            </a:r>
            <a:r>
              <a:rPr sz="1800" dirty="0">
                <a:solidFill>
                  <a:srgbClr val="726659"/>
                </a:solidFill>
                <a:latin typeface="Aptos"/>
              </a:rPr>
              <a:t>.</a:t>
            </a:r>
          </a:p>
          <a:p>
            <a:pPr>
              <a:spcBef>
                <a:spcPts val="0"/>
              </a:spcBef>
              <a:spcAft>
                <a:spcPts val="1000"/>
              </a:spcAft>
            </a:pPr>
            <a:r>
              <a:rPr sz="1800" dirty="0" err="1">
                <a:solidFill>
                  <a:srgbClr val="726659"/>
                </a:solidFill>
                <a:latin typeface="Aptos"/>
              </a:rPr>
              <a:t>Bài</a:t>
            </a:r>
            <a:r>
              <a:rPr sz="1800" dirty="0">
                <a:solidFill>
                  <a:srgbClr val="726659"/>
                </a:solidFill>
                <a:latin typeface="Aptos"/>
              </a:rPr>
              <a:t> 4: </a:t>
            </a:r>
            <a:r>
              <a:rPr sz="1800" dirty="0" err="1">
                <a:solidFill>
                  <a:srgbClr val="726659"/>
                </a:solidFill>
                <a:latin typeface="Aptos"/>
              </a:rPr>
              <a:t>Lập</a:t>
            </a:r>
            <a:r>
              <a:rPr sz="1800" dirty="0">
                <a:solidFill>
                  <a:srgbClr val="726659"/>
                </a:solidFill>
                <a:latin typeface="Aptos"/>
              </a:rPr>
              <a:t> </a:t>
            </a:r>
            <a:r>
              <a:rPr sz="1800" dirty="0" err="1">
                <a:solidFill>
                  <a:srgbClr val="726659"/>
                </a:solidFill>
                <a:latin typeface="Aptos"/>
              </a:rPr>
              <a:t>chỉ</a:t>
            </a:r>
            <a:r>
              <a:rPr sz="1800" dirty="0">
                <a:solidFill>
                  <a:srgbClr val="726659"/>
                </a:solidFill>
                <a:latin typeface="Aptos"/>
              </a:rPr>
              <a:t> </a:t>
            </a:r>
            <a:r>
              <a:rPr sz="1800" dirty="0" err="1">
                <a:solidFill>
                  <a:srgbClr val="726659"/>
                </a:solidFill>
                <a:latin typeface="Aptos"/>
              </a:rPr>
              <a:t>mục</a:t>
            </a:r>
            <a:r>
              <a:rPr sz="1800" dirty="0">
                <a:solidFill>
                  <a:srgbClr val="726659"/>
                </a:solidFill>
                <a:latin typeface="Aptos"/>
              </a:rPr>
              <a:t> metadata </a:t>
            </a:r>
            <a:r>
              <a:rPr sz="1800" dirty="0" err="1">
                <a:solidFill>
                  <a:srgbClr val="726659"/>
                </a:solidFill>
                <a:latin typeface="Aptos"/>
              </a:rPr>
              <a:t>cho</a:t>
            </a:r>
            <a:r>
              <a:rPr sz="1800" dirty="0">
                <a:solidFill>
                  <a:srgbClr val="726659"/>
                </a:solidFill>
                <a:latin typeface="Aptos"/>
              </a:rPr>
              <a:t> </a:t>
            </a:r>
            <a:r>
              <a:rPr sz="1800" dirty="0" err="1">
                <a:solidFill>
                  <a:srgbClr val="726659"/>
                </a:solidFill>
                <a:latin typeface="Aptos"/>
              </a:rPr>
              <a:t>âm</a:t>
            </a:r>
            <a:r>
              <a:rPr sz="1800" dirty="0">
                <a:solidFill>
                  <a:srgbClr val="726659"/>
                </a:solidFill>
                <a:latin typeface="Aptos"/>
              </a:rPr>
              <a:t> </a:t>
            </a:r>
            <a:r>
              <a:rPr sz="1800" dirty="0" err="1">
                <a:solidFill>
                  <a:srgbClr val="726659"/>
                </a:solidFill>
                <a:latin typeface="Aptos"/>
              </a:rPr>
              <a:t>thanh</a:t>
            </a:r>
            <a:r>
              <a:rPr sz="1800" dirty="0">
                <a:solidFill>
                  <a:srgbClr val="726659"/>
                </a:solidFill>
                <a:latin typeface="Aptos"/>
              </a:rPr>
              <a:t>.</a:t>
            </a:r>
          </a:p>
          <a:p>
            <a:pPr>
              <a:spcBef>
                <a:spcPts val="0"/>
              </a:spcBef>
              <a:spcAft>
                <a:spcPts val="1000"/>
              </a:spcAft>
            </a:pPr>
            <a:r>
              <a:rPr sz="1800" dirty="0" err="1">
                <a:solidFill>
                  <a:srgbClr val="726659"/>
                </a:solidFill>
                <a:latin typeface="Aptos"/>
              </a:rPr>
              <a:t>Bài</a:t>
            </a:r>
            <a:r>
              <a:rPr sz="1800" dirty="0">
                <a:solidFill>
                  <a:srgbClr val="726659"/>
                </a:solidFill>
                <a:latin typeface="Aptos"/>
              </a:rPr>
              <a:t> 5: </a:t>
            </a:r>
            <a:r>
              <a:rPr sz="1800" dirty="0" err="1">
                <a:solidFill>
                  <a:srgbClr val="726659"/>
                </a:solidFill>
                <a:latin typeface="Aptos"/>
              </a:rPr>
              <a:t>Xây</a:t>
            </a:r>
            <a:r>
              <a:rPr sz="1800" dirty="0">
                <a:solidFill>
                  <a:srgbClr val="726659"/>
                </a:solidFill>
                <a:latin typeface="Aptos"/>
              </a:rPr>
              <a:t> </a:t>
            </a:r>
            <a:r>
              <a:rPr sz="1800" dirty="0" err="1">
                <a:solidFill>
                  <a:srgbClr val="726659"/>
                </a:solidFill>
                <a:latin typeface="Aptos"/>
              </a:rPr>
              <a:t>dựng</a:t>
            </a:r>
            <a:r>
              <a:rPr sz="1800" dirty="0">
                <a:solidFill>
                  <a:srgbClr val="726659"/>
                </a:solidFill>
                <a:latin typeface="Aptos"/>
              </a:rPr>
              <a:t> </a:t>
            </a:r>
            <a:r>
              <a:rPr sz="1800" dirty="0" err="1">
                <a:solidFill>
                  <a:srgbClr val="726659"/>
                </a:solidFill>
                <a:latin typeface="Aptos"/>
              </a:rPr>
              <a:t>hệ</a:t>
            </a:r>
            <a:r>
              <a:rPr sz="1800" dirty="0">
                <a:solidFill>
                  <a:srgbClr val="726659"/>
                </a:solidFill>
                <a:latin typeface="Aptos"/>
              </a:rPr>
              <a:t> </a:t>
            </a:r>
            <a:r>
              <a:rPr sz="1800" dirty="0" err="1">
                <a:solidFill>
                  <a:srgbClr val="726659"/>
                </a:solidFill>
                <a:latin typeface="Aptos"/>
              </a:rPr>
              <a:t>thống</a:t>
            </a:r>
            <a:r>
              <a:rPr sz="1800" dirty="0">
                <a:solidFill>
                  <a:srgbClr val="726659"/>
                </a:solidFill>
                <a:latin typeface="Aptos"/>
              </a:rPr>
              <a:t> </a:t>
            </a:r>
            <a:r>
              <a:rPr sz="1800" dirty="0" err="1">
                <a:solidFill>
                  <a:srgbClr val="726659"/>
                </a:solidFill>
                <a:latin typeface="Aptos"/>
              </a:rPr>
              <a:t>hoàn</a:t>
            </a:r>
            <a:r>
              <a:rPr sz="1800" dirty="0">
                <a:solidFill>
                  <a:srgbClr val="726659"/>
                </a:solidFill>
                <a:latin typeface="Aptos"/>
              </a:rPr>
              <a:t> </a:t>
            </a:r>
            <a:r>
              <a:rPr sz="1800" dirty="0" err="1">
                <a:solidFill>
                  <a:srgbClr val="726659"/>
                </a:solidFill>
                <a:latin typeface="Aptos"/>
              </a:rPr>
              <a:t>chỉnh</a:t>
            </a:r>
            <a:r>
              <a:rPr sz="1800" dirty="0">
                <a:solidFill>
                  <a:srgbClr val="726659"/>
                </a:solidFill>
                <a:latin typeface="Aptos"/>
              </a:rPr>
              <a:t> </a:t>
            </a:r>
            <a:r>
              <a:rPr sz="1800" dirty="0" err="1">
                <a:solidFill>
                  <a:srgbClr val="726659"/>
                </a:solidFill>
                <a:latin typeface="Aptos"/>
              </a:rPr>
              <a:t>hiện</a:t>
            </a:r>
            <a:r>
              <a:rPr sz="1800" dirty="0">
                <a:solidFill>
                  <a:srgbClr val="726659"/>
                </a:solidFill>
                <a:latin typeface="Aptos"/>
              </a:rPr>
              <a:t> </a:t>
            </a:r>
            <a:r>
              <a:rPr sz="1800" dirty="0" err="1">
                <a:solidFill>
                  <a:srgbClr val="726659"/>
                </a:solidFill>
                <a:latin typeface="Aptos"/>
              </a:rPr>
              <a:t>thực</a:t>
            </a:r>
            <a:r>
              <a:rPr sz="1800" dirty="0">
                <a:solidFill>
                  <a:srgbClr val="726659"/>
                </a:solidFill>
                <a:latin typeface="Aptos"/>
              </a:rPr>
              <a:t> </a:t>
            </a:r>
            <a:r>
              <a:rPr sz="1800" dirty="0" err="1">
                <a:solidFill>
                  <a:srgbClr val="726659"/>
                </a:solidFill>
                <a:latin typeface="Aptos"/>
              </a:rPr>
              <a:t>tất</a:t>
            </a:r>
            <a:r>
              <a:rPr sz="1800" dirty="0">
                <a:solidFill>
                  <a:srgbClr val="726659"/>
                </a:solidFill>
                <a:latin typeface="Aptos"/>
              </a:rPr>
              <a:t> </a:t>
            </a:r>
            <a:r>
              <a:rPr sz="1800" dirty="0" err="1">
                <a:solidFill>
                  <a:srgbClr val="726659"/>
                </a:solidFill>
                <a:latin typeface="Aptos"/>
              </a:rPr>
              <a:t>cả</a:t>
            </a:r>
            <a:r>
              <a:rPr sz="1800" dirty="0">
                <a:solidFill>
                  <a:srgbClr val="726659"/>
                </a:solidFill>
                <a:latin typeface="Aptos"/>
              </a:rPr>
              <a:t> </a:t>
            </a:r>
            <a:r>
              <a:rPr sz="1800" dirty="0" err="1">
                <a:solidFill>
                  <a:srgbClr val="726659"/>
                </a:solidFill>
                <a:latin typeface="Aptos"/>
              </a:rPr>
              <a:t>chức</a:t>
            </a:r>
            <a:r>
              <a:rPr sz="1800" dirty="0">
                <a:solidFill>
                  <a:srgbClr val="726659"/>
                </a:solidFill>
                <a:latin typeface="Aptos"/>
              </a:rPr>
              <a:t> </a:t>
            </a:r>
            <a:r>
              <a:rPr sz="1800" dirty="0" err="1">
                <a:solidFill>
                  <a:srgbClr val="726659"/>
                </a:solidFill>
                <a:latin typeface="Aptos"/>
              </a:rPr>
              <a:t>năng</a:t>
            </a:r>
            <a:r>
              <a:rPr sz="1800" dirty="0">
                <a:solidFill>
                  <a:srgbClr val="726659"/>
                </a:solidFill>
                <a:latin typeface="Aptos"/>
              </a:rPr>
              <a:t> </a:t>
            </a:r>
            <a:r>
              <a:rPr sz="1800" dirty="0" err="1">
                <a:solidFill>
                  <a:srgbClr val="726659"/>
                </a:solidFill>
                <a:latin typeface="Aptos"/>
              </a:rPr>
              <a:t>trên</a:t>
            </a:r>
            <a:r>
              <a:rPr sz="1800" dirty="0">
                <a:solidFill>
                  <a:srgbClr val="726659"/>
                </a:solidFill>
                <a:latin typeface="Aptos"/>
              </a:rPr>
              <a:t>.</a:t>
            </a:r>
          </a:p>
        </p:txBody>
      </p:sp>
      <p:sp>
        <p:nvSpPr>
          <p:cNvPr id="6" name="Rounded Rectangle 5"/>
          <p:cNvSpPr/>
          <p:nvPr/>
        </p:nvSpPr>
        <p:spPr>
          <a:xfrm>
            <a:off x="7543800" y="1874519"/>
            <a:ext cx="3703320" cy="246888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18120" y="2148840"/>
            <a:ext cx="2743200" cy="530352"/>
          </a:xfrm>
          <a:prstGeom prst="rect">
            <a:avLst/>
          </a:prstGeom>
          <a:noFill/>
        </p:spPr>
        <p:txBody>
          <a:bodyPr wrap="square" lIns="0" tIns="0" rIns="0" bIns="0">
            <a:normAutofit/>
          </a:bodyPr>
          <a:lstStyle/>
          <a:p>
            <a:r>
              <a:rPr sz="2200">
                <a:solidFill>
                  <a:srgbClr val="2A2119"/>
                </a:solidFill>
                <a:latin typeface="Georgia"/>
              </a:rPr>
              <a:t>Tinh thần đề bài</a:t>
            </a:r>
          </a:p>
        </p:txBody>
      </p:sp>
      <p:sp>
        <p:nvSpPr>
          <p:cNvPr id="8" name="TextBox 7"/>
          <p:cNvSpPr txBox="1"/>
          <p:nvPr/>
        </p:nvSpPr>
        <p:spPr>
          <a:xfrm>
            <a:off x="7818120" y="2606040"/>
            <a:ext cx="2880360" cy="1234440"/>
          </a:xfrm>
          <a:prstGeom prst="rect">
            <a:avLst/>
          </a:prstGeom>
          <a:noFill/>
        </p:spPr>
        <p:txBody>
          <a:bodyPr wrap="square" lIns="0" tIns="0" rIns="0" bIns="0">
            <a:normAutofit/>
          </a:bodyPr>
          <a:lstStyle/>
          <a:p>
            <a:r>
              <a:rPr sz="1700">
                <a:solidFill>
                  <a:srgbClr val="726659"/>
                </a:solidFill>
                <a:latin typeface="Aptos"/>
              </a:rPr>
              <a:t>Âm thanh không chỉ được lưu như tệp, mà phải trở thành dữ liệu có thể phân tích, lập chỉ mục và truy vấn theo nội dung.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MỤC TIÊU</a:t>
            </a:r>
          </a:p>
        </p:txBody>
      </p:sp>
      <p:sp>
        <p:nvSpPr>
          <p:cNvPr id="4" name="TextBox 3"/>
          <p:cNvSpPr txBox="1"/>
          <p:nvPr/>
        </p:nvSpPr>
        <p:spPr>
          <a:xfrm>
            <a:off x="713232" y="960120"/>
            <a:ext cx="7680960" cy="1874519"/>
          </a:xfrm>
          <a:prstGeom prst="rect">
            <a:avLst/>
          </a:prstGeom>
          <a:noFill/>
        </p:spPr>
        <p:txBody>
          <a:bodyPr wrap="square" lIns="0" tIns="0" rIns="0" bIns="0">
            <a:normAutofit/>
          </a:bodyPr>
          <a:lstStyle/>
          <a:p>
            <a:r>
              <a:rPr lang="vi-VN" sz="3800" dirty="0">
                <a:solidFill>
                  <a:srgbClr val="2A2119"/>
                </a:solidFill>
                <a:latin typeface="Georgia"/>
              </a:rPr>
              <a:t>Ba</a:t>
            </a:r>
            <a:r>
              <a:rPr sz="3800" dirty="0">
                <a:solidFill>
                  <a:srgbClr val="2A2119"/>
                </a:solidFill>
                <a:latin typeface="Georgia"/>
              </a:rPr>
              <a:t> </a:t>
            </a:r>
            <a:r>
              <a:rPr sz="3800" dirty="0" err="1">
                <a:solidFill>
                  <a:srgbClr val="2A2119"/>
                </a:solidFill>
                <a:latin typeface="Georgia"/>
              </a:rPr>
              <a:t>mục</a:t>
            </a:r>
            <a:r>
              <a:rPr sz="3800" dirty="0">
                <a:solidFill>
                  <a:srgbClr val="2A2119"/>
                </a:solidFill>
                <a:latin typeface="Georgia"/>
              </a:rPr>
              <a:t> </a:t>
            </a:r>
            <a:r>
              <a:rPr sz="3800" dirty="0" err="1">
                <a:solidFill>
                  <a:srgbClr val="2A2119"/>
                </a:solidFill>
                <a:latin typeface="Georgia"/>
              </a:rPr>
              <a:t>tiêu</a:t>
            </a:r>
            <a:r>
              <a:rPr sz="3800" dirty="0">
                <a:solidFill>
                  <a:srgbClr val="2A2119"/>
                </a:solidFill>
                <a:latin typeface="Georgia"/>
              </a:rPr>
              <a:t> </a:t>
            </a:r>
            <a:r>
              <a:rPr sz="3800" dirty="0" err="1">
                <a:solidFill>
                  <a:srgbClr val="2A2119"/>
                </a:solidFill>
                <a:latin typeface="Georgia"/>
              </a:rPr>
              <a:t>triển</a:t>
            </a:r>
            <a:r>
              <a:rPr sz="3800" dirty="0">
                <a:solidFill>
                  <a:srgbClr val="2A2119"/>
                </a:solidFill>
                <a:latin typeface="Georgia"/>
              </a:rPr>
              <a:t> </a:t>
            </a:r>
            <a:r>
              <a:rPr sz="3800" dirty="0" err="1">
                <a:solidFill>
                  <a:srgbClr val="2A2119"/>
                </a:solidFill>
                <a:latin typeface="Georgia"/>
              </a:rPr>
              <a:t>khai</a:t>
            </a:r>
            <a:endParaRPr sz="3800" dirty="0">
              <a:solidFill>
                <a:srgbClr val="2A2119"/>
              </a:solidFill>
              <a:latin typeface="Georgia"/>
            </a:endParaRPr>
          </a:p>
        </p:txBody>
      </p:sp>
      <p:sp>
        <p:nvSpPr>
          <p:cNvPr id="5" name="Rounded Rectangle 4"/>
          <p:cNvSpPr/>
          <p:nvPr/>
        </p:nvSpPr>
        <p:spPr>
          <a:xfrm>
            <a:off x="749808" y="1828800"/>
            <a:ext cx="2240280" cy="283464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029968"/>
            <a:ext cx="1828800" cy="530352"/>
          </a:xfrm>
          <a:prstGeom prst="rect">
            <a:avLst/>
          </a:prstGeom>
          <a:noFill/>
        </p:spPr>
        <p:txBody>
          <a:bodyPr wrap="square" lIns="0" tIns="0" rIns="0" bIns="0">
            <a:normAutofit fontScale="92500"/>
          </a:bodyPr>
          <a:lstStyle/>
          <a:p>
            <a:r>
              <a:rPr sz="2200">
                <a:solidFill>
                  <a:srgbClr val="2A2119"/>
                </a:solidFill>
                <a:latin typeface="Georgia"/>
              </a:rPr>
              <a:t>Quản lý dữ liệu</a:t>
            </a:r>
          </a:p>
        </p:txBody>
      </p:sp>
      <p:sp>
        <p:nvSpPr>
          <p:cNvPr id="7" name="TextBox 6"/>
          <p:cNvSpPr txBox="1"/>
          <p:nvPr/>
        </p:nvSpPr>
        <p:spPr>
          <a:xfrm>
            <a:off x="914400" y="2651760"/>
            <a:ext cx="1828800" cy="1463040"/>
          </a:xfrm>
          <a:prstGeom prst="rect">
            <a:avLst/>
          </a:prstGeom>
          <a:noFill/>
        </p:spPr>
        <p:txBody>
          <a:bodyPr wrap="square" lIns="0" tIns="0" rIns="0" bIns="0">
            <a:normAutofit/>
          </a:bodyPr>
          <a:lstStyle/>
          <a:p>
            <a:r>
              <a:rPr sz="1500">
                <a:solidFill>
                  <a:srgbClr val="726659"/>
                </a:solidFill>
                <a:latin typeface="Aptos"/>
              </a:rPr>
              <a:t>Lưu trữ âm thanh, metadata, bộ sưu tập và trạng thái phân tích.</a:t>
            </a:r>
          </a:p>
        </p:txBody>
      </p:sp>
      <p:sp>
        <p:nvSpPr>
          <p:cNvPr id="8" name="Rounded Rectangle 7"/>
          <p:cNvSpPr/>
          <p:nvPr/>
        </p:nvSpPr>
        <p:spPr>
          <a:xfrm>
            <a:off x="3630168" y="1828800"/>
            <a:ext cx="2240280" cy="283464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94759" y="2029968"/>
            <a:ext cx="1828800" cy="530352"/>
          </a:xfrm>
          <a:prstGeom prst="rect">
            <a:avLst/>
          </a:prstGeom>
          <a:noFill/>
        </p:spPr>
        <p:txBody>
          <a:bodyPr wrap="square" lIns="0" tIns="0" rIns="0" bIns="0">
            <a:normAutofit fontScale="92500" lnSpcReduction="20000"/>
          </a:bodyPr>
          <a:lstStyle/>
          <a:p>
            <a:r>
              <a:rPr sz="2200">
                <a:solidFill>
                  <a:srgbClr val="2A2119"/>
                </a:solidFill>
                <a:latin typeface="Georgia"/>
              </a:rPr>
              <a:t>Phân tích tín hiệu</a:t>
            </a:r>
          </a:p>
        </p:txBody>
      </p:sp>
      <p:sp>
        <p:nvSpPr>
          <p:cNvPr id="10" name="TextBox 9"/>
          <p:cNvSpPr txBox="1"/>
          <p:nvPr/>
        </p:nvSpPr>
        <p:spPr>
          <a:xfrm>
            <a:off x="3794759" y="2651760"/>
            <a:ext cx="1828800" cy="1463040"/>
          </a:xfrm>
          <a:prstGeom prst="rect">
            <a:avLst/>
          </a:prstGeom>
          <a:noFill/>
        </p:spPr>
        <p:txBody>
          <a:bodyPr wrap="square" lIns="0" tIns="0" rIns="0" bIns="0">
            <a:normAutofit/>
          </a:bodyPr>
          <a:lstStyle/>
          <a:p>
            <a:r>
              <a:rPr sz="1500">
                <a:solidFill>
                  <a:srgbClr val="726659"/>
                </a:solidFill>
                <a:latin typeface="Aptos"/>
              </a:rPr>
              <a:t>Chia đoạn, trích đặc trưng và tạo vector đại diện.</a:t>
            </a:r>
          </a:p>
        </p:txBody>
      </p:sp>
      <p:sp>
        <p:nvSpPr>
          <p:cNvPr id="11" name="Rounded Rectangle 10"/>
          <p:cNvSpPr/>
          <p:nvPr/>
        </p:nvSpPr>
        <p:spPr>
          <a:xfrm>
            <a:off x="6510528" y="1828800"/>
            <a:ext cx="2240280" cy="283464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2029968"/>
            <a:ext cx="1828800" cy="530352"/>
          </a:xfrm>
          <a:prstGeom prst="rect">
            <a:avLst/>
          </a:prstGeom>
          <a:noFill/>
        </p:spPr>
        <p:txBody>
          <a:bodyPr wrap="square" lIns="0" tIns="0" rIns="0" bIns="0">
            <a:normAutofit/>
          </a:bodyPr>
          <a:lstStyle/>
          <a:p>
            <a:r>
              <a:rPr sz="2200">
                <a:solidFill>
                  <a:srgbClr val="2A2119"/>
                </a:solidFill>
                <a:latin typeface="Georgia"/>
              </a:rPr>
              <a:t>Tìm kiếm</a:t>
            </a:r>
          </a:p>
        </p:txBody>
      </p:sp>
      <p:sp>
        <p:nvSpPr>
          <p:cNvPr id="13" name="TextBox 12"/>
          <p:cNvSpPr txBox="1"/>
          <p:nvPr/>
        </p:nvSpPr>
        <p:spPr>
          <a:xfrm>
            <a:off x="6675120" y="2651760"/>
            <a:ext cx="1828800" cy="1463040"/>
          </a:xfrm>
          <a:prstGeom prst="rect">
            <a:avLst/>
          </a:prstGeom>
          <a:noFill/>
        </p:spPr>
        <p:txBody>
          <a:bodyPr wrap="square" lIns="0" tIns="0" rIns="0" bIns="0">
            <a:normAutofit/>
          </a:bodyPr>
          <a:lstStyle/>
          <a:p>
            <a:r>
              <a:rPr sz="1500">
                <a:solidFill>
                  <a:srgbClr val="726659"/>
                </a:solidFill>
                <a:latin typeface="Aptos"/>
              </a:rPr>
              <a:t>Tìm theo metadata hoặc tìm âm thanh tương tự.</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KIẾN TRÚC</a:t>
            </a:r>
          </a:p>
        </p:txBody>
      </p:sp>
      <p:sp>
        <p:nvSpPr>
          <p:cNvPr id="4" name="TextBox 3"/>
          <p:cNvSpPr txBox="1"/>
          <p:nvPr/>
        </p:nvSpPr>
        <p:spPr>
          <a:xfrm>
            <a:off x="713232" y="960120"/>
            <a:ext cx="7680960" cy="1874519"/>
          </a:xfrm>
          <a:prstGeom prst="rect">
            <a:avLst/>
          </a:prstGeom>
          <a:noFill/>
        </p:spPr>
        <p:txBody>
          <a:bodyPr wrap="square" lIns="0" tIns="0" rIns="0" bIns="0">
            <a:normAutofit/>
          </a:bodyPr>
          <a:lstStyle/>
          <a:p>
            <a:r>
              <a:rPr sz="3800">
                <a:solidFill>
                  <a:srgbClr val="2A2119"/>
                </a:solidFill>
                <a:latin typeface="Georgia"/>
              </a:rPr>
              <a:t>Kiến trúc ba lớp của đồ án</a:t>
            </a:r>
          </a:p>
        </p:txBody>
      </p:sp>
      <p:sp>
        <p:nvSpPr>
          <p:cNvPr id="5" name="Rounded Rectangle 4"/>
          <p:cNvSpPr/>
          <p:nvPr/>
        </p:nvSpPr>
        <p:spPr>
          <a:xfrm>
            <a:off x="749808" y="1828800"/>
            <a:ext cx="10561320" cy="100584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75104"/>
            <a:ext cx="822960" cy="228600"/>
          </a:xfrm>
          <a:prstGeom prst="rect">
            <a:avLst/>
          </a:prstGeom>
          <a:noFill/>
        </p:spPr>
        <p:txBody>
          <a:bodyPr wrap="square" lIns="0" tIns="0" rIns="0" bIns="0">
            <a:normAutofit/>
          </a:bodyPr>
          <a:lstStyle/>
          <a:p>
            <a:r>
              <a:rPr sz="1400">
                <a:solidFill>
                  <a:srgbClr val="726659"/>
                </a:solidFill>
                <a:latin typeface="Aptos"/>
              </a:rPr>
              <a:t>Lớp 1</a:t>
            </a:r>
          </a:p>
        </p:txBody>
      </p:sp>
      <p:sp>
        <p:nvSpPr>
          <p:cNvPr id="7" name="TextBox 6"/>
          <p:cNvSpPr txBox="1"/>
          <p:nvPr/>
        </p:nvSpPr>
        <p:spPr>
          <a:xfrm>
            <a:off x="1828800" y="1938528"/>
            <a:ext cx="2743200" cy="530352"/>
          </a:xfrm>
          <a:prstGeom prst="rect">
            <a:avLst/>
          </a:prstGeom>
          <a:noFill/>
        </p:spPr>
        <p:txBody>
          <a:bodyPr wrap="square" lIns="0" tIns="0" rIns="0" bIns="0">
            <a:normAutofit/>
          </a:bodyPr>
          <a:lstStyle/>
          <a:p>
            <a:r>
              <a:rPr sz="2200">
                <a:solidFill>
                  <a:srgbClr val="2A2119"/>
                </a:solidFill>
                <a:latin typeface="Georgia"/>
              </a:rPr>
              <a:t>Giao diện người dùng</a:t>
            </a:r>
          </a:p>
        </p:txBody>
      </p:sp>
      <p:sp>
        <p:nvSpPr>
          <p:cNvPr id="8" name="TextBox 7"/>
          <p:cNvSpPr txBox="1"/>
          <p:nvPr/>
        </p:nvSpPr>
        <p:spPr>
          <a:xfrm>
            <a:off x="4572000" y="1993392"/>
            <a:ext cx="5760720" cy="320040"/>
          </a:xfrm>
          <a:prstGeom prst="rect">
            <a:avLst/>
          </a:prstGeom>
          <a:noFill/>
        </p:spPr>
        <p:txBody>
          <a:bodyPr wrap="square" lIns="0" tIns="0" rIns="0" bIns="0">
            <a:normAutofit/>
          </a:bodyPr>
          <a:lstStyle/>
          <a:p>
            <a:r>
              <a:rPr sz="1500">
                <a:solidFill>
                  <a:srgbClr val="726659"/>
                </a:solidFill>
                <a:latin typeface="Aptos"/>
              </a:rPr>
              <a:t>React hiển thị tổng quan, kho âm thanh, tìm kiếm và AudioSQL.</a:t>
            </a:r>
          </a:p>
        </p:txBody>
      </p:sp>
      <p:sp>
        <p:nvSpPr>
          <p:cNvPr id="9" name="Rounded Rectangle 8"/>
          <p:cNvSpPr/>
          <p:nvPr/>
        </p:nvSpPr>
        <p:spPr>
          <a:xfrm>
            <a:off x="749808" y="3127248"/>
            <a:ext cx="10561320" cy="100584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3273552"/>
            <a:ext cx="822960" cy="228600"/>
          </a:xfrm>
          <a:prstGeom prst="rect">
            <a:avLst/>
          </a:prstGeom>
          <a:noFill/>
        </p:spPr>
        <p:txBody>
          <a:bodyPr wrap="square" lIns="0" tIns="0" rIns="0" bIns="0">
            <a:normAutofit/>
          </a:bodyPr>
          <a:lstStyle/>
          <a:p>
            <a:r>
              <a:rPr sz="1400">
                <a:solidFill>
                  <a:srgbClr val="726659"/>
                </a:solidFill>
                <a:latin typeface="Aptos"/>
              </a:rPr>
              <a:t>Lớp 2</a:t>
            </a:r>
          </a:p>
        </p:txBody>
      </p:sp>
      <p:sp>
        <p:nvSpPr>
          <p:cNvPr id="11" name="TextBox 10"/>
          <p:cNvSpPr txBox="1"/>
          <p:nvPr/>
        </p:nvSpPr>
        <p:spPr>
          <a:xfrm>
            <a:off x="1828800" y="3236976"/>
            <a:ext cx="2743200" cy="530352"/>
          </a:xfrm>
          <a:prstGeom prst="rect">
            <a:avLst/>
          </a:prstGeom>
          <a:noFill/>
        </p:spPr>
        <p:txBody>
          <a:bodyPr wrap="square" lIns="0" tIns="0" rIns="0" bIns="0">
            <a:normAutofit/>
          </a:bodyPr>
          <a:lstStyle/>
          <a:p>
            <a:r>
              <a:rPr sz="2200">
                <a:solidFill>
                  <a:srgbClr val="2A2119"/>
                </a:solidFill>
                <a:latin typeface="Georgia"/>
              </a:rPr>
              <a:t>Dịch vụ nghiệp vụ</a:t>
            </a:r>
          </a:p>
        </p:txBody>
      </p:sp>
      <p:sp>
        <p:nvSpPr>
          <p:cNvPr id="12" name="TextBox 11"/>
          <p:cNvSpPr txBox="1"/>
          <p:nvPr/>
        </p:nvSpPr>
        <p:spPr>
          <a:xfrm>
            <a:off x="4572000" y="3291840"/>
            <a:ext cx="5760720" cy="320040"/>
          </a:xfrm>
          <a:prstGeom prst="rect">
            <a:avLst/>
          </a:prstGeom>
          <a:noFill/>
        </p:spPr>
        <p:txBody>
          <a:bodyPr wrap="square" lIns="0" tIns="0" rIns="0" bIns="0">
            <a:normAutofit/>
          </a:bodyPr>
          <a:lstStyle/>
          <a:p>
            <a:r>
              <a:rPr sz="1500">
                <a:solidFill>
                  <a:srgbClr val="726659"/>
                </a:solidFill>
                <a:latin typeface="Aptos"/>
              </a:rPr>
              <a:t>Express cung cấp API cho tải lên, phân tích lại, truy vấn và xóa bản ghi.</a:t>
            </a:r>
          </a:p>
        </p:txBody>
      </p:sp>
      <p:sp>
        <p:nvSpPr>
          <p:cNvPr id="13" name="Rounded Rectangle 12"/>
          <p:cNvSpPr/>
          <p:nvPr/>
        </p:nvSpPr>
        <p:spPr>
          <a:xfrm>
            <a:off x="749808" y="4425696"/>
            <a:ext cx="10561320" cy="100584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4572000"/>
            <a:ext cx="822960" cy="228600"/>
          </a:xfrm>
          <a:prstGeom prst="rect">
            <a:avLst/>
          </a:prstGeom>
          <a:noFill/>
        </p:spPr>
        <p:txBody>
          <a:bodyPr wrap="square" lIns="0" tIns="0" rIns="0" bIns="0">
            <a:normAutofit/>
          </a:bodyPr>
          <a:lstStyle/>
          <a:p>
            <a:r>
              <a:rPr sz="1400">
                <a:solidFill>
                  <a:srgbClr val="726659"/>
                </a:solidFill>
                <a:latin typeface="Aptos"/>
              </a:rPr>
              <a:t>Lớp 3</a:t>
            </a:r>
          </a:p>
        </p:txBody>
      </p:sp>
      <p:sp>
        <p:nvSpPr>
          <p:cNvPr id="15" name="TextBox 14"/>
          <p:cNvSpPr txBox="1"/>
          <p:nvPr/>
        </p:nvSpPr>
        <p:spPr>
          <a:xfrm>
            <a:off x="1828800" y="4535424"/>
            <a:ext cx="2743200" cy="530352"/>
          </a:xfrm>
          <a:prstGeom prst="rect">
            <a:avLst/>
          </a:prstGeom>
          <a:noFill/>
        </p:spPr>
        <p:txBody>
          <a:bodyPr wrap="square" lIns="0" tIns="0" rIns="0" bIns="0">
            <a:normAutofit fontScale="92500" lnSpcReduction="20000"/>
          </a:bodyPr>
          <a:lstStyle/>
          <a:p>
            <a:r>
              <a:rPr sz="2200">
                <a:solidFill>
                  <a:srgbClr val="2A2119"/>
                </a:solidFill>
                <a:latin typeface="Georgia"/>
              </a:rPr>
              <a:t>Xử lý tín hiệu và chỉ mục</a:t>
            </a:r>
          </a:p>
        </p:txBody>
      </p:sp>
      <p:sp>
        <p:nvSpPr>
          <p:cNvPr id="16" name="TextBox 15"/>
          <p:cNvSpPr txBox="1"/>
          <p:nvPr/>
        </p:nvSpPr>
        <p:spPr>
          <a:xfrm>
            <a:off x="4572000" y="4590288"/>
            <a:ext cx="5760720" cy="320040"/>
          </a:xfrm>
          <a:prstGeom prst="rect">
            <a:avLst/>
          </a:prstGeom>
          <a:noFill/>
        </p:spPr>
        <p:txBody>
          <a:bodyPr wrap="square" lIns="0" tIns="0" rIns="0" bIns="0">
            <a:normAutofit/>
          </a:bodyPr>
          <a:lstStyle/>
          <a:p>
            <a:r>
              <a:rPr sz="1500">
                <a:solidFill>
                  <a:srgbClr val="726659"/>
                </a:solidFill>
                <a:latin typeface="Aptos"/>
              </a:rPr>
              <a:t>Segmentation, feature extraction, VectorIndex và MetadataIndex.</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CƠ SỞ LÝ THUYẾT</a:t>
            </a:r>
          </a:p>
        </p:txBody>
      </p:sp>
      <p:sp>
        <p:nvSpPr>
          <p:cNvPr id="4" name="TextBox 3"/>
          <p:cNvSpPr txBox="1"/>
          <p:nvPr/>
        </p:nvSpPr>
        <p:spPr>
          <a:xfrm>
            <a:off x="713232" y="960120"/>
            <a:ext cx="7680960" cy="1874519"/>
          </a:xfrm>
          <a:prstGeom prst="rect">
            <a:avLst/>
          </a:prstGeom>
          <a:noFill/>
        </p:spPr>
        <p:txBody>
          <a:bodyPr wrap="square" lIns="0" tIns="0" rIns="0" bIns="0">
            <a:normAutofit/>
          </a:bodyPr>
          <a:lstStyle/>
          <a:p>
            <a:r>
              <a:rPr sz="3800" dirty="0" err="1">
                <a:solidFill>
                  <a:srgbClr val="2A2119"/>
                </a:solidFill>
                <a:latin typeface="Georgia"/>
              </a:rPr>
              <a:t>Luồng</a:t>
            </a:r>
            <a:r>
              <a:rPr sz="3800" dirty="0">
                <a:solidFill>
                  <a:srgbClr val="2A2119"/>
                </a:solidFill>
                <a:latin typeface="Georgia"/>
              </a:rPr>
              <a:t> </a:t>
            </a:r>
            <a:r>
              <a:rPr sz="3800" dirty="0" err="1">
                <a:solidFill>
                  <a:srgbClr val="2A2119"/>
                </a:solidFill>
                <a:latin typeface="Georgia"/>
              </a:rPr>
              <a:t>xử</a:t>
            </a:r>
            <a:r>
              <a:rPr sz="3800" dirty="0">
                <a:solidFill>
                  <a:srgbClr val="2A2119"/>
                </a:solidFill>
                <a:latin typeface="Georgia"/>
              </a:rPr>
              <a:t> </a:t>
            </a:r>
            <a:r>
              <a:rPr sz="3800" dirty="0" err="1">
                <a:solidFill>
                  <a:srgbClr val="2A2119"/>
                </a:solidFill>
                <a:latin typeface="Georgia"/>
              </a:rPr>
              <a:t>lý</a:t>
            </a:r>
            <a:endParaRPr sz="3800" dirty="0">
              <a:solidFill>
                <a:srgbClr val="2A2119"/>
              </a:solidFill>
              <a:latin typeface="Georgia"/>
            </a:endParaRPr>
          </a:p>
        </p:txBody>
      </p:sp>
      <p:sp>
        <p:nvSpPr>
          <p:cNvPr id="5" name="Rounded Rectangle 4"/>
          <p:cNvSpPr/>
          <p:nvPr/>
        </p:nvSpPr>
        <p:spPr>
          <a:xfrm>
            <a:off x="749808" y="1828800"/>
            <a:ext cx="1572768" cy="1161288"/>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56816"/>
            <a:ext cx="274320" cy="182880"/>
          </a:xfrm>
          <a:prstGeom prst="rect">
            <a:avLst/>
          </a:prstGeom>
          <a:noFill/>
        </p:spPr>
        <p:txBody>
          <a:bodyPr wrap="square" lIns="0" tIns="0" rIns="0" bIns="0">
            <a:normAutofit fontScale="92500" lnSpcReduction="10000"/>
          </a:bodyPr>
          <a:lstStyle/>
          <a:p>
            <a:r>
              <a:rPr sz="1400">
                <a:solidFill>
                  <a:srgbClr val="726659"/>
                </a:solidFill>
                <a:latin typeface="Aptos"/>
              </a:rPr>
              <a:t>01</a:t>
            </a:r>
          </a:p>
        </p:txBody>
      </p:sp>
      <p:sp>
        <p:nvSpPr>
          <p:cNvPr id="7" name="TextBox 6"/>
          <p:cNvSpPr txBox="1"/>
          <p:nvPr/>
        </p:nvSpPr>
        <p:spPr>
          <a:xfrm>
            <a:off x="914400" y="2212848"/>
            <a:ext cx="1143000" cy="530352"/>
          </a:xfrm>
          <a:prstGeom prst="rect">
            <a:avLst/>
          </a:prstGeom>
          <a:noFill/>
        </p:spPr>
        <p:txBody>
          <a:bodyPr wrap="square" lIns="0" tIns="0" rIns="0" bIns="0">
            <a:normAutofit fontScale="92500" lnSpcReduction="20000"/>
          </a:bodyPr>
          <a:lstStyle/>
          <a:p>
            <a:r>
              <a:rPr sz="2200">
                <a:solidFill>
                  <a:srgbClr val="2A2119"/>
                </a:solidFill>
                <a:latin typeface="Georgia"/>
              </a:rPr>
              <a:t>Đọc tín hiệu</a:t>
            </a:r>
          </a:p>
        </p:txBody>
      </p:sp>
      <p:sp>
        <p:nvSpPr>
          <p:cNvPr id="8" name="Rounded Rectangle 7"/>
          <p:cNvSpPr/>
          <p:nvPr/>
        </p:nvSpPr>
        <p:spPr>
          <a:xfrm>
            <a:off x="2606039" y="1828800"/>
            <a:ext cx="1572768" cy="1161288"/>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70632" y="1956816"/>
            <a:ext cx="274320" cy="182880"/>
          </a:xfrm>
          <a:prstGeom prst="rect">
            <a:avLst/>
          </a:prstGeom>
          <a:noFill/>
        </p:spPr>
        <p:txBody>
          <a:bodyPr wrap="square" lIns="0" tIns="0" rIns="0" bIns="0">
            <a:normAutofit fontScale="92500" lnSpcReduction="10000"/>
          </a:bodyPr>
          <a:lstStyle/>
          <a:p>
            <a:r>
              <a:rPr sz="1400">
                <a:solidFill>
                  <a:srgbClr val="726659"/>
                </a:solidFill>
                <a:latin typeface="Aptos"/>
              </a:rPr>
              <a:t>02</a:t>
            </a:r>
          </a:p>
        </p:txBody>
      </p:sp>
      <p:sp>
        <p:nvSpPr>
          <p:cNvPr id="10" name="TextBox 9"/>
          <p:cNvSpPr txBox="1"/>
          <p:nvPr/>
        </p:nvSpPr>
        <p:spPr>
          <a:xfrm>
            <a:off x="2770632" y="2212848"/>
            <a:ext cx="1143000" cy="530352"/>
          </a:xfrm>
          <a:prstGeom prst="rect">
            <a:avLst/>
          </a:prstGeom>
          <a:noFill/>
        </p:spPr>
        <p:txBody>
          <a:bodyPr wrap="square" lIns="0" tIns="0" rIns="0" bIns="0">
            <a:normAutofit fontScale="92500" lnSpcReduction="20000"/>
          </a:bodyPr>
          <a:lstStyle/>
          <a:p>
            <a:r>
              <a:rPr sz="2200">
                <a:solidFill>
                  <a:srgbClr val="2A2119"/>
                </a:solidFill>
                <a:latin typeface="Georgia"/>
              </a:rPr>
              <a:t>Cắt âm thanh</a:t>
            </a:r>
          </a:p>
        </p:txBody>
      </p:sp>
      <p:sp>
        <p:nvSpPr>
          <p:cNvPr id="11" name="Rounded Rectangle 10"/>
          <p:cNvSpPr/>
          <p:nvPr/>
        </p:nvSpPr>
        <p:spPr>
          <a:xfrm>
            <a:off x="4462272" y="1828800"/>
            <a:ext cx="1572768" cy="1161288"/>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26864" y="1956816"/>
            <a:ext cx="274320" cy="182880"/>
          </a:xfrm>
          <a:prstGeom prst="rect">
            <a:avLst/>
          </a:prstGeom>
          <a:noFill/>
        </p:spPr>
        <p:txBody>
          <a:bodyPr wrap="square" lIns="0" tIns="0" rIns="0" bIns="0">
            <a:normAutofit fontScale="92500" lnSpcReduction="10000"/>
          </a:bodyPr>
          <a:lstStyle/>
          <a:p>
            <a:r>
              <a:rPr sz="1400">
                <a:solidFill>
                  <a:srgbClr val="726659"/>
                </a:solidFill>
                <a:latin typeface="Aptos"/>
              </a:rPr>
              <a:t>03</a:t>
            </a:r>
          </a:p>
        </p:txBody>
      </p:sp>
      <p:sp>
        <p:nvSpPr>
          <p:cNvPr id="13" name="TextBox 12"/>
          <p:cNvSpPr txBox="1"/>
          <p:nvPr/>
        </p:nvSpPr>
        <p:spPr>
          <a:xfrm>
            <a:off x="4626864" y="2212848"/>
            <a:ext cx="1469136" cy="530352"/>
          </a:xfrm>
          <a:prstGeom prst="rect">
            <a:avLst/>
          </a:prstGeom>
          <a:noFill/>
        </p:spPr>
        <p:txBody>
          <a:bodyPr wrap="square" lIns="0" tIns="0" rIns="0" bIns="0">
            <a:normAutofit fontScale="92500" lnSpcReduction="20000"/>
          </a:bodyPr>
          <a:lstStyle/>
          <a:p>
            <a:r>
              <a:rPr sz="2200" dirty="0" err="1">
                <a:solidFill>
                  <a:srgbClr val="2A2119"/>
                </a:solidFill>
                <a:latin typeface="Georgia"/>
              </a:rPr>
              <a:t>Trích</a:t>
            </a:r>
            <a:r>
              <a:rPr sz="2200" dirty="0">
                <a:solidFill>
                  <a:srgbClr val="2A2119"/>
                </a:solidFill>
                <a:latin typeface="Georgia"/>
              </a:rPr>
              <a:t> </a:t>
            </a:r>
            <a:r>
              <a:rPr sz="2200" dirty="0" err="1">
                <a:solidFill>
                  <a:srgbClr val="2A2119"/>
                </a:solidFill>
                <a:latin typeface="Georgia"/>
              </a:rPr>
              <a:t>đặc</a:t>
            </a:r>
            <a:r>
              <a:rPr sz="2200" dirty="0">
                <a:solidFill>
                  <a:srgbClr val="2A2119"/>
                </a:solidFill>
                <a:latin typeface="Georgia"/>
              </a:rPr>
              <a:t> </a:t>
            </a:r>
            <a:r>
              <a:rPr sz="2200" dirty="0" err="1">
                <a:solidFill>
                  <a:srgbClr val="2A2119"/>
                </a:solidFill>
                <a:latin typeface="Georgia"/>
              </a:rPr>
              <a:t>trưng</a:t>
            </a:r>
            <a:endParaRPr sz="2200" dirty="0">
              <a:solidFill>
                <a:srgbClr val="2A2119"/>
              </a:solidFill>
              <a:latin typeface="Georgia"/>
            </a:endParaRPr>
          </a:p>
        </p:txBody>
      </p:sp>
      <p:sp>
        <p:nvSpPr>
          <p:cNvPr id="14" name="Rounded Rectangle 13"/>
          <p:cNvSpPr/>
          <p:nvPr/>
        </p:nvSpPr>
        <p:spPr>
          <a:xfrm>
            <a:off x="6318504" y="1828800"/>
            <a:ext cx="1572768" cy="1161288"/>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83096" y="1956816"/>
            <a:ext cx="274320" cy="182880"/>
          </a:xfrm>
          <a:prstGeom prst="rect">
            <a:avLst/>
          </a:prstGeom>
          <a:noFill/>
        </p:spPr>
        <p:txBody>
          <a:bodyPr wrap="square" lIns="0" tIns="0" rIns="0" bIns="0">
            <a:normAutofit fontScale="92500" lnSpcReduction="10000"/>
          </a:bodyPr>
          <a:lstStyle/>
          <a:p>
            <a:r>
              <a:rPr sz="1400">
                <a:solidFill>
                  <a:srgbClr val="726659"/>
                </a:solidFill>
                <a:latin typeface="Aptos"/>
              </a:rPr>
              <a:t>04</a:t>
            </a:r>
          </a:p>
        </p:txBody>
      </p:sp>
      <p:sp>
        <p:nvSpPr>
          <p:cNvPr id="16" name="TextBox 15"/>
          <p:cNvSpPr txBox="1"/>
          <p:nvPr/>
        </p:nvSpPr>
        <p:spPr>
          <a:xfrm>
            <a:off x="6483096" y="2212848"/>
            <a:ext cx="1517904" cy="530352"/>
          </a:xfrm>
          <a:prstGeom prst="rect">
            <a:avLst/>
          </a:prstGeom>
          <a:noFill/>
        </p:spPr>
        <p:txBody>
          <a:bodyPr wrap="square" lIns="0" tIns="0" rIns="0" bIns="0">
            <a:normAutofit/>
          </a:bodyPr>
          <a:lstStyle/>
          <a:p>
            <a:r>
              <a:rPr sz="2200" dirty="0" err="1">
                <a:solidFill>
                  <a:srgbClr val="2A2119"/>
                </a:solidFill>
                <a:latin typeface="Georgia"/>
              </a:rPr>
              <a:t>Tạo</a:t>
            </a:r>
            <a:r>
              <a:rPr sz="2200" dirty="0">
                <a:solidFill>
                  <a:srgbClr val="2A2119"/>
                </a:solidFill>
                <a:latin typeface="Georgia"/>
              </a:rPr>
              <a:t> vector</a:t>
            </a:r>
          </a:p>
        </p:txBody>
      </p:sp>
      <p:sp>
        <p:nvSpPr>
          <p:cNvPr id="17" name="Rounded Rectangle 16"/>
          <p:cNvSpPr/>
          <p:nvPr/>
        </p:nvSpPr>
        <p:spPr>
          <a:xfrm>
            <a:off x="8174736" y="1828800"/>
            <a:ext cx="1572768" cy="1170432"/>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39327" y="1956816"/>
            <a:ext cx="274320" cy="182880"/>
          </a:xfrm>
          <a:prstGeom prst="rect">
            <a:avLst/>
          </a:prstGeom>
          <a:noFill/>
        </p:spPr>
        <p:txBody>
          <a:bodyPr wrap="square" lIns="0" tIns="0" rIns="0" bIns="0">
            <a:normAutofit fontScale="92500" lnSpcReduction="10000"/>
          </a:bodyPr>
          <a:lstStyle/>
          <a:p>
            <a:r>
              <a:rPr sz="1400">
                <a:solidFill>
                  <a:srgbClr val="726659"/>
                </a:solidFill>
                <a:latin typeface="Aptos"/>
              </a:rPr>
              <a:t>05</a:t>
            </a:r>
          </a:p>
        </p:txBody>
      </p:sp>
      <p:sp>
        <p:nvSpPr>
          <p:cNvPr id="19" name="TextBox 18"/>
          <p:cNvSpPr txBox="1"/>
          <p:nvPr/>
        </p:nvSpPr>
        <p:spPr>
          <a:xfrm>
            <a:off x="8339327" y="2212848"/>
            <a:ext cx="1143000" cy="530352"/>
          </a:xfrm>
          <a:prstGeom prst="rect">
            <a:avLst/>
          </a:prstGeom>
          <a:noFill/>
        </p:spPr>
        <p:txBody>
          <a:bodyPr wrap="square" lIns="0" tIns="0" rIns="0" bIns="0">
            <a:normAutofit fontScale="92500" lnSpcReduction="20000"/>
          </a:bodyPr>
          <a:lstStyle/>
          <a:p>
            <a:r>
              <a:rPr sz="2200">
                <a:solidFill>
                  <a:srgbClr val="2A2119"/>
                </a:solidFill>
                <a:latin typeface="Georgia"/>
              </a:rPr>
              <a:t>Lập chỉ mục</a:t>
            </a:r>
          </a:p>
        </p:txBody>
      </p:sp>
      <p:sp>
        <p:nvSpPr>
          <p:cNvPr id="20" name="Rounded Rectangle 19"/>
          <p:cNvSpPr/>
          <p:nvPr/>
        </p:nvSpPr>
        <p:spPr>
          <a:xfrm>
            <a:off x="10030967" y="1828800"/>
            <a:ext cx="1572768" cy="1161288"/>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195559" y="1956816"/>
            <a:ext cx="274320" cy="182880"/>
          </a:xfrm>
          <a:prstGeom prst="rect">
            <a:avLst/>
          </a:prstGeom>
          <a:noFill/>
        </p:spPr>
        <p:txBody>
          <a:bodyPr wrap="square" lIns="0" tIns="0" rIns="0" bIns="0">
            <a:normAutofit fontScale="92500" lnSpcReduction="10000"/>
          </a:bodyPr>
          <a:lstStyle/>
          <a:p>
            <a:r>
              <a:rPr sz="1400">
                <a:solidFill>
                  <a:srgbClr val="726659"/>
                </a:solidFill>
                <a:latin typeface="Aptos"/>
              </a:rPr>
              <a:t>06</a:t>
            </a:r>
          </a:p>
        </p:txBody>
      </p:sp>
      <p:sp>
        <p:nvSpPr>
          <p:cNvPr id="22" name="TextBox 21"/>
          <p:cNvSpPr txBox="1"/>
          <p:nvPr/>
        </p:nvSpPr>
        <p:spPr>
          <a:xfrm>
            <a:off x="10195559" y="2212848"/>
            <a:ext cx="1143000" cy="530352"/>
          </a:xfrm>
          <a:prstGeom prst="rect">
            <a:avLst/>
          </a:prstGeom>
          <a:noFill/>
        </p:spPr>
        <p:txBody>
          <a:bodyPr wrap="square" lIns="0" tIns="0" rIns="0" bIns="0">
            <a:normAutofit/>
          </a:bodyPr>
          <a:lstStyle/>
          <a:p>
            <a:r>
              <a:rPr sz="2200">
                <a:solidFill>
                  <a:srgbClr val="2A2119"/>
                </a:solidFill>
                <a:latin typeface="Georgia"/>
              </a:rPr>
              <a:t>Truy vấn</a:t>
            </a:r>
          </a:p>
        </p:txBody>
      </p:sp>
      <p:sp>
        <p:nvSpPr>
          <p:cNvPr id="23" name="TextBox 22"/>
          <p:cNvSpPr txBox="1"/>
          <p:nvPr/>
        </p:nvSpPr>
        <p:spPr>
          <a:xfrm>
            <a:off x="850392" y="3337560"/>
            <a:ext cx="6949440" cy="1234440"/>
          </a:xfrm>
          <a:prstGeom prst="rect">
            <a:avLst/>
          </a:prstGeom>
          <a:noFill/>
        </p:spPr>
        <p:txBody>
          <a:bodyPr wrap="square" lIns="0" tIns="0" rIns="0" bIns="0">
            <a:normAutofit/>
          </a:bodyPr>
          <a:lstStyle/>
          <a:p>
            <a:r>
              <a:rPr sz="1800">
                <a:solidFill>
                  <a:srgbClr val="726659"/>
                </a:solidFill>
                <a:latin typeface="Aptos"/>
              </a:rPr>
              <a:t>Âm thanh được xem là tín hiệu theo thời gian. Muốn truy vấn theo nội dung, hệ thống phải chia tín hiệu thành nhiều đoạn nhỏ rồi biến mỗi đoạn thành các đặc trưng có thể so sánh.</a:t>
            </a:r>
          </a:p>
        </p:txBody>
      </p:sp>
      <p:sp>
        <p:nvSpPr>
          <p:cNvPr id="24" name="Rounded Rectangle 23"/>
          <p:cNvSpPr/>
          <p:nvPr/>
        </p:nvSpPr>
        <p:spPr>
          <a:xfrm>
            <a:off x="8001000" y="3246120"/>
            <a:ext cx="3246120" cy="1655064"/>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0" y="3529584"/>
            <a:ext cx="2011680" cy="530352"/>
          </a:xfrm>
          <a:prstGeom prst="rect">
            <a:avLst/>
          </a:prstGeom>
          <a:noFill/>
        </p:spPr>
        <p:txBody>
          <a:bodyPr wrap="square" lIns="0" tIns="0" rIns="0" bIns="0">
            <a:normAutofit/>
          </a:bodyPr>
          <a:lstStyle/>
          <a:p>
            <a:r>
              <a:rPr sz="2200">
                <a:solidFill>
                  <a:srgbClr val="2A2119"/>
                </a:solidFill>
                <a:latin typeface="Georgia"/>
              </a:rPr>
              <a:t>Ý tưởng cốt lõi</a:t>
            </a:r>
          </a:p>
        </p:txBody>
      </p:sp>
      <p:sp>
        <p:nvSpPr>
          <p:cNvPr id="26" name="TextBox 25"/>
          <p:cNvSpPr txBox="1"/>
          <p:nvPr/>
        </p:nvSpPr>
        <p:spPr>
          <a:xfrm>
            <a:off x="8229600" y="3913632"/>
            <a:ext cx="2651760" cy="502920"/>
          </a:xfrm>
          <a:prstGeom prst="rect">
            <a:avLst/>
          </a:prstGeom>
          <a:noFill/>
        </p:spPr>
        <p:txBody>
          <a:bodyPr wrap="square" lIns="0" tIns="0" rIns="0" bIns="0">
            <a:normAutofit fontScale="77500" lnSpcReduction="20000"/>
          </a:bodyPr>
          <a:lstStyle/>
          <a:p>
            <a:r>
              <a:rPr sz="1700">
                <a:solidFill>
                  <a:srgbClr val="726659"/>
                </a:solidFill>
                <a:latin typeface="Aptos"/>
              </a:rPr>
              <a:t>Tệp âm thanh → nhiều cửa sổ nhỏ → vector đặc trưng → truy vấn gần nhất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CẮT ÂM THANH</a:t>
            </a:r>
          </a:p>
        </p:txBody>
      </p:sp>
      <p:sp>
        <p:nvSpPr>
          <p:cNvPr id="4" name="TextBox 3"/>
          <p:cNvSpPr txBox="1"/>
          <p:nvPr/>
        </p:nvSpPr>
        <p:spPr>
          <a:xfrm>
            <a:off x="713232" y="960120"/>
            <a:ext cx="7680960" cy="1874519"/>
          </a:xfrm>
          <a:prstGeom prst="rect">
            <a:avLst/>
          </a:prstGeom>
          <a:noFill/>
        </p:spPr>
        <p:txBody>
          <a:bodyPr wrap="square" lIns="0" tIns="0" rIns="0" bIns="0">
            <a:normAutofit/>
          </a:bodyPr>
          <a:lstStyle/>
          <a:p>
            <a:r>
              <a:rPr sz="3800">
                <a:solidFill>
                  <a:srgbClr val="2A2119"/>
                </a:solidFill>
                <a:latin typeface="Georgia"/>
              </a:rPr>
              <a:t>Âm thanh được cắt như thế nào</a:t>
            </a:r>
          </a:p>
        </p:txBody>
      </p:sp>
      <p:sp>
        <p:nvSpPr>
          <p:cNvPr id="5" name="TextBox 4"/>
          <p:cNvSpPr txBox="1"/>
          <p:nvPr/>
        </p:nvSpPr>
        <p:spPr>
          <a:xfrm>
            <a:off x="749808" y="1828800"/>
            <a:ext cx="4892040" cy="3840480"/>
          </a:xfrm>
          <a:prstGeom prst="rect">
            <a:avLst/>
          </a:prstGeom>
          <a:noFill/>
        </p:spPr>
        <p:txBody>
          <a:bodyPr wrap="square" lIns="0" tIns="0" rIns="0" bIns="0">
            <a:normAutofit/>
          </a:bodyPr>
          <a:lstStyle/>
          <a:p>
            <a:pPr>
              <a:spcBef>
                <a:spcPts val="0"/>
              </a:spcBef>
              <a:spcAft>
                <a:spcPts val="1000"/>
              </a:spcAft>
            </a:pPr>
            <a:r>
              <a:rPr sz="1700">
                <a:solidFill>
                  <a:srgbClr val="726659"/>
                </a:solidFill>
                <a:latin typeface="Aptos"/>
              </a:rPr>
              <a:t>Tệp âm thanh được đưa về mono để xử lý thống nhất.</a:t>
            </a:r>
          </a:p>
          <a:p>
            <a:pPr>
              <a:spcBef>
                <a:spcPts val="0"/>
              </a:spcBef>
              <a:spcAft>
                <a:spcPts val="1000"/>
              </a:spcAft>
            </a:pPr>
            <a:r>
              <a:rPr sz="1700">
                <a:solidFill>
                  <a:srgbClr val="726659"/>
                </a:solidFill>
                <a:latin typeface="Aptos"/>
              </a:rPr>
              <a:t>Window size lấy theo khoảng 50 ms của tín hiệu.</a:t>
            </a:r>
          </a:p>
          <a:p>
            <a:pPr>
              <a:spcBef>
                <a:spcPts val="0"/>
              </a:spcBef>
              <a:spcAft>
                <a:spcPts val="1000"/>
              </a:spcAft>
            </a:pPr>
            <a:r>
              <a:rPr sz="1700">
                <a:solidFill>
                  <a:srgbClr val="726659"/>
                </a:solidFill>
                <a:latin typeface="Aptos"/>
              </a:rPr>
              <a:t>Hop size bằng một nửa window size, tương đương chồng lấn khoảng 50%.</a:t>
            </a:r>
          </a:p>
          <a:p>
            <a:pPr>
              <a:spcBef>
                <a:spcPts val="0"/>
              </a:spcBef>
              <a:spcAft>
                <a:spcPts val="1000"/>
              </a:spcAft>
            </a:pPr>
            <a:r>
              <a:rPr sz="1700">
                <a:solidFill>
                  <a:srgbClr val="726659"/>
                </a:solidFill>
                <a:latin typeface="Aptos"/>
              </a:rPr>
              <a:t>Mỗi cửa sổ tạo ra một bộ đặc trưng cục bộ.</a:t>
            </a:r>
          </a:p>
          <a:p>
            <a:pPr>
              <a:spcBef>
                <a:spcPts val="0"/>
              </a:spcBef>
              <a:spcAft>
                <a:spcPts val="1000"/>
              </a:spcAft>
            </a:pPr>
            <a:r>
              <a:rPr sz="1700">
                <a:solidFill>
                  <a:srgbClr val="726659"/>
                </a:solidFill>
                <a:latin typeface="Aptos"/>
              </a:rPr>
              <a:t>Toàn bộ đặc trưng cục bộ được lấy trung bình để tạo vector toàn cục.</a:t>
            </a:r>
          </a:p>
        </p:txBody>
      </p:sp>
      <p:sp>
        <p:nvSpPr>
          <p:cNvPr id="6" name="Rounded Rectangle 5"/>
          <p:cNvSpPr/>
          <p:nvPr/>
        </p:nvSpPr>
        <p:spPr>
          <a:xfrm>
            <a:off x="5989320" y="1783080"/>
            <a:ext cx="5303520" cy="384048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53912" y="1947672"/>
            <a:ext cx="4974336" cy="3511296"/>
          </a:xfrm>
          <a:prstGeom prst="rect">
            <a:avLst/>
          </a:prstGeom>
          <a:noFill/>
        </p:spPr>
        <p:txBody>
          <a:bodyPr wrap="square" lIns="0" tIns="0" rIns="0" bIns="0">
            <a:normAutofit/>
          </a:bodyPr>
          <a:lstStyle/>
          <a:p>
            <a:r>
              <a:rPr sz="1500" dirty="0">
                <a:solidFill>
                  <a:srgbClr val="2A2119"/>
                </a:solidFill>
                <a:latin typeface="Consolas"/>
              </a:rPr>
              <a:t>const </a:t>
            </a:r>
            <a:r>
              <a:rPr sz="1500" dirty="0" err="1">
                <a:solidFill>
                  <a:srgbClr val="2A2119"/>
                </a:solidFill>
                <a:latin typeface="Consolas"/>
              </a:rPr>
              <a:t>windowSize</a:t>
            </a:r>
            <a:r>
              <a:rPr sz="1500" dirty="0">
                <a:solidFill>
                  <a:srgbClr val="2A2119"/>
                </a:solidFill>
                <a:latin typeface="Consolas"/>
              </a:rPr>
              <a:t> = </a:t>
            </a:r>
            <a:r>
              <a:rPr sz="1500" dirty="0" err="1">
                <a:solidFill>
                  <a:srgbClr val="2A2119"/>
                </a:solidFill>
                <a:latin typeface="Consolas"/>
              </a:rPr>
              <a:t>Math.max</a:t>
            </a:r>
            <a:r>
              <a:rPr sz="1500" dirty="0">
                <a:solidFill>
                  <a:srgbClr val="2A2119"/>
                </a:solidFill>
                <a:latin typeface="Consolas"/>
              </a:rPr>
              <a:t>(1024, </a:t>
            </a:r>
            <a:r>
              <a:rPr sz="1500" dirty="0" err="1">
                <a:solidFill>
                  <a:srgbClr val="2A2119"/>
                </a:solidFill>
                <a:latin typeface="Consolas"/>
              </a:rPr>
              <a:t>Math.floor</a:t>
            </a:r>
            <a:r>
              <a:rPr sz="1500" dirty="0">
                <a:solidFill>
                  <a:srgbClr val="2A2119"/>
                </a:solidFill>
                <a:latin typeface="Consolas"/>
              </a:rPr>
              <a:t>(</a:t>
            </a:r>
            <a:r>
              <a:rPr sz="1500" dirty="0" err="1">
                <a:solidFill>
                  <a:srgbClr val="2A2119"/>
                </a:solidFill>
                <a:latin typeface="Consolas"/>
              </a:rPr>
              <a:t>sampleRate</a:t>
            </a:r>
            <a:r>
              <a:rPr sz="1500" dirty="0">
                <a:solidFill>
                  <a:srgbClr val="2A2119"/>
                </a:solidFill>
                <a:latin typeface="Consolas"/>
              </a:rPr>
              <a:t> * 0.05));
const </a:t>
            </a:r>
            <a:r>
              <a:rPr sz="1500" dirty="0" err="1">
                <a:solidFill>
                  <a:srgbClr val="2A2119"/>
                </a:solidFill>
                <a:latin typeface="Consolas"/>
              </a:rPr>
              <a:t>hopSize</a:t>
            </a:r>
            <a:r>
              <a:rPr sz="1500" dirty="0">
                <a:solidFill>
                  <a:srgbClr val="2A2119"/>
                </a:solidFill>
                <a:latin typeface="Consolas"/>
              </a:rPr>
              <a:t> = </a:t>
            </a:r>
            <a:r>
              <a:rPr sz="1500" dirty="0" err="1">
                <a:solidFill>
                  <a:srgbClr val="2A2119"/>
                </a:solidFill>
                <a:latin typeface="Consolas"/>
              </a:rPr>
              <a:t>Math.max</a:t>
            </a:r>
            <a:r>
              <a:rPr sz="1500" dirty="0">
                <a:solidFill>
                  <a:srgbClr val="2A2119"/>
                </a:solidFill>
                <a:latin typeface="Consolas"/>
              </a:rPr>
              <a:t>(512, </a:t>
            </a:r>
            <a:r>
              <a:rPr sz="1500" dirty="0" err="1">
                <a:solidFill>
                  <a:srgbClr val="2A2119"/>
                </a:solidFill>
                <a:latin typeface="Consolas"/>
              </a:rPr>
              <a:t>Math.floor</a:t>
            </a:r>
            <a:r>
              <a:rPr sz="1500" dirty="0">
                <a:solidFill>
                  <a:srgbClr val="2A2119"/>
                </a:solidFill>
                <a:latin typeface="Consolas"/>
              </a:rPr>
              <a:t>(</a:t>
            </a:r>
            <a:r>
              <a:rPr sz="1500" dirty="0" err="1">
                <a:solidFill>
                  <a:srgbClr val="2A2119"/>
                </a:solidFill>
                <a:latin typeface="Consolas"/>
              </a:rPr>
              <a:t>windowSize</a:t>
            </a:r>
            <a:r>
              <a:rPr sz="1500" dirty="0">
                <a:solidFill>
                  <a:srgbClr val="2A2119"/>
                </a:solidFill>
                <a:latin typeface="Consolas"/>
              </a:rPr>
              <a:t> / 2));
for (let start = 0; start + </a:t>
            </a:r>
            <a:r>
              <a:rPr sz="1500" dirty="0" err="1">
                <a:solidFill>
                  <a:srgbClr val="2A2119"/>
                </a:solidFill>
                <a:latin typeface="Consolas"/>
              </a:rPr>
              <a:t>windowSize</a:t>
            </a:r>
            <a:r>
              <a:rPr sz="1500" dirty="0">
                <a:solidFill>
                  <a:srgbClr val="2A2119"/>
                </a:solidFill>
                <a:latin typeface="Consolas"/>
              </a:rPr>
              <a:t> &lt;= </a:t>
            </a:r>
            <a:r>
              <a:rPr sz="1500" dirty="0" err="1">
                <a:solidFill>
                  <a:srgbClr val="2A2119"/>
                </a:solidFill>
                <a:latin typeface="Consolas"/>
              </a:rPr>
              <a:t>samples.length</a:t>
            </a:r>
            <a:r>
              <a:rPr sz="1500" dirty="0">
                <a:solidFill>
                  <a:srgbClr val="2A2119"/>
                </a:solidFill>
                <a:latin typeface="Consolas"/>
              </a:rPr>
              <a:t>; start += </a:t>
            </a:r>
            <a:r>
              <a:rPr sz="1500" dirty="0" err="1">
                <a:solidFill>
                  <a:srgbClr val="2A2119"/>
                </a:solidFill>
                <a:latin typeface="Consolas"/>
              </a:rPr>
              <a:t>hopSize</a:t>
            </a:r>
            <a:r>
              <a:rPr sz="1500" dirty="0">
                <a:solidFill>
                  <a:srgbClr val="2A2119"/>
                </a:solidFill>
                <a:latin typeface="Consolas"/>
              </a:rPr>
              <a:t>) {
  const segment = </a:t>
            </a:r>
            <a:r>
              <a:rPr sz="1500" dirty="0" err="1">
                <a:solidFill>
                  <a:srgbClr val="2A2119"/>
                </a:solidFill>
                <a:latin typeface="Consolas"/>
              </a:rPr>
              <a:t>samples.slice</a:t>
            </a:r>
            <a:r>
              <a:rPr sz="1500" dirty="0">
                <a:solidFill>
                  <a:srgbClr val="2A2119"/>
                </a:solidFill>
                <a:latin typeface="Consolas"/>
              </a:rPr>
              <a:t>(start, start + </a:t>
            </a:r>
            <a:r>
              <a:rPr sz="1500" dirty="0" err="1">
                <a:solidFill>
                  <a:srgbClr val="2A2119"/>
                </a:solidFill>
                <a:latin typeface="Consolas"/>
              </a:rPr>
              <a:t>windowSize</a:t>
            </a:r>
            <a:r>
              <a:rPr sz="1500" dirty="0">
                <a:solidFill>
                  <a:srgbClr val="2A2119"/>
                </a:solidFill>
                <a:latin typeface="Consolas"/>
              </a:rPr>
              <a:t>);
  const features = </a:t>
            </a:r>
            <a:r>
              <a:rPr sz="1500" dirty="0" err="1">
                <a:solidFill>
                  <a:srgbClr val="2A2119"/>
                </a:solidFill>
                <a:latin typeface="Consolas"/>
              </a:rPr>
              <a:t>computeWindowFeatures</a:t>
            </a:r>
            <a:r>
              <a:rPr sz="1500" dirty="0">
                <a:solidFill>
                  <a:srgbClr val="2A2119"/>
                </a:solidFill>
                <a:latin typeface="Consolas"/>
              </a:rPr>
              <a:t>(segment, </a:t>
            </a:r>
            <a:r>
              <a:rPr sz="1500" dirty="0" err="1">
                <a:solidFill>
                  <a:srgbClr val="2A2119"/>
                </a:solidFill>
                <a:latin typeface="Consolas"/>
              </a:rPr>
              <a:t>sampleRate</a:t>
            </a:r>
            <a:r>
              <a:rPr sz="1500" dirty="0">
                <a:solidFill>
                  <a:srgbClr val="2A2119"/>
                </a:solidFill>
                <a:latin typeface="Consolas"/>
              </a:rPr>
              <a:t>, </a:t>
            </a:r>
            <a:r>
              <a:rPr sz="1500" dirty="0" err="1">
                <a:solidFill>
                  <a:srgbClr val="2A2119"/>
                </a:solidFill>
                <a:latin typeface="Consolas"/>
              </a:rPr>
              <a:t>analysisWindow</a:t>
            </a:r>
            <a:r>
              <a:rPr sz="1500" dirty="0">
                <a:solidFill>
                  <a:srgbClr val="2A2119"/>
                </a:solidFill>
                <a:latin typeface="Consolas"/>
              </a:rPr>
              <a:t>);
  </a:t>
            </a:r>
            <a:r>
              <a:rPr sz="1500" dirty="0" err="1">
                <a:solidFill>
                  <a:srgbClr val="2A2119"/>
                </a:solidFill>
                <a:latin typeface="Consolas"/>
              </a:rPr>
              <a:t>windows.push</a:t>
            </a:r>
            <a:r>
              <a:rPr sz="1500" dirty="0">
                <a:solidFill>
                  <a:srgbClr val="2A2119"/>
                </a:solidFill>
                <a:latin typeface="Consolas"/>
              </a:rPr>
              <a:t>({ </a:t>
            </a:r>
            <a:r>
              <a:rPr sz="1500" dirty="0" err="1">
                <a:solidFill>
                  <a:srgbClr val="2A2119"/>
                </a:solidFill>
                <a:latin typeface="Consolas"/>
              </a:rPr>
              <a:t>startSecond</a:t>
            </a:r>
            <a:r>
              <a:rPr sz="1500" dirty="0">
                <a:solidFill>
                  <a:srgbClr val="2A2119"/>
                </a:solidFill>
                <a:latin typeface="Consolas"/>
              </a:rPr>
              <a:t>, </a:t>
            </a:r>
            <a:r>
              <a:rPr sz="1500" dirty="0" err="1">
                <a:solidFill>
                  <a:srgbClr val="2A2119"/>
                </a:solidFill>
                <a:latin typeface="Consolas"/>
              </a:rPr>
              <a:t>endSecond</a:t>
            </a:r>
            <a:r>
              <a:rPr sz="1500" dirty="0">
                <a:solidFill>
                  <a:srgbClr val="2A2119"/>
                </a:solidFill>
                <a:latin typeface="Consolas"/>
              </a:rPr>
              <a:t>, ...features });
}</a:t>
            </a:r>
          </a:p>
        </p:txBody>
      </p:sp>
      <p:sp>
        <p:nvSpPr>
          <p:cNvPr id="8" name="TextBox 7"/>
          <p:cNvSpPr txBox="1"/>
          <p:nvPr/>
        </p:nvSpPr>
        <p:spPr>
          <a:xfrm>
            <a:off x="713232" y="6144768"/>
            <a:ext cx="10241280" cy="457200"/>
          </a:xfrm>
          <a:prstGeom prst="rect">
            <a:avLst/>
          </a:prstGeom>
          <a:noFill/>
        </p:spPr>
        <p:txBody>
          <a:bodyPr wrap="square" lIns="0" tIns="0" rIns="0" bIns="0">
            <a:normAutofit/>
          </a:bodyPr>
          <a:lstStyle/>
          <a:p>
            <a:pPr algn="l"/>
            <a:r>
              <a:rPr sz="1400">
                <a:solidFill>
                  <a:srgbClr val="726659"/>
                </a:solidFill>
                <a:latin typeface="Aptos"/>
              </a:rPr>
              <a:t>Đây chính là phần cắt âm thanh đã có trong code và đã được trình bày rõ trong slide.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ĐẶC TRƯNG</a:t>
            </a:r>
          </a:p>
        </p:txBody>
      </p:sp>
      <p:sp>
        <p:nvSpPr>
          <p:cNvPr id="4" name="TextBox 3"/>
          <p:cNvSpPr txBox="1"/>
          <p:nvPr/>
        </p:nvSpPr>
        <p:spPr>
          <a:xfrm>
            <a:off x="713232" y="960120"/>
            <a:ext cx="8897112" cy="1874519"/>
          </a:xfrm>
          <a:prstGeom prst="rect">
            <a:avLst/>
          </a:prstGeom>
          <a:noFill/>
        </p:spPr>
        <p:txBody>
          <a:bodyPr wrap="square" lIns="0" tIns="0" rIns="0" bIns="0">
            <a:normAutofit/>
          </a:bodyPr>
          <a:lstStyle/>
          <a:p>
            <a:r>
              <a:rPr sz="3800" dirty="0" err="1">
                <a:solidFill>
                  <a:srgbClr val="2A2119"/>
                </a:solidFill>
                <a:latin typeface="Georgia"/>
              </a:rPr>
              <a:t>Giải</a:t>
            </a:r>
            <a:r>
              <a:rPr sz="3800" dirty="0">
                <a:solidFill>
                  <a:srgbClr val="2A2119"/>
                </a:solidFill>
                <a:latin typeface="Georgia"/>
              </a:rPr>
              <a:t> </a:t>
            </a:r>
            <a:r>
              <a:rPr sz="3800" dirty="0" err="1">
                <a:solidFill>
                  <a:srgbClr val="2A2119"/>
                </a:solidFill>
                <a:latin typeface="Georgia"/>
              </a:rPr>
              <a:t>thích</a:t>
            </a:r>
            <a:r>
              <a:rPr sz="3800" dirty="0">
                <a:solidFill>
                  <a:srgbClr val="2A2119"/>
                </a:solidFill>
                <a:latin typeface="Georgia"/>
              </a:rPr>
              <a:t> </a:t>
            </a:r>
            <a:r>
              <a:rPr sz="3800" dirty="0" err="1">
                <a:solidFill>
                  <a:srgbClr val="2A2119"/>
                </a:solidFill>
                <a:latin typeface="Georgia"/>
              </a:rPr>
              <a:t>các</a:t>
            </a:r>
            <a:r>
              <a:rPr sz="3800" dirty="0">
                <a:solidFill>
                  <a:srgbClr val="2A2119"/>
                </a:solidFill>
                <a:latin typeface="Georgia"/>
              </a:rPr>
              <a:t> </a:t>
            </a:r>
            <a:r>
              <a:rPr sz="3800" dirty="0" err="1">
                <a:solidFill>
                  <a:srgbClr val="2A2119"/>
                </a:solidFill>
                <a:latin typeface="Georgia"/>
              </a:rPr>
              <a:t>hàm</a:t>
            </a:r>
            <a:r>
              <a:rPr sz="3800" dirty="0">
                <a:solidFill>
                  <a:srgbClr val="2A2119"/>
                </a:solidFill>
                <a:latin typeface="Georgia"/>
              </a:rPr>
              <a:t> </a:t>
            </a:r>
            <a:r>
              <a:rPr sz="3800" dirty="0" err="1">
                <a:solidFill>
                  <a:srgbClr val="2A2119"/>
                </a:solidFill>
                <a:latin typeface="Georgia"/>
              </a:rPr>
              <a:t>đặc</a:t>
            </a:r>
            <a:r>
              <a:rPr sz="3800" dirty="0">
                <a:solidFill>
                  <a:srgbClr val="2A2119"/>
                </a:solidFill>
                <a:latin typeface="Georgia"/>
              </a:rPr>
              <a:t> </a:t>
            </a:r>
            <a:r>
              <a:rPr sz="3800" dirty="0" err="1">
                <a:solidFill>
                  <a:srgbClr val="2A2119"/>
                </a:solidFill>
                <a:latin typeface="Georgia"/>
              </a:rPr>
              <a:t>trưng</a:t>
            </a:r>
            <a:r>
              <a:rPr sz="3800" dirty="0">
                <a:solidFill>
                  <a:srgbClr val="2A2119"/>
                </a:solidFill>
                <a:latin typeface="Georgia"/>
              </a:rPr>
              <a:t> </a:t>
            </a:r>
            <a:r>
              <a:rPr sz="3800" dirty="0" err="1">
                <a:solidFill>
                  <a:srgbClr val="2A2119"/>
                </a:solidFill>
                <a:latin typeface="Georgia"/>
              </a:rPr>
              <a:t>âm</a:t>
            </a:r>
            <a:r>
              <a:rPr sz="3800" dirty="0">
                <a:solidFill>
                  <a:srgbClr val="2A2119"/>
                </a:solidFill>
                <a:latin typeface="Georgia"/>
              </a:rPr>
              <a:t> </a:t>
            </a:r>
            <a:r>
              <a:rPr sz="3800" dirty="0" err="1">
                <a:solidFill>
                  <a:srgbClr val="2A2119"/>
                </a:solidFill>
                <a:latin typeface="Georgia"/>
              </a:rPr>
              <a:t>thanh</a:t>
            </a:r>
            <a:endParaRPr sz="3800" dirty="0">
              <a:solidFill>
                <a:srgbClr val="2A2119"/>
              </a:solidFill>
              <a:latin typeface="Georgia"/>
            </a:endParaRPr>
          </a:p>
        </p:txBody>
      </p:sp>
      <p:sp>
        <p:nvSpPr>
          <p:cNvPr id="5" name="Rounded Rectangle 4"/>
          <p:cNvSpPr/>
          <p:nvPr/>
        </p:nvSpPr>
        <p:spPr>
          <a:xfrm>
            <a:off x="749808" y="1828800"/>
            <a:ext cx="4983480" cy="105156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38528"/>
            <a:ext cx="2286000" cy="530352"/>
          </a:xfrm>
          <a:prstGeom prst="rect">
            <a:avLst/>
          </a:prstGeom>
          <a:noFill/>
        </p:spPr>
        <p:txBody>
          <a:bodyPr wrap="square" lIns="0" tIns="0" rIns="0" bIns="0">
            <a:normAutofit/>
          </a:bodyPr>
          <a:lstStyle/>
          <a:p>
            <a:r>
              <a:rPr sz="2200">
                <a:solidFill>
                  <a:srgbClr val="2A2119"/>
                </a:solidFill>
                <a:latin typeface="Georgia"/>
              </a:rPr>
              <a:t>Energy</a:t>
            </a:r>
          </a:p>
        </p:txBody>
      </p:sp>
      <p:sp>
        <p:nvSpPr>
          <p:cNvPr id="7" name="TextBox 6"/>
          <p:cNvSpPr txBox="1"/>
          <p:nvPr/>
        </p:nvSpPr>
        <p:spPr>
          <a:xfrm>
            <a:off x="2779776" y="2011680"/>
            <a:ext cx="2651760" cy="502920"/>
          </a:xfrm>
          <a:prstGeom prst="rect">
            <a:avLst/>
          </a:prstGeom>
          <a:noFill/>
        </p:spPr>
        <p:txBody>
          <a:bodyPr wrap="square" lIns="0" tIns="0" rIns="0" bIns="0">
            <a:normAutofit/>
          </a:bodyPr>
          <a:lstStyle/>
          <a:p>
            <a:r>
              <a:rPr sz="1500">
                <a:solidFill>
                  <a:srgbClr val="726659"/>
                </a:solidFill>
                <a:latin typeface="Aptos"/>
              </a:rPr>
              <a:t>Đo mức năng lượng trung bình của tín hiệu trong một cửa sổ.</a:t>
            </a:r>
          </a:p>
        </p:txBody>
      </p:sp>
      <p:sp>
        <p:nvSpPr>
          <p:cNvPr id="8" name="Rounded Rectangle 7"/>
          <p:cNvSpPr/>
          <p:nvPr/>
        </p:nvSpPr>
        <p:spPr>
          <a:xfrm>
            <a:off x="6099048" y="1828800"/>
            <a:ext cx="4983480" cy="105156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63640" y="1938528"/>
            <a:ext cx="2286000" cy="530352"/>
          </a:xfrm>
          <a:prstGeom prst="rect">
            <a:avLst/>
          </a:prstGeom>
          <a:noFill/>
        </p:spPr>
        <p:txBody>
          <a:bodyPr wrap="square" lIns="0" tIns="0" rIns="0" bIns="0">
            <a:normAutofit/>
          </a:bodyPr>
          <a:lstStyle/>
          <a:p>
            <a:r>
              <a:rPr sz="2200">
                <a:solidFill>
                  <a:srgbClr val="2A2119"/>
                </a:solidFill>
                <a:latin typeface="Georgia"/>
              </a:rPr>
              <a:t>Loudness</a:t>
            </a:r>
          </a:p>
        </p:txBody>
      </p:sp>
      <p:sp>
        <p:nvSpPr>
          <p:cNvPr id="10" name="TextBox 9"/>
          <p:cNvSpPr txBox="1"/>
          <p:nvPr/>
        </p:nvSpPr>
        <p:spPr>
          <a:xfrm>
            <a:off x="8129016" y="2011680"/>
            <a:ext cx="2651760" cy="502920"/>
          </a:xfrm>
          <a:prstGeom prst="rect">
            <a:avLst/>
          </a:prstGeom>
          <a:noFill/>
        </p:spPr>
        <p:txBody>
          <a:bodyPr wrap="square" lIns="0" tIns="0" rIns="0" bIns="0">
            <a:normAutofit/>
          </a:bodyPr>
          <a:lstStyle/>
          <a:p>
            <a:r>
              <a:rPr sz="1500">
                <a:solidFill>
                  <a:srgbClr val="726659"/>
                </a:solidFill>
                <a:latin typeface="Aptos"/>
              </a:rPr>
              <a:t>Đưa biên độ về thang log để gần hơn với cảm nhận nghe.</a:t>
            </a:r>
          </a:p>
        </p:txBody>
      </p:sp>
      <p:sp>
        <p:nvSpPr>
          <p:cNvPr id="11" name="Rounded Rectangle 10"/>
          <p:cNvSpPr/>
          <p:nvPr/>
        </p:nvSpPr>
        <p:spPr>
          <a:xfrm>
            <a:off x="749808" y="3127248"/>
            <a:ext cx="4983480" cy="105156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236976"/>
            <a:ext cx="2286000" cy="530352"/>
          </a:xfrm>
          <a:prstGeom prst="rect">
            <a:avLst/>
          </a:prstGeom>
          <a:noFill/>
        </p:spPr>
        <p:txBody>
          <a:bodyPr wrap="square" lIns="0" tIns="0" rIns="0" bIns="0">
            <a:normAutofit/>
          </a:bodyPr>
          <a:lstStyle/>
          <a:p>
            <a:r>
              <a:rPr sz="2200">
                <a:solidFill>
                  <a:srgbClr val="2A2119"/>
                </a:solidFill>
                <a:latin typeface="Georgia"/>
              </a:rPr>
              <a:t>Pitch</a:t>
            </a:r>
          </a:p>
        </p:txBody>
      </p:sp>
      <p:sp>
        <p:nvSpPr>
          <p:cNvPr id="13" name="TextBox 12"/>
          <p:cNvSpPr txBox="1"/>
          <p:nvPr/>
        </p:nvSpPr>
        <p:spPr>
          <a:xfrm>
            <a:off x="2779776" y="3310128"/>
            <a:ext cx="2651760" cy="502920"/>
          </a:xfrm>
          <a:prstGeom prst="rect">
            <a:avLst/>
          </a:prstGeom>
          <a:noFill/>
        </p:spPr>
        <p:txBody>
          <a:bodyPr wrap="square" lIns="0" tIns="0" rIns="0" bIns="0">
            <a:normAutofit fontScale="92500"/>
          </a:bodyPr>
          <a:lstStyle/>
          <a:p>
            <a:r>
              <a:rPr sz="1500">
                <a:solidFill>
                  <a:srgbClr val="726659"/>
                </a:solidFill>
                <a:latin typeface="Aptos"/>
              </a:rPr>
              <a:t>Ước lượng cao độ từ độ trễ mạnh nhất trong autocorrelation.</a:t>
            </a:r>
          </a:p>
        </p:txBody>
      </p:sp>
      <p:sp>
        <p:nvSpPr>
          <p:cNvPr id="14" name="Rounded Rectangle 13"/>
          <p:cNvSpPr/>
          <p:nvPr/>
        </p:nvSpPr>
        <p:spPr>
          <a:xfrm>
            <a:off x="6099048" y="3127248"/>
            <a:ext cx="4983480" cy="105156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3640" y="3236976"/>
            <a:ext cx="2286000" cy="530352"/>
          </a:xfrm>
          <a:prstGeom prst="rect">
            <a:avLst/>
          </a:prstGeom>
          <a:noFill/>
        </p:spPr>
        <p:txBody>
          <a:bodyPr wrap="square" lIns="0" tIns="0" rIns="0" bIns="0">
            <a:normAutofit/>
          </a:bodyPr>
          <a:lstStyle/>
          <a:p>
            <a:r>
              <a:rPr sz="2200">
                <a:solidFill>
                  <a:srgbClr val="2A2119"/>
                </a:solidFill>
                <a:latin typeface="Georgia"/>
              </a:rPr>
              <a:t>Brightness</a:t>
            </a:r>
          </a:p>
        </p:txBody>
      </p:sp>
      <p:sp>
        <p:nvSpPr>
          <p:cNvPr id="16" name="TextBox 15"/>
          <p:cNvSpPr txBox="1"/>
          <p:nvPr/>
        </p:nvSpPr>
        <p:spPr>
          <a:xfrm>
            <a:off x="8129016" y="3310128"/>
            <a:ext cx="2651760" cy="502920"/>
          </a:xfrm>
          <a:prstGeom prst="rect">
            <a:avLst/>
          </a:prstGeom>
          <a:noFill/>
        </p:spPr>
        <p:txBody>
          <a:bodyPr wrap="square" lIns="0" tIns="0" rIns="0" bIns="0">
            <a:normAutofit/>
          </a:bodyPr>
          <a:lstStyle/>
          <a:p>
            <a:r>
              <a:rPr sz="1500">
                <a:solidFill>
                  <a:srgbClr val="726659"/>
                </a:solidFill>
                <a:latin typeface="Aptos"/>
              </a:rPr>
              <a:t>Phản ánh độ sáng âm sắc qua trọng tâm phổ spectral centroid.</a:t>
            </a:r>
          </a:p>
        </p:txBody>
      </p:sp>
      <p:sp>
        <p:nvSpPr>
          <p:cNvPr id="17" name="Rounded Rectangle 16"/>
          <p:cNvSpPr/>
          <p:nvPr/>
        </p:nvSpPr>
        <p:spPr>
          <a:xfrm>
            <a:off x="749808" y="4425696"/>
            <a:ext cx="4983480" cy="105156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4535424"/>
            <a:ext cx="1719072" cy="530352"/>
          </a:xfrm>
          <a:prstGeom prst="rect">
            <a:avLst/>
          </a:prstGeom>
          <a:noFill/>
        </p:spPr>
        <p:txBody>
          <a:bodyPr wrap="square" lIns="0" tIns="0" rIns="0" bIns="0">
            <a:normAutofit fontScale="92500" lnSpcReduction="20000"/>
          </a:bodyPr>
          <a:lstStyle/>
          <a:p>
            <a:r>
              <a:rPr sz="2200" dirty="0">
                <a:solidFill>
                  <a:srgbClr val="2A2119"/>
                </a:solidFill>
                <a:latin typeface="Georgia"/>
              </a:rPr>
              <a:t>Zero-crossing rate</a:t>
            </a:r>
          </a:p>
        </p:txBody>
      </p:sp>
      <p:sp>
        <p:nvSpPr>
          <p:cNvPr id="19" name="TextBox 18"/>
          <p:cNvSpPr txBox="1"/>
          <p:nvPr/>
        </p:nvSpPr>
        <p:spPr>
          <a:xfrm>
            <a:off x="2779776" y="4608576"/>
            <a:ext cx="2651760" cy="502920"/>
          </a:xfrm>
          <a:prstGeom prst="rect">
            <a:avLst/>
          </a:prstGeom>
          <a:noFill/>
        </p:spPr>
        <p:txBody>
          <a:bodyPr wrap="square" lIns="0" tIns="0" rIns="0" bIns="0">
            <a:normAutofit/>
          </a:bodyPr>
          <a:lstStyle/>
          <a:p>
            <a:r>
              <a:rPr sz="1500" dirty="0" err="1">
                <a:solidFill>
                  <a:srgbClr val="726659"/>
                </a:solidFill>
                <a:latin typeface="Aptos"/>
              </a:rPr>
              <a:t>Mật</a:t>
            </a:r>
            <a:r>
              <a:rPr sz="1500" dirty="0">
                <a:solidFill>
                  <a:srgbClr val="726659"/>
                </a:solidFill>
                <a:latin typeface="Aptos"/>
              </a:rPr>
              <a:t> </a:t>
            </a:r>
            <a:r>
              <a:rPr sz="1500" dirty="0" err="1">
                <a:solidFill>
                  <a:srgbClr val="726659"/>
                </a:solidFill>
                <a:latin typeface="Aptos"/>
              </a:rPr>
              <a:t>độ</a:t>
            </a:r>
            <a:r>
              <a:rPr sz="1500" dirty="0">
                <a:solidFill>
                  <a:srgbClr val="726659"/>
                </a:solidFill>
                <a:latin typeface="Aptos"/>
              </a:rPr>
              <a:t> </a:t>
            </a:r>
            <a:r>
              <a:rPr sz="1500" dirty="0" err="1">
                <a:solidFill>
                  <a:srgbClr val="726659"/>
                </a:solidFill>
                <a:latin typeface="Aptos"/>
              </a:rPr>
              <a:t>đổi</a:t>
            </a:r>
            <a:r>
              <a:rPr sz="1500" dirty="0">
                <a:solidFill>
                  <a:srgbClr val="726659"/>
                </a:solidFill>
                <a:latin typeface="Aptos"/>
              </a:rPr>
              <a:t> </a:t>
            </a:r>
            <a:r>
              <a:rPr sz="1500" dirty="0" err="1">
                <a:solidFill>
                  <a:srgbClr val="726659"/>
                </a:solidFill>
                <a:latin typeface="Aptos"/>
              </a:rPr>
              <a:t>dấu</a:t>
            </a:r>
            <a:r>
              <a:rPr sz="1500" dirty="0">
                <a:solidFill>
                  <a:srgbClr val="726659"/>
                </a:solidFill>
                <a:latin typeface="Aptos"/>
              </a:rPr>
              <a:t> </a:t>
            </a:r>
            <a:r>
              <a:rPr sz="1500" dirty="0" err="1">
                <a:solidFill>
                  <a:srgbClr val="726659"/>
                </a:solidFill>
                <a:latin typeface="Aptos"/>
              </a:rPr>
              <a:t>của</a:t>
            </a:r>
            <a:r>
              <a:rPr sz="1500" dirty="0">
                <a:solidFill>
                  <a:srgbClr val="726659"/>
                </a:solidFill>
                <a:latin typeface="Aptos"/>
              </a:rPr>
              <a:t> </a:t>
            </a:r>
            <a:r>
              <a:rPr sz="1500" dirty="0" err="1">
                <a:solidFill>
                  <a:srgbClr val="726659"/>
                </a:solidFill>
                <a:latin typeface="Aptos"/>
              </a:rPr>
              <a:t>tín</a:t>
            </a:r>
            <a:r>
              <a:rPr sz="1500" dirty="0">
                <a:solidFill>
                  <a:srgbClr val="726659"/>
                </a:solidFill>
                <a:latin typeface="Aptos"/>
              </a:rPr>
              <a:t> </a:t>
            </a:r>
            <a:r>
              <a:rPr sz="1500" dirty="0" err="1">
                <a:solidFill>
                  <a:srgbClr val="726659"/>
                </a:solidFill>
                <a:latin typeface="Aptos"/>
              </a:rPr>
              <a:t>hiệu</a:t>
            </a:r>
            <a:r>
              <a:rPr sz="1500" dirty="0">
                <a:solidFill>
                  <a:srgbClr val="726659"/>
                </a:solidFill>
                <a:latin typeface="Aptos"/>
              </a:rPr>
              <a:t> </a:t>
            </a:r>
            <a:r>
              <a:rPr sz="1500" dirty="0" err="1">
                <a:solidFill>
                  <a:srgbClr val="726659"/>
                </a:solidFill>
                <a:latin typeface="Aptos"/>
              </a:rPr>
              <a:t>trong</a:t>
            </a:r>
            <a:r>
              <a:rPr sz="1500" dirty="0">
                <a:solidFill>
                  <a:srgbClr val="726659"/>
                </a:solidFill>
                <a:latin typeface="Aptos"/>
              </a:rPr>
              <a:t> </a:t>
            </a:r>
            <a:r>
              <a:rPr sz="1500" dirty="0" err="1">
                <a:solidFill>
                  <a:srgbClr val="726659"/>
                </a:solidFill>
                <a:latin typeface="Aptos"/>
              </a:rPr>
              <a:t>một</a:t>
            </a:r>
            <a:r>
              <a:rPr sz="1500" dirty="0">
                <a:solidFill>
                  <a:srgbClr val="726659"/>
                </a:solidFill>
                <a:latin typeface="Aptos"/>
              </a:rPr>
              <a:t> </a:t>
            </a:r>
            <a:r>
              <a:rPr sz="1500" dirty="0" err="1">
                <a:solidFill>
                  <a:srgbClr val="726659"/>
                </a:solidFill>
                <a:latin typeface="Aptos"/>
              </a:rPr>
              <a:t>cửa</a:t>
            </a:r>
            <a:r>
              <a:rPr sz="1500" dirty="0">
                <a:solidFill>
                  <a:srgbClr val="726659"/>
                </a:solidFill>
                <a:latin typeface="Aptos"/>
              </a:rPr>
              <a:t> </a:t>
            </a:r>
            <a:r>
              <a:rPr sz="1500" dirty="0" err="1">
                <a:solidFill>
                  <a:srgbClr val="726659"/>
                </a:solidFill>
                <a:latin typeface="Aptos"/>
              </a:rPr>
              <a:t>sổ</a:t>
            </a:r>
            <a:r>
              <a:rPr sz="1500" dirty="0">
                <a:solidFill>
                  <a:srgbClr val="726659"/>
                </a:solidFill>
                <a:latin typeface="Aptos"/>
              </a:rPr>
              <a:t>.</a:t>
            </a:r>
          </a:p>
        </p:txBody>
      </p:sp>
      <p:sp>
        <p:nvSpPr>
          <p:cNvPr id="20" name="Rounded Rectangle 19"/>
          <p:cNvSpPr/>
          <p:nvPr/>
        </p:nvSpPr>
        <p:spPr>
          <a:xfrm>
            <a:off x="6099048" y="4425696"/>
            <a:ext cx="4983480" cy="105156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63640" y="4535424"/>
            <a:ext cx="2286000" cy="530352"/>
          </a:xfrm>
          <a:prstGeom prst="rect">
            <a:avLst/>
          </a:prstGeom>
          <a:noFill/>
        </p:spPr>
        <p:txBody>
          <a:bodyPr wrap="square" lIns="0" tIns="0" rIns="0" bIns="0">
            <a:normAutofit/>
          </a:bodyPr>
          <a:lstStyle/>
          <a:p>
            <a:r>
              <a:rPr sz="2200">
                <a:solidFill>
                  <a:srgbClr val="2A2119"/>
                </a:solidFill>
                <a:latin typeface="Georgia"/>
              </a:rPr>
              <a:t>Peak</a:t>
            </a:r>
          </a:p>
        </p:txBody>
      </p:sp>
      <p:sp>
        <p:nvSpPr>
          <p:cNvPr id="22" name="TextBox 21"/>
          <p:cNvSpPr txBox="1"/>
          <p:nvPr/>
        </p:nvSpPr>
        <p:spPr>
          <a:xfrm>
            <a:off x="8129016" y="4608576"/>
            <a:ext cx="2651760" cy="502920"/>
          </a:xfrm>
          <a:prstGeom prst="rect">
            <a:avLst/>
          </a:prstGeom>
          <a:noFill/>
        </p:spPr>
        <p:txBody>
          <a:bodyPr wrap="square" lIns="0" tIns="0" rIns="0" bIns="0">
            <a:normAutofit/>
          </a:bodyPr>
          <a:lstStyle/>
          <a:p>
            <a:r>
              <a:rPr sz="1500">
                <a:solidFill>
                  <a:srgbClr val="726659"/>
                </a:solidFill>
                <a:latin typeface="Aptos"/>
              </a:rPr>
              <a:t>Biên độ lớn nhất xuất hiện trong cửa sổ tín hiệu.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CÔNG THỨC</a:t>
            </a:r>
          </a:p>
        </p:txBody>
      </p:sp>
      <p:sp>
        <p:nvSpPr>
          <p:cNvPr id="4" name="TextBox 3"/>
          <p:cNvSpPr txBox="1"/>
          <p:nvPr/>
        </p:nvSpPr>
        <p:spPr>
          <a:xfrm>
            <a:off x="713232" y="960120"/>
            <a:ext cx="8796528" cy="1874519"/>
          </a:xfrm>
          <a:prstGeom prst="rect">
            <a:avLst/>
          </a:prstGeom>
          <a:noFill/>
        </p:spPr>
        <p:txBody>
          <a:bodyPr wrap="square" lIns="0" tIns="0" rIns="0" bIns="0">
            <a:normAutofit/>
          </a:bodyPr>
          <a:lstStyle/>
          <a:p>
            <a:r>
              <a:rPr sz="3400" b="0">
                <a:solidFill>
                  <a:srgbClr val="2A2119"/>
                </a:solidFill>
                <a:latin typeface="Georgia"/>
              </a:rPr>
              <a:t>Loudness</a:t>
            </a:r>
            <a:endParaRPr sz="3800" dirty="0">
              <a:solidFill>
                <a:srgbClr val="2A2119"/>
              </a:solidFill>
              <a:latin typeface="Georgia"/>
            </a:endParaRPr>
          </a:p>
        </p:txBody>
      </p:sp>
      <p:sp>
        <p:nvSpPr>
          <p:cNvPr id="5" name="Rounded Rectangle 4"/>
          <p:cNvSpPr/>
          <p:nvPr/>
        </p:nvSpPr>
        <p:spPr>
          <a:xfrm>
            <a:off x="640079" y="1883663"/>
            <a:ext cx="5257800" cy="1776985"/>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93392"/>
            <a:ext cx="4928616" cy="1271016"/>
          </a:xfrm>
          <a:prstGeom prst="rect">
            <a:avLst/>
          </a:prstGeom>
          <a:noFill/>
        </p:spPr>
        <p:txBody>
          <a:bodyPr wrap="square" lIns="0" tIns="0" rIns="0" bIns="0">
            <a:normAutofit fontScale="92500" lnSpcReduction="20000"/>
          </a:bodyPr>
          <a:lstStyle/>
          <a:p>
            <a:r>
              <a:rPr sz="1400" b="0" dirty="0">
                <a:solidFill>
                  <a:srgbClr val="2A2119"/>
                </a:solidFill>
                <a:latin typeface="Consolas"/>
              </a:rPr>
              <a:t>Loudness = 20 * log10(RMS + ε)
RMS = sqrt((1 / N) * Σ(x[n]^2))
</a:t>
            </a:r>
            <a:r>
              <a:rPr sz="1400" b="0" dirty="0" err="1">
                <a:solidFill>
                  <a:srgbClr val="2A2119"/>
                </a:solidFill>
                <a:latin typeface="Consolas"/>
              </a:rPr>
              <a:t>Ký</a:t>
            </a:r>
            <a:r>
              <a:rPr sz="1400" b="0" dirty="0">
                <a:solidFill>
                  <a:srgbClr val="2A2119"/>
                </a:solidFill>
                <a:latin typeface="Consolas"/>
              </a:rPr>
              <a:t> </a:t>
            </a:r>
            <a:r>
              <a:rPr sz="1400" b="0" dirty="0" err="1">
                <a:solidFill>
                  <a:srgbClr val="2A2119"/>
                </a:solidFill>
                <a:latin typeface="Consolas"/>
              </a:rPr>
              <a:t>hiệu</a:t>
            </a:r>
            <a:r>
              <a:rPr sz="1400" b="0" dirty="0">
                <a:solidFill>
                  <a:srgbClr val="2A2119"/>
                </a:solidFill>
                <a:latin typeface="Consolas"/>
              </a:rPr>
              <a:t>:
- RMS: </a:t>
            </a:r>
            <a:r>
              <a:rPr sz="1400" b="0" dirty="0" err="1">
                <a:solidFill>
                  <a:srgbClr val="2A2119"/>
                </a:solidFill>
                <a:latin typeface="Consolas"/>
              </a:rPr>
              <a:t>biên</a:t>
            </a:r>
            <a:r>
              <a:rPr sz="1400" b="0" dirty="0">
                <a:solidFill>
                  <a:srgbClr val="2A2119"/>
                </a:solidFill>
                <a:latin typeface="Consolas"/>
              </a:rPr>
              <a:t> </a:t>
            </a:r>
            <a:r>
              <a:rPr sz="1400" b="0" dirty="0" err="1">
                <a:solidFill>
                  <a:srgbClr val="2A2119"/>
                </a:solidFill>
                <a:latin typeface="Consolas"/>
              </a:rPr>
              <a:t>độ</a:t>
            </a:r>
            <a:r>
              <a:rPr sz="1400" b="0" dirty="0">
                <a:solidFill>
                  <a:srgbClr val="2A2119"/>
                </a:solidFill>
                <a:latin typeface="Consolas"/>
              </a:rPr>
              <a:t> </a:t>
            </a:r>
            <a:r>
              <a:rPr sz="1400" b="0" dirty="0" err="1">
                <a:solidFill>
                  <a:srgbClr val="2A2119"/>
                </a:solidFill>
                <a:latin typeface="Consolas"/>
              </a:rPr>
              <a:t>hiệu</a:t>
            </a:r>
            <a:r>
              <a:rPr sz="1400" b="0" dirty="0">
                <a:solidFill>
                  <a:srgbClr val="2A2119"/>
                </a:solidFill>
                <a:latin typeface="Consolas"/>
              </a:rPr>
              <a:t> </a:t>
            </a:r>
            <a:r>
              <a:rPr sz="1400" b="0" dirty="0" err="1">
                <a:solidFill>
                  <a:srgbClr val="2A2119"/>
                </a:solidFill>
                <a:latin typeface="Consolas"/>
              </a:rPr>
              <a:t>dụng</a:t>
            </a:r>
            <a:r>
              <a:rPr sz="1400" b="0" dirty="0">
                <a:solidFill>
                  <a:srgbClr val="2A2119"/>
                </a:solidFill>
                <a:latin typeface="Consolas"/>
              </a:rPr>
              <a:t>
- ε: </a:t>
            </a:r>
            <a:r>
              <a:rPr sz="1400" b="0" dirty="0" err="1">
                <a:solidFill>
                  <a:srgbClr val="2A2119"/>
                </a:solidFill>
                <a:latin typeface="Consolas"/>
              </a:rPr>
              <a:t>số</a:t>
            </a:r>
            <a:r>
              <a:rPr sz="1400" b="0" dirty="0">
                <a:solidFill>
                  <a:srgbClr val="2A2119"/>
                </a:solidFill>
                <a:latin typeface="Consolas"/>
              </a:rPr>
              <a:t> </a:t>
            </a:r>
            <a:r>
              <a:rPr sz="1400" b="0" dirty="0" err="1">
                <a:solidFill>
                  <a:srgbClr val="2A2119"/>
                </a:solidFill>
                <a:latin typeface="Consolas"/>
              </a:rPr>
              <a:t>nhỏ</a:t>
            </a:r>
            <a:r>
              <a:rPr sz="1400" b="0" dirty="0">
                <a:solidFill>
                  <a:srgbClr val="2A2119"/>
                </a:solidFill>
                <a:latin typeface="Consolas"/>
              </a:rPr>
              <a:t> </a:t>
            </a:r>
            <a:r>
              <a:rPr sz="1400" b="0" dirty="0" err="1">
                <a:solidFill>
                  <a:srgbClr val="2A2119"/>
                </a:solidFill>
                <a:latin typeface="Consolas"/>
              </a:rPr>
              <a:t>để</a:t>
            </a:r>
            <a:r>
              <a:rPr sz="1400" b="0" dirty="0">
                <a:solidFill>
                  <a:srgbClr val="2A2119"/>
                </a:solidFill>
                <a:latin typeface="Consolas"/>
              </a:rPr>
              <a:t> </a:t>
            </a:r>
            <a:r>
              <a:rPr sz="1400" b="0" dirty="0" err="1">
                <a:solidFill>
                  <a:srgbClr val="2A2119"/>
                </a:solidFill>
                <a:latin typeface="Consolas"/>
              </a:rPr>
              <a:t>tránh</a:t>
            </a:r>
            <a:r>
              <a:rPr sz="1400" b="0" dirty="0">
                <a:solidFill>
                  <a:srgbClr val="2A2119"/>
                </a:solidFill>
                <a:latin typeface="Consolas"/>
              </a:rPr>
              <a:t> log(0)
Tham </a:t>
            </a:r>
            <a:r>
              <a:rPr sz="1400" b="0" dirty="0" err="1">
                <a:solidFill>
                  <a:srgbClr val="2A2119"/>
                </a:solidFill>
                <a:latin typeface="Consolas"/>
              </a:rPr>
              <a:t>số</a:t>
            </a:r>
            <a:r>
              <a:rPr sz="1400" b="0" dirty="0">
                <a:solidFill>
                  <a:srgbClr val="2A2119"/>
                </a:solidFill>
                <a:latin typeface="Consolas"/>
              </a:rPr>
              <a:t> </a:t>
            </a:r>
            <a:r>
              <a:rPr sz="1400" b="0" dirty="0" err="1">
                <a:solidFill>
                  <a:srgbClr val="2A2119"/>
                </a:solidFill>
                <a:latin typeface="Consolas"/>
              </a:rPr>
              <a:t>trên</a:t>
            </a:r>
            <a:r>
              <a:rPr sz="1400" b="0" dirty="0">
                <a:solidFill>
                  <a:srgbClr val="2A2119"/>
                </a:solidFill>
                <a:latin typeface="Consolas"/>
              </a:rPr>
              <a:t> FE:</a:t>
            </a:r>
            <a:r>
              <a:rPr lang="vi-VN" sz="1400" b="0" dirty="0">
                <a:solidFill>
                  <a:srgbClr val="2A2119"/>
                </a:solidFill>
                <a:latin typeface="Consolas"/>
              </a:rPr>
              <a:t>Độ to trung bình</a:t>
            </a:r>
            <a:endParaRPr sz="1400" b="0" dirty="0">
              <a:solidFill>
                <a:srgbClr val="2A2119"/>
              </a:solidFill>
              <a:latin typeface="Consolas"/>
            </a:endParaRPr>
          </a:p>
        </p:txBody>
      </p:sp>
      <p:sp>
        <p:nvSpPr>
          <p:cNvPr id="7" name="Rounded Rectangle 6"/>
          <p:cNvSpPr/>
          <p:nvPr/>
        </p:nvSpPr>
        <p:spPr>
          <a:xfrm>
            <a:off x="6062472" y="1828800"/>
            <a:ext cx="5230368" cy="1307591"/>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27064" y="1993392"/>
            <a:ext cx="4901183" cy="1142999"/>
          </a:xfrm>
          <a:prstGeom prst="rect">
            <a:avLst/>
          </a:prstGeom>
          <a:noFill/>
        </p:spPr>
        <p:txBody>
          <a:bodyPr wrap="square" lIns="0" tIns="0" rIns="0" bIns="0">
            <a:normAutofit/>
          </a:bodyPr>
          <a:lstStyle/>
          <a:p>
            <a:r>
              <a:rPr sz="1200" b="0" dirty="0">
                <a:solidFill>
                  <a:srgbClr val="2A2119"/>
                </a:solidFill>
                <a:latin typeface="Consolas"/>
              </a:rPr>
              <a:t>Trong code:
const loudness = 20 * Math.log10(rms + EPSILON);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CÔNG THỨC</a:t>
            </a:r>
          </a:p>
        </p:txBody>
      </p:sp>
      <p:sp>
        <p:nvSpPr>
          <p:cNvPr id="4" name="TextBox 3"/>
          <p:cNvSpPr txBox="1"/>
          <p:nvPr/>
        </p:nvSpPr>
        <p:spPr>
          <a:xfrm>
            <a:off x="713232" y="960120"/>
            <a:ext cx="8796528" cy="1874519"/>
          </a:xfrm>
          <a:prstGeom prst="rect">
            <a:avLst/>
          </a:prstGeom>
          <a:noFill/>
        </p:spPr>
        <p:txBody>
          <a:bodyPr wrap="square" lIns="0" tIns="0" rIns="0" bIns="0">
            <a:normAutofit/>
          </a:bodyPr>
          <a:lstStyle/>
          <a:p>
            <a:r>
              <a:rPr sz="3400" b="0">
                <a:solidFill>
                  <a:srgbClr val="2A2119"/>
                </a:solidFill>
                <a:latin typeface="Georgia"/>
              </a:rPr>
              <a:t>Pitch</a:t>
            </a:r>
            <a:endParaRPr sz="3800" dirty="0">
              <a:solidFill>
                <a:srgbClr val="2A2119"/>
              </a:solidFill>
              <a:latin typeface="Georgia"/>
            </a:endParaRPr>
          </a:p>
        </p:txBody>
      </p:sp>
      <p:sp>
        <p:nvSpPr>
          <p:cNvPr id="5" name="Rounded Rectangle 4"/>
          <p:cNvSpPr/>
          <p:nvPr/>
        </p:nvSpPr>
        <p:spPr>
          <a:xfrm>
            <a:off x="749808" y="1897379"/>
            <a:ext cx="5257800" cy="1650493"/>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93392"/>
            <a:ext cx="4928616" cy="1271016"/>
          </a:xfrm>
          <a:prstGeom prst="rect">
            <a:avLst/>
          </a:prstGeom>
          <a:noFill/>
        </p:spPr>
        <p:txBody>
          <a:bodyPr wrap="square" lIns="0" tIns="0" rIns="0" bIns="0">
            <a:normAutofit fontScale="92500" lnSpcReduction="10000"/>
          </a:bodyPr>
          <a:lstStyle/>
          <a:p>
            <a:r>
              <a:rPr sz="1400" b="0" dirty="0">
                <a:solidFill>
                  <a:srgbClr val="2A2119"/>
                </a:solidFill>
                <a:latin typeface="Consolas"/>
              </a:rPr>
              <a:t>Pitch ≈ </a:t>
            </a:r>
            <a:r>
              <a:rPr sz="1400" b="0" dirty="0" err="1">
                <a:solidFill>
                  <a:srgbClr val="2A2119"/>
                </a:solidFill>
                <a:latin typeface="Consolas"/>
              </a:rPr>
              <a:t>sampleRate</a:t>
            </a:r>
            <a:r>
              <a:rPr sz="1400" b="0" dirty="0">
                <a:solidFill>
                  <a:srgbClr val="2A2119"/>
                </a:solidFill>
                <a:latin typeface="Consolas"/>
              </a:rPr>
              <a:t> / </a:t>
            </a:r>
            <a:r>
              <a:rPr sz="1400" b="0" dirty="0" err="1">
                <a:solidFill>
                  <a:srgbClr val="2A2119"/>
                </a:solidFill>
                <a:latin typeface="Consolas"/>
              </a:rPr>
              <a:t>bestLag</a:t>
            </a:r>
            <a:r>
              <a:rPr sz="1400" b="0" dirty="0">
                <a:solidFill>
                  <a:srgbClr val="2A2119"/>
                </a:solidFill>
                <a:latin typeface="Consolas"/>
              </a:rPr>
              <a:t>
</a:t>
            </a:r>
            <a:r>
              <a:rPr sz="1400" b="0" dirty="0" err="1">
                <a:solidFill>
                  <a:srgbClr val="2A2119"/>
                </a:solidFill>
                <a:latin typeface="Consolas"/>
              </a:rPr>
              <a:t>Ký</a:t>
            </a:r>
            <a:r>
              <a:rPr sz="1400" b="0" dirty="0">
                <a:solidFill>
                  <a:srgbClr val="2A2119"/>
                </a:solidFill>
                <a:latin typeface="Consolas"/>
              </a:rPr>
              <a:t> </a:t>
            </a:r>
            <a:r>
              <a:rPr sz="1400" b="0" dirty="0" err="1">
                <a:solidFill>
                  <a:srgbClr val="2A2119"/>
                </a:solidFill>
                <a:latin typeface="Consolas"/>
              </a:rPr>
              <a:t>hiệu</a:t>
            </a:r>
            <a:r>
              <a:rPr sz="1400" b="0" dirty="0">
                <a:solidFill>
                  <a:srgbClr val="2A2119"/>
                </a:solidFill>
                <a:latin typeface="Consolas"/>
              </a:rPr>
              <a:t>:
- </a:t>
            </a:r>
            <a:r>
              <a:rPr sz="1400" b="0" dirty="0" err="1">
                <a:solidFill>
                  <a:srgbClr val="2A2119"/>
                </a:solidFill>
                <a:latin typeface="Consolas"/>
              </a:rPr>
              <a:t>sampleRate</a:t>
            </a:r>
            <a:r>
              <a:rPr sz="1400" b="0" dirty="0">
                <a:solidFill>
                  <a:srgbClr val="2A2119"/>
                </a:solidFill>
                <a:latin typeface="Consolas"/>
              </a:rPr>
              <a:t>: </a:t>
            </a:r>
            <a:r>
              <a:rPr sz="1400" b="0" dirty="0" err="1">
                <a:solidFill>
                  <a:srgbClr val="2A2119"/>
                </a:solidFill>
                <a:latin typeface="Consolas"/>
              </a:rPr>
              <a:t>tần</a:t>
            </a:r>
            <a:r>
              <a:rPr sz="1400" b="0" dirty="0">
                <a:solidFill>
                  <a:srgbClr val="2A2119"/>
                </a:solidFill>
                <a:latin typeface="Consolas"/>
              </a:rPr>
              <a:t> </a:t>
            </a:r>
            <a:r>
              <a:rPr sz="1400" b="0" dirty="0" err="1">
                <a:solidFill>
                  <a:srgbClr val="2A2119"/>
                </a:solidFill>
                <a:latin typeface="Consolas"/>
              </a:rPr>
              <a:t>số</a:t>
            </a:r>
            <a:r>
              <a:rPr sz="1400" b="0" dirty="0">
                <a:solidFill>
                  <a:srgbClr val="2A2119"/>
                </a:solidFill>
                <a:latin typeface="Consolas"/>
              </a:rPr>
              <a:t> </a:t>
            </a:r>
            <a:r>
              <a:rPr sz="1400" b="0" dirty="0" err="1">
                <a:solidFill>
                  <a:srgbClr val="2A2119"/>
                </a:solidFill>
                <a:latin typeface="Consolas"/>
              </a:rPr>
              <a:t>lấy</a:t>
            </a:r>
            <a:r>
              <a:rPr sz="1400" b="0" dirty="0">
                <a:solidFill>
                  <a:srgbClr val="2A2119"/>
                </a:solidFill>
                <a:latin typeface="Consolas"/>
              </a:rPr>
              <a:t> </a:t>
            </a:r>
            <a:r>
              <a:rPr sz="1400" b="0" dirty="0" err="1">
                <a:solidFill>
                  <a:srgbClr val="2A2119"/>
                </a:solidFill>
                <a:latin typeface="Consolas"/>
              </a:rPr>
              <a:t>mẫu</a:t>
            </a:r>
            <a:r>
              <a:rPr sz="1400" b="0" dirty="0">
                <a:solidFill>
                  <a:srgbClr val="2A2119"/>
                </a:solidFill>
                <a:latin typeface="Consolas"/>
              </a:rPr>
              <a:t> (Hz)
- </a:t>
            </a:r>
            <a:r>
              <a:rPr sz="1400" b="0" dirty="0" err="1">
                <a:solidFill>
                  <a:srgbClr val="2A2119"/>
                </a:solidFill>
                <a:latin typeface="Consolas"/>
              </a:rPr>
              <a:t>bestLag</a:t>
            </a:r>
            <a:r>
              <a:rPr sz="1400" b="0" dirty="0">
                <a:solidFill>
                  <a:srgbClr val="2A2119"/>
                </a:solidFill>
                <a:latin typeface="Consolas"/>
              </a:rPr>
              <a:t>: </a:t>
            </a:r>
            <a:r>
              <a:rPr sz="1400" b="0" dirty="0" err="1">
                <a:solidFill>
                  <a:srgbClr val="2A2119"/>
                </a:solidFill>
                <a:latin typeface="Consolas"/>
              </a:rPr>
              <a:t>độ</a:t>
            </a:r>
            <a:r>
              <a:rPr sz="1400" b="0" dirty="0">
                <a:solidFill>
                  <a:srgbClr val="2A2119"/>
                </a:solidFill>
                <a:latin typeface="Consolas"/>
              </a:rPr>
              <a:t> </a:t>
            </a:r>
            <a:r>
              <a:rPr sz="1400" b="0" dirty="0" err="1">
                <a:solidFill>
                  <a:srgbClr val="2A2119"/>
                </a:solidFill>
                <a:latin typeface="Consolas"/>
              </a:rPr>
              <a:t>trễ</a:t>
            </a:r>
            <a:r>
              <a:rPr sz="1400" b="0" dirty="0">
                <a:solidFill>
                  <a:srgbClr val="2A2119"/>
                </a:solidFill>
                <a:latin typeface="Consolas"/>
              </a:rPr>
              <a:t> </a:t>
            </a:r>
            <a:r>
              <a:rPr sz="1400" b="0" dirty="0" err="1">
                <a:solidFill>
                  <a:srgbClr val="2A2119"/>
                </a:solidFill>
                <a:latin typeface="Consolas"/>
              </a:rPr>
              <a:t>có</a:t>
            </a:r>
            <a:r>
              <a:rPr sz="1400" b="0" dirty="0">
                <a:solidFill>
                  <a:srgbClr val="2A2119"/>
                </a:solidFill>
                <a:latin typeface="Consolas"/>
              </a:rPr>
              <a:t> </a:t>
            </a:r>
            <a:r>
              <a:rPr sz="1400" b="0" dirty="0" err="1">
                <a:solidFill>
                  <a:srgbClr val="2A2119"/>
                </a:solidFill>
                <a:latin typeface="Consolas"/>
              </a:rPr>
              <a:t>tự</a:t>
            </a:r>
            <a:r>
              <a:rPr sz="1400" b="0" dirty="0">
                <a:solidFill>
                  <a:srgbClr val="2A2119"/>
                </a:solidFill>
                <a:latin typeface="Consolas"/>
              </a:rPr>
              <a:t> </a:t>
            </a:r>
            <a:r>
              <a:rPr sz="1400" b="0" dirty="0" err="1">
                <a:solidFill>
                  <a:srgbClr val="2A2119"/>
                </a:solidFill>
                <a:latin typeface="Consolas"/>
              </a:rPr>
              <a:t>tương</a:t>
            </a:r>
            <a:r>
              <a:rPr sz="1400" b="0" dirty="0">
                <a:solidFill>
                  <a:srgbClr val="2A2119"/>
                </a:solidFill>
                <a:latin typeface="Consolas"/>
              </a:rPr>
              <a:t> </a:t>
            </a:r>
            <a:r>
              <a:rPr sz="1400" b="0" dirty="0" err="1">
                <a:solidFill>
                  <a:srgbClr val="2A2119"/>
                </a:solidFill>
                <a:latin typeface="Consolas"/>
              </a:rPr>
              <a:t>quan</a:t>
            </a:r>
            <a:r>
              <a:rPr sz="1400" b="0" dirty="0">
                <a:solidFill>
                  <a:srgbClr val="2A2119"/>
                </a:solidFill>
                <a:latin typeface="Consolas"/>
              </a:rPr>
              <a:t> </a:t>
            </a:r>
            <a:r>
              <a:rPr sz="1400" b="0" dirty="0" err="1">
                <a:solidFill>
                  <a:srgbClr val="2A2119"/>
                </a:solidFill>
                <a:latin typeface="Consolas"/>
              </a:rPr>
              <a:t>lớn</a:t>
            </a:r>
            <a:r>
              <a:rPr sz="1400" b="0" dirty="0">
                <a:solidFill>
                  <a:srgbClr val="2A2119"/>
                </a:solidFill>
                <a:latin typeface="Consolas"/>
              </a:rPr>
              <a:t> </a:t>
            </a:r>
            <a:r>
              <a:rPr sz="1400" b="0" dirty="0" err="1">
                <a:solidFill>
                  <a:srgbClr val="2A2119"/>
                </a:solidFill>
                <a:latin typeface="Consolas"/>
              </a:rPr>
              <a:t>nhất</a:t>
            </a:r>
            <a:r>
              <a:rPr sz="1400" b="0" dirty="0">
                <a:solidFill>
                  <a:srgbClr val="2A2119"/>
                </a:solidFill>
                <a:latin typeface="Consolas"/>
              </a:rPr>
              <a:t>
Tham </a:t>
            </a:r>
            <a:r>
              <a:rPr sz="1400" b="0" dirty="0" err="1">
                <a:solidFill>
                  <a:srgbClr val="2A2119"/>
                </a:solidFill>
                <a:latin typeface="Consolas"/>
              </a:rPr>
              <a:t>số</a:t>
            </a:r>
            <a:r>
              <a:rPr sz="1400" b="0" dirty="0">
                <a:solidFill>
                  <a:srgbClr val="2A2119"/>
                </a:solidFill>
                <a:latin typeface="Consolas"/>
              </a:rPr>
              <a:t> </a:t>
            </a:r>
            <a:r>
              <a:rPr sz="1400" b="0" dirty="0" err="1">
                <a:solidFill>
                  <a:srgbClr val="2A2119"/>
                </a:solidFill>
                <a:latin typeface="Consolas"/>
              </a:rPr>
              <a:t>trên</a:t>
            </a:r>
            <a:r>
              <a:rPr sz="1400" b="0" dirty="0">
                <a:solidFill>
                  <a:srgbClr val="2A2119"/>
                </a:solidFill>
                <a:latin typeface="Consolas"/>
              </a:rPr>
              <a:t> FE:</a:t>
            </a:r>
            <a:r>
              <a:rPr lang="vi-VN" sz="1400" b="0" dirty="0">
                <a:solidFill>
                  <a:srgbClr val="2A2119"/>
                </a:solidFill>
                <a:latin typeface="Consolas"/>
              </a:rPr>
              <a:t> Cao độ trội</a:t>
            </a:r>
            <a:endParaRPr sz="1400" b="0" dirty="0">
              <a:solidFill>
                <a:srgbClr val="2A2119"/>
              </a:solidFill>
              <a:latin typeface="Consolas"/>
            </a:endParaRPr>
          </a:p>
        </p:txBody>
      </p:sp>
      <p:sp>
        <p:nvSpPr>
          <p:cNvPr id="7" name="Rounded Rectangle 6"/>
          <p:cNvSpPr/>
          <p:nvPr/>
        </p:nvSpPr>
        <p:spPr>
          <a:xfrm>
            <a:off x="6062472" y="1828800"/>
            <a:ext cx="5230368" cy="1307591"/>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27064" y="1993392"/>
            <a:ext cx="4901183" cy="1142999"/>
          </a:xfrm>
          <a:prstGeom prst="rect">
            <a:avLst/>
          </a:prstGeom>
          <a:noFill/>
        </p:spPr>
        <p:txBody>
          <a:bodyPr wrap="square" lIns="0" tIns="0" rIns="0" bIns="0">
            <a:normAutofit/>
          </a:bodyPr>
          <a:lstStyle/>
          <a:p>
            <a:r>
              <a:rPr sz="1200" b="0">
                <a:solidFill>
                  <a:srgbClr val="2A2119"/>
                </a:solidFill>
                <a:latin typeface="Consolas"/>
              </a:rPr>
              <a:t>Trong code:
return sampleRate / bestLag;
dominantPitchHz = avg(window.pitch &gt; 0);</a:t>
            </a:r>
          </a:p>
        </p:txBody>
      </p:sp>
      <p:sp>
        <p:nvSpPr>
          <p:cNvPr id="9" name="TextBox 8"/>
          <p:cNvSpPr txBox="1"/>
          <p:nvPr/>
        </p:nvSpPr>
        <p:spPr>
          <a:xfrm>
            <a:off x="813816" y="4361687"/>
            <a:ext cx="10058400" cy="1143000"/>
          </a:xfrm>
          <a:prstGeom prst="rect">
            <a:avLst/>
          </a:prstGeom>
          <a:noFill/>
        </p:spPr>
        <p:txBody>
          <a:bodyPr wrap="square" lIns="0" tIns="0" rIns="0" bIns="0">
            <a:normAutofit/>
          </a:bodyPr>
          <a:lstStyle/>
          <a:p>
            <a:pPr>
              <a:spcBef>
                <a:spcPts val="0"/>
              </a:spcBef>
              <a:spcAft>
                <a:spcPts val="1000"/>
              </a:spcAft>
            </a:pPr>
            <a:endParaRPr sz="1600" b="0" dirty="0">
              <a:solidFill>
                <a:srgbClr val="726659"/>
              </a:solidFill>
              <a:latin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CÔNG THỨC</a:t>
            </a:r>
          </a:p>
        </p:txBody>
      </p:sp>
      <p:sp>
        <p:nvSpPr>
          <p:cNvPr id="4" name="TextBox 3"/>
          <p:cNvSpPr txBox="1"/>
          <p:nvPr/>
        </p:nvSpPr>
        <p:spPr>
          <a:xfrm>
            <a:off x="713232" y="960120"/>
            <a:ext cx="8796528" cy="1874519"/>
          </a:xfrm>
          <a:prstGeom prst="rect">
            <a:avLst/>
          </a:prstGeom>
          <a:noFill/>
        </p:spPr>
        <p:txBody>
          <a:bodyPr wrap="square" lIns="0" tIns="0" rIns="0" bIns="0">
            <a:normAutofit/>
          </a:bodyPr>
          <a:lstStyle/>
          <a:p>
            <a:r>
              <a:rPr sz="3400" b="0">
                <a:solidFill>
                  <a:srgbClr val="2A2119"/>
                </a:solidFill>
                <a:latin typeface="Georgia"/>
              </a:rPr>
              <a:t>Brightness</a:t>
            </a:r>
            <a:endParaRPr sz="3800" dirty="0">
              <a:solidFill>
                <a:srgbClr val="2A2119"/>
              </a:solidFill>
              <a:latin typeface="Georgia"/>
            </a:endParaRPr>
          </a:p>
        </p:txBody>
      </p:sp>
      <p:sp>
        <p:nvSpPr>
          <p:cNvPr id="5" name="Rounded Rectangle 4"/>
          <p:cNvSpPr/>
          <p:nvPr/>
        </p:nvSpPr>
        <p:spPr>
          <a:xfrm>
            <a:off x="749808" y="1828800"/>
            <a:ext cx="5257800" cy="2194562"/>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93392"/>
            <a:ext cx="4928616" cy="1271016"/>
          </a:xfrm>
          <a:prstGeom prst="rect">
            <a:avLst/>
          </a:prstGeom>
          <a:noFill/>
        </p:spPr>
        <p:txBody>
          <a:bodyPr wrap="square" lIns="0" tIns="0" rIns="0" bIns="0">
            <a:normAutofit fontScale="77500" lnSpcReduction="20000"/>
          </a:bodyPr>
          <a:lstStyle/>
          <a:p>
            <a:r>
              <a:rPr sz="1400" b="0" dirty="0">
                <a:solidFill>
                  <a:srgbClr val="2A2119"/>
                </a:solidFill>
                <a:latin typeface="Consolas"/>
              </a:rPr>
              <a:t>Brightness = Σ(</a:t>
            </a:r>
            <a:r>
              <a:rPr sz="1400" b="0" dirty="0" err="1">
                <a:solidFill>
                  <a:srgbClr val="2A2119"/>
                </a:solidFill>
                <a:latin typeface="Consolas"/>
              </a:rPr>
              <a:t>f_k</a:t>
            </a:r>
            <a:r>
              <a:rPr sz="1400" b="0" dirty="0">
                <a:solidFill>
                  <a:srgbClr val="2A2119"/>
                </a:solidFill>
                <a:latin typeface="Consolas"/>
              </a:rPr>
              <a:t> * |X[k]|) / Σ(|X[k]|)
</a:t>
            </a:r>
            <a:r>
              <a:rPr sz="1400" b="0" dirty="0" err="1">
                <a:solidFill>
                  <a:srgbClr val="2A2119"/>
                </a:solidFill>
                <a:latin typeface="Consolas"/>
              </a:rPr>
              <a:t>Ký</a:t>
            </a:r>
            <a:r>
              <a:rPr sz="1400" b="0" dirty="0">
                <a:solidFill>
                  <a:srgbClr val="2A2119"/>
                </a:solidFill>
                <a:latin typeface="Consolas"/>
              </a:rPr>
              <a:t> </a:t>
            </a:r>
            <a:r>
              <a:rPr sz="1400" b="0" dirty="0" err="1">
                <a:solidFill>
                  <a:srgbClr val="2A2119"/>
                </a:solidFill>
                <a:latin typeface="Consolas"/>
              </a:rPr>
              <a:t>hiệu</a:t>
            </a:r>
            <a:r>
              <a:rPr sz="1400" b="0" dirty="0">
                <a:solidFill>
                  <a:srgbClr val="2A2119"/>
                </a:solidFill>
                <a:latin typeface="Consolas"/>
              </a:rPr>
              <a:t>:
- </a:t>
            </a:r>
            <a:r>
              <a:rPr sz="1400" b="0" dirty="0" err="1">
                <a:solidFill>
                  <a:srgbClr val="2A2119"/>
                </a:solidFill>
                <a:latin typeface="Consolas"/>
              </a:rPr>
              <a:t>f_k</a:t>
            </a:r>
            <a:r>
              <a:rPr sz="1400" b="0" dirty="0">
                <a:solidFill>
                  <a:srgbClr val="2A2119"/>
                </a:solidFill>
                <a:latin typeface="Consolas"/>
              </a:rPr>
              <a:t>: </a:t>
            </a:r>
            <a:r>
              <a:rPr sz="1400" b="0" dirty="0" err="1">
                <a:solidFill>
                  <a:srgbClr val="2A2119"/>
                </a:solidFill>
                <a:latin typeface="Consolas"/>
              </a:rPr>
              <a:t>tần</a:t>
            </a:r>
            <a:r>
              <a:rPr sz="1400" b="0" dirty="0">
                <a:solidFill>
                  <a:srgbClr val="2A2119"/>
                </a:solidFill>
                <a:latin typeface="Consolas"/>
              </a:rPr>
              <a:t> </a:t>
            </a:r>
            <a:r>
              <a:rPr sz="1400" b="0" dirty="0" err="1">
                <a:solidFill>
                  <a:srgbClr val="2A2119"/>
                </a:solidFill>
                <a:latin typeface="Consolas"/>
              </a:rPr>
              <a:t>số</a:t>
            </a:r>
            <a:r>
              <a:rPr sz="1400" b="0" dirty="0">
                <a:solidFill>
                  <a:srgbClr val="2A2119"/>
                </a:solidFill>
                <a:latin typeface="Consolas"/>
              </a:rPr>
              <a:t> </a:t>
            </a:r>
            <a:r>
              <a:rPr sz="1400" b="0" dirty="0" err="1">
                <a:solidFill>
                  <a:srgbClr val="2A2119"/>
                </a:solidFill>
                <a:latin typeface="Consolas"/>
              </a:rPr>
              <a:t>của</a:t>
            </a:r>
            <a:r>
              <a:rPr sz="1400" b="0" dirty="0">
                <a:solidFill>
                  <a:srgbClr val="2A2119"/>
                </a:solidFill>
                <a:latin typeface="Consolas"/>
              </a:rPr>
              <a:t> bin </a:t>
            </a:r>
            <a:r>
              <a:rPr sz="1400" b="0" dirty="0" err="1">
                <a:solidFill>
                  <a:srgbClr val="2A2119"/>
                </a:solidFill>
                <a:latin typeface="Consolas"/>
              </a:rPr>
              <a:t>phổ</a:t>
            </a:r>
            <a:r>
              <a:rPr sz="1400" b="0" dirty="0">
                <a:solidFill>
                  <a:srgbClr val="2A2119"/>
                </a:solidFill>
                <a:latin typeface="Consolas"/>
              </a:rPr>
              <a:t> </a:t>
            </a:r>
            <a:r>
              <a:rPr sz="1400" b="0" dirty="0" err="1">
                <a:solidFill>
                  <a:srgbClr val="2A2119"/>
                </a:solidFill>
                <a:latin typeface="Consolas"/>
              </a:rPr>
              <a:t>thứ</a:t>
            </a:r>
            <a:r>
              <a:rPr sz="1400" b="0" dirty="0">
                <a:solidFill>
                  <a:srgbClr val="2A2119"/>
                </a:solidFill>
                <a:latin typeface="Consolas"/>
              </a:rPr>
              <a:t> k
- |X[k]|: </a:t>
            </a:r>
            <a:r>
              <a:rPr sz="1400" b="0" dirty="0" err="1">
                <a:solidFill>
                  <a:srgbClr val="2A2119"/>
                </a:solidFill>
                <a:latin typeface="Consolas"/>
              </a:rPr>
              <a:t>độ</a:t>
            </a:r>
            <a:r>
              <a:rPr sz="1400" b="0" dirty="0">
                <a:solidFill>
                  <a:srgbClr val="2A2119"/>
                </a:solidFill>
                <a:latin typeface="Consolas"/>
              </a:rPr>
              <a:t> </a:t>
            </a:r>
            <a:r>
              <a:rPr sz="1400" b="0" dirty="0" err="1">
                <a:solidFill>
                  <a:srgbClr val="2A2119"/>
                </a:solidFill>
                <a:latin typeface="Consolas"/>
              </a:rPr>
              <a:t>lớn</a:t>
            </a:r>
            <a:r>
              <a:rPr sz="1400" b="0" dirty="0">
                <a:solidFill>
                  <a:srgbClr val="2A2119"/>
                </a:solidFill>
                <a:latin typeface="Consolas"/>
              </a:rPr>
              <a:t> </a:t>
            </a:r>
            <a:r>
              <a:rPr sz="1400" b="0" dirty="0" err="1">
                <a:solidFill>
                  <a:srgbClr val="2A2119"/>
                </a:solidFill>
                <a:latin typeface="Consolas"/>
              </a:rPr>
              <a:t>phổ</a:t>
            </a:r>
            <a:r>
              <a:rPr sz="1400" b="0" dirty="0">
                <a:solidFill>
                  <a:srgbClr val="2A2119"/>
                </a:solidFill>
                <a:latin typeface="Consolas"/>
              </a:rPr>
              <a:t> </a:t>
            </a:r>
            <a:r>
              <a:rPr sz="1400" b="0" dirty="0" err="1">
                <a:solidFill>
                  <a:srgbClr val="2A2119"/>
                </a:solidFill>
                <a:latin typeface="Consolas"/>
              </a:rPr>
              <a:t>tại</a:t>
            </a:r>
            <a:r>
              <a:rPr sz="1400" b="0" dirty="0">
                <a:solidFill>
                  <a:srgbClr val="2A2119"/>
                </a:solidFill>
                <a:latin typeface="Consolas"/>
              </a:rPr>
              <a:t> bin k
Tham </a:t>
            </a:r>
            <a:r>
              <a:rPr sz="1400" b="0" dirty="0" err="1">
                <a:solidFill>
                  <a:srgbClr val="2A2119"/>
                </a:solidFill>
                <a:latin typeface="Consolas"/>
              </a:rPr>
              <a:t>số</a:t>
            </a:r>
            <a:r>
              <a:rPr sz="1400" b="0" dirty="0">
                <a:solidFill>
                  <a:srgbClr val="2A2119"/>
                </a:solidFill>
                <a:latin typeface="Consolas"/>
              </a:rPr>
              <a:t> </a:t>
            </a:r>
            <a:r>
              <a:rPr sz="1400" b="0" dirty="0" err="1">
                <a:solidFill>
                  <a:srgbClr val="2A2119"/>
                </a:solidFill>
                <a:latin typeface="Consolas"/>
              </a:rPr>
              <a:t>trên</a:t>
            </a:r>
            <a:r>
              <a:rPr sz="1400" b="0" dirty="0">
                <a:solidFill>
                  <a:srgbClr val="2A2119"/>
                </a:solidFill>
                <a:latin typeface="Consolas"/>
              </a:rPr>
              <a:t> FE:
- windows[</a:t>
            </a:r>
            <a:r>
              <a:rPr sz="1400" b="0" dirty="0" err="1">
                <a:solidFill>
                  <a:srgbClr val="2A2119"/>
                </a:solidFill>
                <a:latin typeface="Consolas"/>
              </a:rPr>
              <a:t>i</a:t>
            </a:r>
            <a:r>
              <a:rPr sz="1400" b="0" dirty="0">
                <a:solidFill>
                  <a:srgbClr val="2A2119"/>
                </a:solidFill>
                <a:latin typeface="Consolas"/>
              </a:rPr>
              <a:t>].brightness
- </a:t>
            </a:r>
            <a:r>
              <a:rPr sz="1400" b="0" dirty="0" err="1">
                <a:solidFill>
                  <a:srgbClr val="2A2119"/>
                </a:solidFill>
                <a:latin typeface="Consolas"/>
              </a:rPr>
              <a:t>selectedAudio.summary.normalizedBrightness</a:t>
            </a:r>
            <a:endParaRPr sz="1400" b="0" dirty="0">
              <a:solidFill>
                <a:srgbClr val="2A2119"/>
              </a:solidFill>
              <a:latin typeface="Consolas"/>
            </a:endParaRPr>
          </a:p>
        </p:txBody>
      </p:sp>
      <p:sp>
        <p:nvSpPr>
          <p:cNvPr id="7" name="Rounded Rectangle 6"/>
          <p:cNvSpPr/>
          <p:nvPr/>
        </p:nvSpPr>
        <p:spPr>
          <a:xfrm>
            <a:off x="6062472" y="1828800"/>
            <a:ext cx="5230368" cy="1307591"/>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27064" y="1993392"/>
            <a:ext cx="4901183" cy="1142999"/>
          </a:xfrm>
          <a:prstGeom prst="rect">
            <a:avLst/>
          </a:prstGeom>
          <a:noFill/>
        </p:spPr>
        <p:txBody>
          <a:bodyPr wrap="square" lIns="0" tIns="0" rIns="0" bIns="0">
            <a:normAutofit/>
          </a:bodyPr>
          <a:lstStyle/>
          <a:p>
            <a:r>
              <a:rPr sz="1200" b="0">
                <a:solidFill>
                  <a:srgbClr val="2A2119"/>
                </a:solidFill>
                <a:latin typeface="Consolas"/>
              </a:rPr>
              <a:t>Trong code:
return weightedFrequency / magnitudeSum;
normalizedBrightness = avg(brightness) / (sampleRate / 2);</a:t>
            </a:r>
          </a:p>
        </p:txBody>
      </p:sp>
      <p:sp>
        <p:nvSpPr>
          <p:cNvPr id="9" name="TextBox 8"/>
          <p:cNvSpPr txBox="1"/>
          <p:nvPr/>
        </p:nvSpPr>
        <p:spPr>
          <a:xfrm>
            <a:off x="813816" y="4443986"/>
            <a:ext cx="10058400" cy="1143000"/>
          </a:xfrm>
          <a:prstGeom prst="rect">
            <a:avLst/>
          </a:prstGeom>
          <a:noFill/>
        </p:spPr>
        <p:txBody>
          <a:bodyPr wrap="square" lIns="0" tIns="0" rIns="0" bIns="0">
            <a:normAutofit/>
          </a:bodyPr>
          <a:lstStyle/>
          <a:p>
            <a:pPr>
              <a:spcBef>
                <a:spcPts val="0"/>
              </a:spcBef>
              <a:spcAft>
                <a:spcPts val="1000"/>
              </a:spcAft>
            </a:pPr>
            <a:r>
              <a:rPr sz="1600" b="0" dirty="0">
                <a:solidFill>
                  <a:srgbClr val="726659"/>
                </a:solidFill>
                <a:latin typeface="Aptos"/>
              </a:rPr>
              <a:t>Frontend </a:t>
            </a:r>
            <a:r>
              <a:rPr sz="1600" b="0" dirty="0" err="1">
                <a:solidFill>
                  <a:srgbClr val="726659"/>
                </a:solidFill>
                <a:latin typeface="Aptos"/>
              </a:rPr>
              <a:t>hiện</a:t>
            </a:r>
            <a:r>
              <a:rPr sz="1600" b="0" dirty="0">
                <a:solidFill>
                  <a:srgbClr val="726659"/>
                </a:solidFill>
                <a:latin typeface="Aptos"/>
              </a:rPr>
              <a:t> '</a:t>
            </a:r>
            <a:r>
              <a:rPr sz="1600" b="0" dirty="0" err="1">
                <a:solidFill>
                  <a:srgbClr val="726659"/>
                </a:solidFill>
                <a:latin typeface="Aptos"/>
              </a:rPr>
              <a:t>Độ</a:t>
            </a:r>
            <a:r>
              <a:rPr sz="1600" b="0" dirty="0">
                <a:solidFill>
                  <a:srgbClr val="726659"/>
                </a:solidFill>
                <a:latin typeface="Aptos"/>
              </a:rPr>
              <a:t> </a:t>
            </a:r>
            <a:r>
              <a:rPr sz="1600" b="0" dirty="0" err="1">
                <a:solidFill>
                  <a:srgbClr val="726659"/>
                </a:solidFill>
                <a:latin typeface="Aptos"/>
              </a:rPr>
              <a:t>sáng</a:t>
            </a:r>
            <a:r>
              <a:rPr sz="1600" b="0" dirty="0">
                <a:solidFill>
                  <a:srgbClr val="726659"/>
                </a:solidFill>
                <a:latin typeface="Aptos"/>
              </a:rPr>
              <a:t> </a:t>
            </a:r>
            <a:r>
              <a:rPr sz="1600" b="0" dirty="0" err="1">
                <a:solidFill>
                  <a:srgbClr val="726659"/>
                </a:solidFill>
                <a:latin typeface="Aptos"/>
              </a:rPr>
              <a:t>chuẩn</a:t>
            </a:r>
            <a:r>
              <a:rPr sz="1600" b="0" dirty="0">
                <a:solidFill>
                  <a:srgbClr val="726659"/>
                </a:solidFill>
                <a:latin typeface="Aptos"/>
              </a:rPr>
              <a:t> </a:t>
            </a:r>
            <a:r>
              <a:rPr sz="1600" b="0" dirty="0" err="1">
                <a:solidFill>
                  <a:srgbClr val="726659"/>
                </a:solidFill>
                <a:latin typeface="Aptos"/>
              </a:rPr>
              <a:t>hóa</a:t>
            </a:r>
            <a:r>
              <a:rPr sz="1600" b="0" dirty="0">
                <a:solidFill>
                  <a:srgbClr val="726659"/>
                </a:solidFill>
                <a:latin typeface="Aptos"/>
              </a:rPr>
              <a:t>'. Nghĩa </a:t>
            </a:r>
            <a:r>
              <a:rPr sz="1600" b="0" dirty="0" err="1">
                <a:solidFill>
                  <a:srgbClr val="726659"/>
                </a:solidFill>
                <a:latin typeface="Aptos"/>
              </a:rPr>
              <a:t>là</a:t>
            </a:r>
            <a:r>
              <a:rPr sz="1600" b="0" dirty="0">
                <a:solidFill>
                  <a:srgbClr val="726659"/>
                </a:solidFill>
                <a:latin typeface="Aptos"/>
              </a:rPr>
              <a:t> brightness </a:t>
            </a:r>
            <a:r>
              <a:rPr sz="1600" b="0" dirty="0" err="1">
                <a:solidFill>
                  <a:srgbClr val="726659"/>
                </a:solidFill>
                <a:latin typeface="Aptos"/>
              </a:rPr>
              <a:t>trung</a:t>
            </a:r>
            <a:r>
              <a:rPr sz="1600" b="0" dirty="0">
                <a:solidFill>
                  <a:srgbClr val="726659"/>
                </a:solidFill>
                <a:latin typeface="Aptos"/>
              </a:rPr>
              <a:t> </a:t>
            </a:r>
            <a:r>
              <a:rPr sz="1600" b="0" dirty="0" err="1">
                <a:solidFill>
                  <a:srgbClr val="726659"/>
                </a:solidFill>
                <a:latin typeface="Aptos"/>
              </a:rPr>
              <a:t>bình</a:t>
            </a:r>
            <a:r>
              <a:rPr sz="1600" b="0" dirty="0">
                <a:solidFill>
                  <a:srgbClr val="726659"/>
                </a:solidFill>
                <a:latin typeface="Aptos"/>
              </a:rPr>
              <a:t> </a:t>
            </a:r>
            <a:r>
              <a:rPr sz="1600" b="0" dirty="0" err="1">
                <a:solidFill>
                  <a:srgbClr val="726659"/>
                </a:solidFill>
                <a:latin typeface="Aptos"/>
              </a:rPr>
              <a:t>đã</a:t>
            </a:r>
            <a:r>
              <a:rPr sz="1600" b="0" dirty="0">
                <a:solidFill>
                  <a:srgbClr val="726659"/>
                </a:solidFill>
                <a:latin typeface="Aptos"/>
              </a:rPr>
              <a:t> </a:t>
            </a:r>
            <a:r>
              <a:rPr sz="1600" b="0" dirty="0" err="1">
                <a:solidFill>
                  <a:srgbClr val="726659"/>
                </a:solidFill>
                <a:latin typeface="Aptos"/>
              </a:rPr>
              <a:t>được</a:t>
            </a:r>
            <a:r>
              <a:rPr sz="1600" b="0" dirty="0">
                <a:solidFill>
                  <a:srgbClr val="726659"/>
                </a:solidFill>
                <a:latin typeface="Aptos"/>
              </a:rPr>
              <a:t> </a:t>
            </a:r>
            <a:r>
              <a:rPr sz="1600" b="0" dirty="0" err="1">
                <a:solidFill>
                  <a:srgbClr val="726659"/>
                </a:solidFill>
                <a:latin typeface="Aptos"/>
              </a:rPr>
              <a:t>chuẩn</a:t>
            </a:r>
            <a:r>
              <a:rPr sz="1600" b="0" dirty="0">
                <a:solidFill>
                  <a:srgbClr val="726659"/>
                </a:solidFill>
                <a:latin typeface="Aptos"/>
              </a:rPr>
              <a:t> </a:t>
            </a:r>
            <a:r>
              <a:rPr sz="1600" b="0" dirty="0" err="1">
                <a:solidFill>
                  <a:srgbClr val="726659"/>
                </a:solidFill>
                <a:latin typeface="Aptos"/>
              </a:rPr>
              <a:t>hóa</a:t>
            </a:r>
            <a:r>
              <a:rPr sz="1600" b="0" dirty="0">
                <a:solidFill>
                  <a:srgbClr val="726659"/>
                </a:solidFill>
                <a:latin typeface="Aptos"/>
              </a:rPr>
              <a:t> </a:t>
            </a:r>
            <a:r>
              <a:rPr sz="1600" b="0" dirty="0" err="1">
                <a:solidFill>
                  <a:srgbClr val="726659"/>
                </a:solidFill>
                <a:latin typeface="Aptos"/>
              </a:rPr>
              <a:t>theo</a:t>
            </a:r>
            <a:r>
              <a:rPr sz="1600" b="0" dirty="0">
                <a:solidFill>
                  <a:srgbClr val="726659"/>
                </a:solidFill>
                <a:latin typeface="Aptos"/>
              </a:rPr>
              <a:t> </a:t>
            </a:r>
            <a:r>
              <a:rPr sz="1600" b="0" dirty="0" err="1">
                <a:solidFill>
                  <a:srgbClr val="726659"/>
                </a:solidFill>
                <a:latin typeface="Aptos"/>
              </a:rPr>
              <a:t>tần</a:t>
            </a:r>
            <a:r>
              <a:rPr sz="1600" b="0" dirty="0">
                <a:solidFill>
                  <a:srgbClr val="726659"/>
                </a:solidFill>
                <a:latin typeface="Aptos"/>
              </a:rPr>
              <a:t> </a:t>
            </a:r>
            <a:r>
              <a:rPr sz="1600" b="0" dirty="0" err="1">
                <a:solidFill>
                  <a:srgbClr val="726659"/>
                </a:solidFill>
                <a:latin typeface="Aptos"/>
              </a:rPr>
              <a:t>số</a:t>
            </a:r>
            <a:r>
              <a:rPr sz="1600" b="0" dirty="0">
                <a:solidFill>
                  <a:srgbClr val="726659"/>
                </a:solidFill>
                <a:latin typeface="Aptos"/>
              </a:rPr>
              <a:t> Nyquist </a:t>
            </a:r>
            <a:r>
              <a:rPr sz="1600" b="0" dirty="0" err="1">
                <a:solidFill>
                  <a:srgbClr val="726659"/>
                </a:solidFill>
                <a:latin typeface="Aptos"/>
              </a:rPr>
              <a:t>để</a:t>
            </a:r>
            <a:r>
              <a:rPr sz="1600" b="0" dirty="0">
                <a:solidFill>
                  <a:srgbClr val="726659"/>
                </a:solidFill>
                <a:latin typeface="Aptos"/>
              </a:rPr>
              <a:t> </a:t>
            </a:r>
            <a:r>
              <a:rPr sz="1600" b="0" dirty="0" err="1">
                <a:solidFill>
                  <a:srgbClr val="726659"/>
                </a:solidFill>
                <a:latin typeface="Aptos"/>
              </a:rPr>
              <a:t>đưa</a:t>
            </a:r>
            <a:r>
              <a:rPr sz="1600" b="0" dirty="0">
                <a:solidFill>
                  <a:srgbClr val="726659"/>
                </a:solidFill>
                <a:latin typeface="Aptos"/>
              </a:rPr>
              <a:t> </a:t>
            </a:r>
            <a:r>
              <a:rPr sz="1600" b="0" dirty="0" err="1">
                <a:solidFill>
                  <a:srgbClr val="726659"/>
                </a:solidFill>
                <a:latin typeface="Aptos"/>
              </a:rPr>
              <a:t>về</a:t>
            </a:r>
            <a:r>
              <a:rPr sz="1600" b="0" dirty="0">
                <a:solidFill>
                  <a:srgbClr val="726659"/>
                </a:solidFill>
                <a:latin typeface="Aptos"/>
              </a:rPr>
              <a:t> </a:t>
            </a:r>
            <a:r>
              <a:rPr sz="1600" b="0" dirty="0" err="1">
                <a:solidFill>
                  <a:srgbClr val="726659"/>
                </a:solidFill>
                <a:latin typeface="Aptos"/>
              </a:rPr>
              <a:t>khoảng</a:t>
            </a:r>
            <a:r>
              <a:rPr sz="1600" b="0" dirty="0">
                <a:solidFill>
                  <a:srgbClr val="726659"/>
                </a:solidFill>
                <a:latin typeface="Aptos"/>
              </a:rPr>
              <a:t> [0,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CÔNG THỨC</a:t>
            </a:r>
          </a:p>
        </p:txBody>
      </p:sp>
      <p:sp>
        <p:nvSpPr>
          <p:cNvPr id="4" name="TextBox 3"/>
          <p:cNvSpPr txBox="1"/>
          <p:nvPr/>
        </p:nvSpPr>
        <p:spPr>
          <a:xfrm>
            <a:off x="713232" y="960120"/>
            <a:ext cx="8796528" cy="1874519"/>
          </a:xfrm>
          <a:prstGeom prst="rect">
            <a:avLst/>
          </a:prstGeom>
          <a:noFill/>
        </p:spPr>
        <p:txBody>
          <a:bodyPr wrap="square" lIns="0" tIns="0" rIns="0" bIns="0">
            <a:normAutofit/>
          </a:bodyPr>
          <a:lstStyle/>
          <a:p>
            <a:r>
              <a:rPr sz="3400" b="0">
                <a:solidFill>
                  <a:srgbClr val="2A2119"/>
                </a:solidFill>
                <a:latin typeface="Georgia"/>
              </a:rPr>
              <a:t>Khoảng cách Euclid</a:t>
            </a:r>
            <a:endParaRPr sz="3800" dirty="0">
              <a:solidFill>
                <a:srgbClr val="2A2119"/>
              </a:solidFill>
              <a:latin typeface="Georgia"/>
            </a:endParaRPr>
          </a:p>
        </p:txBody>
      </p:sp>
      <p:sp>
        <p:nvSpPr>
          <p:cNvPr id="5" name="Rounded Rectangle 4"/>
          <p:cNvSpPr/>
          <p:nvPr/>
        </p:nvSpPr>
        <p:spPr>
          <a:xfrm>
            <a:off x="749808" y="1828800"/>
            <a:ext cx="5257800" cy="258318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93392"/>
            <a:ext cx="4928616" cy="1271016"/>
          </a:xfrm>
          <a:prstGeom prst="rect">
            <a:avLst/>
          </a:prstGeom>
          <a:noFill/>
        </p:spPr>
        <p:txBody>
          <a:bodyPr wrap="square" lIns="0" tIns="0" rIns="0" bIns="0">
            <a:noAutofit/>
          </a:bodyPr>
          <a:lstStyle/>
          <a:p>
            <a:r>
              <a:rPr sz="1600" b="0" dirty="0">
                <a:solidFill>
                  <a:srgbClr val="2A2119"/>
                </a:solidFill>
                <a:latin typeface="Aptos" panose="020B0004020202020204" pitchFamily="34" charset="0"/>
              </a:rPr>
              <a:t>Euclid(a, b) = sqrt(Σ(</a:t>
            </a:r>
            <a:r>
              <a:rPr sz="1600" b="0" dirty="0" err="1">
                <a:solidFill>
                  <a:srgbClr val="2A2119"/>
                </a:solidFill>
                <a:latin typeface="Aptos" panose="020B0004020202020204" pitchFamily="34" charset="0"/>
              </a:rPr>
              <a:t>a_i</a:t>
            </a:r>
            <a:r>
              <a:rPr sz="1600" b="0" dirty="0">
                <a:solidFill>
                  <a:srgbClr val="2A2119"/>
                </a:solidFill>
                <a:latin typeface="Aptos" panose="020B0004020202020204" pitchFamily="34" charset="0"/>
              </a:rPr>
              <a:t> - </a:t>
            </a:r>
            <a:r>
              <a:rPr sz="1600" b="0" dirty="0" err="1">
                <a:solidFill>
                  <a:srgbClr val="2A2119"/>
                </a:solidFill>
                <a:latin typeface="Aptos" panose="020B0004020202020204" pitchFamily="34" charset="0"/>
              </a:rPr>
              <a:t>b_i</a:t>
            </a:r>
            <a:r>
              <a:rPr sz="1600" b="0" dirty="0">
                <a:solidFill>
                  <a:srgbClr val="2A2119"/>
                </a:solidFill>
                <a:latin typeface="Aptos" panose="020B0004020202020204" pitchFamily="34" charset="0"/>
              </a:rPr>
              <a:t>)^2)
Similarity = 1 / (1 + Euclid)
</a:t>
            </a:r>
            <a:r>
              <a:rPr sz="1600" b="0" dirty="0" err="1">
                <a:solidFill>
                  <a:srgbClr val="2A2119"/>
                </a:solidFill>
                <a:latin typeface="Aptos" panose="020B0004020202020204" pitchFamily="34" charset="0"/>
              </a:rPr>
              <a:t>Ký</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hiệu</a:t>
            </a:r>
            <a:r>
              <a:rPr sz="1600" b="0" dirty="0">
                <a:solidFill>
                  <a:srgbClr val="2A2119"/>
                </a:solidFill>
                <a:latin typeface="Aptos" panose="020B0004020202020204" pitchFamily="34" charset="0"/>
              </a:rPr>
              <a:t>:
- a, b: 2 vector so </a:t>
            </a:r>
            <a:r>
              <a:rPr sz="1600" b="0" dirty="0" err="1">
                <a:solidFill>
                  <a:srgbClr val="2A2119"/>
                </a:solidFill>
                <a:latin typeface="Aptos" panose="020B0004020202020204" pitchFamily="34" charset="0"/>
              </a:rPr>
              <a:t>sánh</a:t>
            </a:r>
            <a:r>
              <a:rPr sz="1600" b="0" dirty="0">
                <a:solidFill>
                  <a:srgbClr val="2A2119"/>
                </a:solidFill>
                <a:latin typeface="Aptos" panose="020B0004020202020204" pitchFamily="34" charset="0"/>
              </a:rPr>
              <a:t> 12 </a:t>
            </a:r>
            <a:r>
              <a:rPr sz="1600" b="0" dirty="0" err="1">
                <a:solidFill>
                  <a:srgbClr val="2A2119"/>
                </a:solidFill>
                <a:latin typeface="Aptos" panose="020B0004020202020204" pitchFamily="34" charset="0"/>
              </a:rPr>
              <a:t>chiều</a:t>
            </a:r>
            <a:r>
              <a:rPr sz="1600" b="0" dirty="0">
                <a:solidFill>
                  <a:srgbClr val="2A2119"/>
                </a:solidFill>
                <a:latin typeface="Aptos" panose="020B0004020202020204" pitchFamily="34" charset="0"/>
              </a:rPr>
              <a:t>
- </a:t>
            </a:r>
            <a:r>
              <a:rPr sz="1600" b="0" dirty="0" err="1">
                <a:solidFill>
                  <a:srgbClr val="2A2119"/>
                </a:solidFill>
                <a:latin typeface="Aptos" panose="020B0004020202020204" pitchFamily="34" charset="0"/>
              </a:rPr>
              <a:t>a_i</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b_i</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giá</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trị</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đã</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chuẩn</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hóa</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và</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áp</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trọng</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số</a:t>
            </a:r>
            <a:r>
              <a:rPr sz="1600" b="0" dirty="0">
                <a:solidFill>
                  <a:srgbClr val="2A2119"/>
                </a:solidFill>
                <a:latin typeface="Aptos" panose="020B0004020202020204" pitchFamily="34" charset="0"/>
              </a:rPr>
              <a:t> ở </a:t>
            </a:r>
            <a:r>
              <a:rPr sz="1600" b="0" dirty="0" err="1">
                <a:solidFill>
                  <a:srgbClr val="2A2119"/>
                </a:solidFill>
                <a:latin typeface="Aptos" panose="020B0004020202020204" pitchFamily="34" charset="0"/>
              </a:rPr>
              <a:t>chiều</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i</a:t>
            </a:r>
            <a:r>
              <a:rPr sz="1600" b="0" dirty="0">
                <a:solidFill>
                  <a:srgbClr val="2A2119"/>
                </a:solidFill>
                <a:latin typeface="Aptos" panose="020B0004020202020204" pitchFamily="34" charset="0"/>
              </a:rPr>
              <a:t>
Tham </a:t>
            </a:r>
            <a:r>
              <a:rPr sz="1600" b="0" dirty="0" err="1">
                <a:solidFill>
                  <a:srgbClr val="2A2119"/>
                </a:solidFill>
                <a:latin typeface="Aptos" panose="020B0004020202020204" pitchFamily="34" charset="0"/>
              </a:rPr>
              <a:t>số</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trên</a:t>
            </a:r>
            <a:r>
              <a:rPr sz="1600" b="0" dirty="0">
                <a:solidFill>
                  <a:srgbClr val="2A2119"/>
                </a:solidFill>
                <a:latin typeface="Aptos" panose="020B0004020202020204" pitchFamily="34" charset="0"/>
              </a:rPr>
              <a:t> FE:
- </a:t>
            </a:r>
            <a:r>
              <a:rPr sz="1600" b="0" dirty="0" err="1">
                <a:solidFill>
                  <a:srgbClr val="2A2119"/>
                </a:solidFill>
                <a:latin typeface="Aptos" panose="020B0004020202020204" pitchFamily="34" charset="0"/>
              </a:rPr>
              <a:t>result.similarity</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trên</a:t>
            </a:r>
            <a:r>
              <a:rPr sz="1600" b="0" dirty="0">
                <a:solidFill>
                  <a:srgbClr val="2A2119"/>
                </a:solidFill>
                <a:latin typeface="Aptos" panose="020B0004020202020204" pitchFamily="34" charset="0"/>
              </a:rPr>
              <a:t> </a:t>
            </a:r>
            <a:r>
              <a:rPr sz="1600" b="0" dirty="0" err="1">
                <a:solidFill>
                  <a:srgbClr val="2A2119"/>
                </a:solidFill>
                <a:latin typeface="Aptos" panose="020B0004020202020204" pitchFamily="34" charset="0"/>
              </a:rPr>
              <a:t>trang</a:t>
            </a:r>
            <a:r>
              <a:rPr sz="1600" b="0" dirty="0">
                <a:solidFill>
                  <a:srgbClr val="2A2119"/>
                </a:solidFill>
                <a:latin typeface="Aptos" panose="020B0004020202020204" pitchFamily="34" charset="0"/>
              </a:rPr>
              <a:t> Search</a:t>
            </a:r>
          </a:p>
        </p:txBody>
      </p:sp>
      <p:sp>
        <p:nvSpPr>
          <p:cNvPr id="7" name="Rounded Rectangle 6"/>
          <p:cNvSpPr/>
          <p:nvPr/>
        </p:nvSpPr>
        <p:spPr>
          <a:xfrm>
            <a:off x="6062472" y="1828800"/>
            <a:ext cx="5065775" cy="1527048"/>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27064" y="1993392"/>
            <a:ext cx="4901183" cy="1435608"/>
          </a:xfrm>
          <a:prstGeom prst="rect">
            <a:avLst/>
          </a:prstGeom>
          <a:noFill/>
        </p:spPr>
        <p:txBody>
          <a:bodyPr wrap="square" lIns="0" tIns="0" rIns="0" bIns="0">
            <a:noAutofit/>
          </a:bodyPr>
          <a:lstStyle/>
          <a:p>
            <a:r>
              <a:rPr sz="1600" b="0" dirty="0">
                <a:solidFill>
                  <a:srgbClr val="2A2119"/>
                </a:solidFill>
                <a:latin typeface="Consolas"/>
              </a:rPr>
              <a:t>Trong code:
distance = </a:t>
            </a:r>
            <a:r>
              <a:rPr sz="1600" b="0" dirty="0" err="1">
                <a:solidFill>
                  <a:srgbClr val="2A2119"/>
                </a:solidFill>
                <a:latin typeface="Consolas"/>
              </a:rPr>
              <a:t>euclideanDistance</a:t>
            </a:r>
            <a:r>
              <a:rPr sz="1600" b="0" dirty="0">
                <a:solidFill>
                  <a:srgbClr val="2A2119"/>
                </a:solidFill>
                <a:latin typeface="Consolas"/>
              </a:rPr>
              <a:t>(</a:t>
            </a:r>
            <a:r>
              <a:rPr sz="1600" b="0" dirty="0" err="1">
                <a:solidFill>
                  <a:srgbClr val="2A2119"/>
                </a:solidFill>
                <a:latin typeface="Consolas"/>
              </a:rPr>
              <a:t>weightedSourceVector</a:t>
            </a:r>
            <a:r>
              <a:rPr sz="1600" b="0" dirty="0">
                <a:solidFill>
                  <a:srgbClr val="2A2119"/>
                </a:solidFill>
                <a:latin typeface="Consolas"/>
              </a:rPr>
              <a:t>,
  </a:t>
            </a:r>
            <a:r>
              <a:rPr sz="1600" b="0" dirty="0" err="1">
                <a:solidFill>
                  <a:srgbClr val="2A2119"/>
                </a:solidFill>
                <a:latin typeface="Consolas"/>
              </a:rPr>
              <a:t>weightedCandidateVector</a:t>
            </a:r>
            <a:r>
              <a:rPr sz="1600" b="0" dirty="0">
                <a:solidFill>
                  <a:srgbClr val="2A2119"/>
                </a:solidFill>
                <a:latin typeface="Consolas"/>
              </a:rPr>
              <a:t>);
similarity = 1 / (1 + distance);</a:t>
            </a:r>
          </a:p>
        </p:txBody>
      </p:sp>
      <p:sp>
        <p:nvSpPr>
          <p:cNvPr id="9" name="TextBox 8"/>
          <p:cNvSpPr txBox="1"/>
          <p:nvPr/>
        </p:nvSpPr>
        <p:spPr>
          <a:xfrm>
            <a:off x="749808" y="4411980"/>
            <a:ext cx="10058400" cy="1143000"/>
          </a:xfrm>
          <a:prstGeom prst="rect">
            <a:avLst/>
          </a:prstGeom>
          <a:noFill/>
        </p:spPr>
        <p:txBody>
          <a:bodyPr wrap="square" lIns="0" tIns="0" rIns="0" bIns="0">
            <a:normAutofit/>
          </a:bodyPr>
          <a:lstStyle/>
          <a:p>
            <a:pPr>
              <a:spcBef>
                <a:spcPts val="0"/>
              </a:spcBef>
              <a:spcAft>
                <a:spcPts val="1000"/>
              </a:spcAft>
            </a:pPr>
            <a:r>
              <a:rPr sz="2000" b="0" dirty="0">
                <a:solidFill>
                  <a:srgbClr val="726659"/>
                </a:solidFill>
                <a:latin typeface="Aptos"/>
              </a:rPr>
              <a:t>Euclid </a:t>
            </a:r>
            <a:r>
              <a:rPr sz="2000" b="0" dirty="0" err="1">
                <a:solidFill>
                  <a:srgbClr val="726659"/>
                </a:solidFill>
                <a:latin typeface="Aptos"/>
              </a:rPr>
              <a:t>không</a:t>
            </a:r>
            <a:r>
              <a:rPr sz="2000" b="0" dirty="0">
                <a:solidFill>
                  <a:srgbClr val="726659"/>
                </a:solidFill>
                <a:latin typeface="Aptos"/>
              </a:rPr>
              <a:t> </a:t>
            </a:r>
            <a:r>
              <a:rPr sz="2000" b="0" dirty="0" err="1">
                <a:solidFill>
                  <a:srgbClr val="726659"/>
                </a:solidFill>
                <a:latin typeface="Aptos"/>
              </a:rPr>
              <a:t>còn</a:t>
            </a:r>
            <a:r>
              <a:rPr sz="2000" b="0" dirty="0">
                <a:solidFill>
                  <a:srgbClr val="726659"/>
                </a:solidFill>
                <a:latin typeface="Aptos"/>
              </a:rPr>
              <a:t> so </a:t>
            </a:r>
            <a:r>
              <a:rPr sz="2000" b="0" dirty="0" err="1">
                <a:solidFill>
                  <a:srgbClr val="726659"/>
                </a:solidFill>
                <a:latin typeface="Aptos"/>
              </a:rPr>
              <a:t>trực</a:t>
            </a:r>
            <a:r>
              <a:rPr sz="2000" b="0" dirty="0">
                <a:solidFill>
                  <a:srgbClr val="726659"/>
                </a:solidFill>
                <a:latin typeface="Aptos"/>
              </a:rPr>
              <a:t> </a:t>
            </a:r>
            <a:r>
              <a:rPr sz="2000" b="0" dirty="0" err="1">
                <a:solidFill>
                  <a:srgbClr val="726659"/>
                </a:solidFill>
                <a:latin typeface="Aptos"/>
              </a:rPr>
              <a:t>tiếp</a:t>
            </a:r>
            <a:r>
              <a:rPr sz="2000" b="0" dirty="0">
                <a:solidFill>
                  <a:srgbClr val="726659"/>
                </a:solidFill>
                <a:latin typeface="Aptos"/>
              </a:rPr>
              <a:t> </a:t>
            </a:r>
            <a:r>
              <a:rPr sz="2000" b="0" dirty="0" err="1">
                <a:solidFill>
                  <a:srgbClr val="726659"/>
                </a:solidFill>
                <a:latin typeface="Aptos"/>
              </a:rPr>
              <a:t>trên</a:t>
            </a:r>
            <a:r>
              <a:rPr sz="2000" b="0" dirty="0">
                <a:solidFill>
                  <a:srgbClr val="726659"/>
                </a:solidFill>
                <a:latin typeface="Aptos"/>
              </a:rPr>
              <a:t> </a:t>
            </a:r>
            <a:r>
              <a:rPr sz="2000" b="0" dirty="0" err="1">
                <a:solidFill>
                  <a:srgbClr val="726659"/>
                </a:solidFill>
                <a:latin typeface="Aptos"/>
              </a:rPr>
              <a:t>featureVector</a:t>
            </a:r>
            <a:r>
              <a:rPr sz="2000" b="0" dirty="0">
                <a:solidFill>
                  <a:srgbClr val="726659"/>
                </a:solidFill>
                <a:latin typeface="Aptos"/>
              </a:rPr>
              <a:t> </a:t>
            </a:r>
            <a:r>
              <a:rPr sz="2000" b="0" dirty="0" err="1">
                <a:solidFill>
                  <a:srgbClr val="726659"/>
                </a:solidFill>
                <a:latin typeface="Aptos"/>
              </a:rPr>
              <a:t>thô</a:t>
            </a:r>
            <a:r>
              <a:rPr sz="2000" b="0" dirty="0">
                <a:solidFill>
                  <a:srgbClr val="726659"/>
                </a:solidFill>
                <a:latin typeface="Aptos"/>
              </a:rPr>
              <a:t>, </a:t>
            </a:r>
            <a:r>
              <a:rPr sz="2000" b="0" dirty="0" err="1">
                <a:solidFill>
                  <a:srgbClr val="726659"/>
                </a:solidFill>
                <a:latin typeface="Aptos"/>
              </a:rPr>
              <a:t>mà</a:t>
            </a:r>
            <a:r>
              <a:rPr sz="2000" b="0" dirty="0">
                <a:solidFill>
                  <a:srgbClr val="726659"/>
                </a:solidFill>
                <a:latin typeface="Aptos"/>
              </a:rPr>
              <a:t> so </a:t>
            </a:r>
            <a:r>
              <a:rPr sz="2000" b="0" dirty="0" err="1">
                <a:solidFill>
                  <a:srgbClr val="726659"/>
                </a:solidFill>
                <a:latin typeface="Aptos"/>
              </a:rPr>
              <a:t>trên</a:t>
            </a:r>
            <a:r>
              <a:rPr sz="2000" b="0" dirty="0">
                <a:solidFill>
                  <a:srgbClr val="726659"/>
                </a:solidFill>
                <a:latin typeface="Aptos"/>
              </a:rPr>
              <a:t> comparison profile 12 </a:t>
            </a:r>
            <a:r>
              <a:rPr sz="2000" b="0" dirty="0" err="1">
                <a:solidFill>
                  <a:srgbClr val="726659"/>
                </a:solidFill>
                <a:latin typeface="Aptos"/>
              </a:rPr>
              <a:t>chiều</a:t>
            </a:r>
            <a:r>
              <a:rPr sz="2000" b="0" dirty="0">
                <a:solidFill>
                  <a:srgbClr val="726659"/>
                </a:solidFill>
                <a:latin typeface="Aptos"/>
              </a:rPr>
              <a:t> </a:t>
            </a:r>
            <a:r>
              <a:rPr sz="2000" b="0" dirty="0" err="1">
                <a:solidFill>
                  <a:srgbClr val="726659"/>
                </a:solidFill>
                <a:latin typeface="Aptos"/>
              </a:rPr>
              <a:t>rồi</a:t>
            </a:r>
            <a:r>
              <a:rPr sz="2000" b="0" dirty="0">
                <a:solidFill>
                  <a:srgbClr val="726659"/>
                </a:solidFill>
                <a:latin typeface="Aptos"/>
              </a:rPr>
              <a:t> </a:t>
            </a:r>
            <a:r>
              <a:rPr sz="2000" b="0" dirty="0" err="1">
                <a:solidFill>
                  <a:srgbClr val="726659"/>
                </a:solidFill>
                <a:latin typeface="Aptos"/>
              </a:rPr>
              <a:t>mới</a:t>
            </a:r>
            <a:r>
              <a:rPr sz="2000" b="0" dirty="0">
                <a:solidFill>
                  <a:srgbClr val="726659"/>
                </a:solidFill>
                <a:latin typeface="Aptos"/>
              </a:rPr>
              <a:t> </a:t>
            </a:r>
            <a:r>
              <a:rPr sz="2000" b="0" dirty="0" err="1">
                <a:solidFill>
                  <a:srgbClr val="726659"/>
                </a:solidFill>
                <a:latin typeface="Aptos"/>
              </a:rPr>
              <a:t>quy</a:t>
            </a:r>
            <a:r>
              <a:rPr sz="2000" b="0" dirty="0">
                <a:solidFill>
                  <a:srgbClr val="726659"/>
                </a:solidFill>
                <a:latin typeface="Aptos"/>
              </a:rPr>
              <a:t> </a:t>
            </a:r>
            <a:r>
              <a:rPr sz="2000" b="0" dirty="0" err="1">
                <a:solidFill>
                  <a:srgbClr val="726659"/>
                </a:solidFill>
                <a:latin typeface="Aptos"/>
              </a:rPr>
              <a:t>đổi</a:t>
            </a:r>
            <a:r>
              <a:rPr sz="2000" b="0" dirty="0">
                <a:solidFill>
                  <a:srgbClr val="726659"/>
                </a:solidFill>
                <a:latin typeface="Aptos"/>
              </a:rPr>
              <a:t> </a:t>
            </a:r>
            <a:r>
              <a:rPr sz="2000" b="0" dirty="0" err="1">
                <a:solidFill>
                  <a:srgbClr val="726659"/>
                </a:solidFill>
                <a:latin typeface="Aptos"/>
              </a:rPr>
              <a:t>ra</a:t>
            </a:r>
            <a:r>
              <a:rPr sz="2000" b="0" dirty="0">
                <a:solidFill>
                  <a:srgbClr val="726659"/>
                </a:solidFill>
                <a:latin typeface="Aptos"/>
              </a:rPr>
              <a:t> </a:t>
            </a:r>
            <a:r>
              <a:rPr sz="2000" b="0" dirty="0" err="1">
                <a:solidFill>
                  <a:srgbClr val="726659"/>
                </a:solidFill>
                <a:latin typeface="Aptos"/>
              </a:rPr>
              <a:t>phần</a:t>
            </a:r>
            <a:r>
              <a:rPr sz="2000" b="0" dirty="0">
                <a:solidFill>
                  <a:srgbClr val="726659"/>
                </a:solidFill>
                <a:latin typeface="Aptos"/>
              </a:rPr>
              <a:t> </a:t>
            </a:r>
            <a:r>
              <a:rPr sz="2000" b="0" dirty="0" err="1">
                <a:solidFill>
                  <a:srgbClr val="726659"/>
                </a:solidFill>
                <a:latin typeface="Aptos"/>
              </a:rPr>
              <a:t>trăm</a:t>
            </a:r>
            <a:r>
              <a:rPr sz="2000" b="0" dirty="0">
                <a:solidFill>
                  <a:srgbClr val="726659"/>
                </a:solidFill>
                <a:latin typeface="Aptos"/>
              </a:rPr>
              <a:t> </a:t>
            </a:r>
            <a:r>
              <a:rPr sz="2000" b="0" dirty="0" err="1">
                <a:solidFill>
                  <a:srgbClr val="726659"/>
                </a:solidFill>
                <a:latin typeface="Aptos"/>
              </a:rPr>
              <a:t>trùng</a:t>
            </a:r>
            <a:r>
              <a:rPr sz="2000" b="0" dirty="0">
                <a:solidFill>
                  <a:srgbClr val="726659"/>
                </a:solidFill>
                <a:latin typeface="Aptos"/>
              </a:rPr>
              <a:t> </a:t>
            </a:r>
            <a:r>
              <a:rPr sz="2000" b="0" dirty="0" err="1">
                <a:solidFill>
                  <a:srgbClr val="726659"/>
                </a:solidFill>
                <a:latin typeface="Aptos"/>
              </a:rPr>
              <a:t>khớp</a:t>
            </a:r>
            <a:r>
              <a:rPr sz="2000" b="0" dirty="0">
                <a:solidFill>
                  <a:srgbClr val="726659"/>
                </a:solidFill>
                <a:latin typeface="Aptos"/>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CÔNG THỨC</a:t>
            </a:r>
          </a:p>
        </p:txBody>
      </p:sp>
      <p:sp>
        <p:nvSpPr>
          <p:cNvPr id="4" name="TextBox 3"/>
          <p:cNvSpPr txBox="1"/>
          <p:nvPr/>
        </p:nvSpPr>
        <p:spPr>
          <a:xfrm>
            <a:off x="713232" y="960120"/>
            <a:ext cx="8796528" cy="1874519"/>
          </a:xfrm>
          <a:prstGeom prst="rect">
            <a:avLst/>
          </a:prstGeom>
          <a:noFill/>
        </p:spPr>
        <p:txBody>
          <a:bodyPr wrap="square" lIns="0" tIns="0" rIns="0" bIns="0">
            <a:normAutofit/>
          </a:bodyPr>
          <a:lstStyle/>
          <a:p>
            <a:r>
              <a:rPr sz="3200" b="0">
                <a:solidFill>
                  <a:srgbClr val="2A2119"/>
                </a:solidFill>
                <a:latin typeface="Georgia"/>
              </a:rPr>
              <a:t>12 đại lượng dùng cho Euclid</a:t>
            </a:r>
            <a:endParaRPr sz="3800" dirty="0">
              <a:solidFill>
                <a:srgbClr val="2A2119"/>
              </a:solidFill>
              <a:latin typeface="Georgia"/>
            </a:endParaRPr>
          </a:p>
        </p:txBody>
      </p:sp>
      <p:sp>
        <p:nvSpPr>
          <p:cNvPr id="5" name="Rounded Rectangle 4"/>
          <p:cNvSpPr/>
          <p:nvPr/>
        </p:nvSpPr>
        <p:spPr>
          <a:xfrm>
            <a:off x="749808" y="1828800"/>
            <a:ext cx="5257800" cy="1975103"/>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993392"/>
            <a:ext cx="4928616" cy="3182112"/>
          </a:xfrm>
          <a:prstGeom prst="rect">
            <a:avLst/>
          </a:prstGeom>
          <a:noFill/>
        </p:spPr>
        <p:txBody>
          <a:bodyPr wrap="square" lIns="0" tIns="0" rIns="0" bIns="0">
            <a:normAutofit/>
          </a:bodyPr>
          <a:lstStyle/>
          <a:p>
            <a:r>
              <a:rPr b="0" dirty="0">
                <a:solidFill>
                  <a:srgbClr val="2A2119"/>
                </a:solidFill>
                <a:latin typeface="Aptos"/>
              </a:rPr>
              <a:t>1. </a:t>
            </a:r>
            <a:r>
              <a:rPr b="0" dirty="0" err="1">
                <a:solidFill>
                  <a:srgbClr val="2A2119"/>
                </a:solidFill>
                <a:latin typeface="Aptos"/>
              </a:rPr>
              <a:t>meanEnergy</a:t>
            </a:r>
            <a:r>
              <a:rPr b="0" dirty="0">
                <a:solidFill>
                  <a:srgbClr val="2A2119"/>
                </a:solidFill>
                <a:latin typeface="Aptos"/>
              </a:rPr>
              <a:t>: </a:t>
            </a:r>
            <a:r>
              <a:rPr b="0" dirty="0" err="1">
                <a:solidFill>
                  <a:srgbClr val="2A2119"/>
                </a:solidFill>
                <a:latin typeface="Aptos"/>
              </a:rPr>
              <a:t>năng</a:t>
            </a:r>
            <a:r>
              <a:rPr b="0" dirty="0">
                <a:solidFill>
                  <a:srgbClr val="2A2119"/>
                </a:solidFill>
                <a:latin typeface="Aptos"/>
              </a:rPr>
              <a:t> </a:t>
            </a:r>
            <a:r>
              <a:rPr b="0" dirty="0" err="1">
                <a:solidFill>
                  <a:srgbClr val="2A2119"/>
                </a:solidFill>
                <a:latin typeface="Aptos"/>
              </a:rPr>
              <a:t>lượng</a:t>
            </a:r>
            <a:r>
              <a:rPr b="0" dirty="0">
                <a:solidFill>
                  <a:srgbClr val="2A2119"/>
                </a:solidFill>
                <a:latin typeface="Aptos"/>
              </a:rPr>
              <a:t> </a:t>
            </a:r>
            <a:r>
              <a:rPr b="0" dirty="0" err="1">
                <a:solidFill>
                  <a:srgbClr val="2A2119"/>
                </a:solidFill>
                <a:latin typeface="Aptos"/>
              </a:rPr>
              <a:t>trung</a:t>
            </a:r>
            <a:r>
              <a:rPr b="0" dirty="0">
                <a:solidFill>
                  <a:srgbClr val="2A2119"/>
                </a:solidFill>
                <a:latin typeface="Aptos"/>
              </a:rPr>
              <a:t> </a:t>
            </a:r>
            <a:r>
              <a:rPr b="0" dirty="0" err="1">
                <a:solidFill>
                  <a:srgbClr val="2A2119"/>
                </a:solidFill>
                <a:latin typeface="Aptos"/>
              </a:rPr>
              <a:t>bình</a:t>
            </a:r>
            <a:r>
              <a:rPr b="0" dirty="0">
                <a:solidFill>
                  <a:srgbClr val="2A2119"/>
                </a:solidFill>
                <a:latin typeface="Aptos"/>
              </a:rPr>
              <a:t>
2. </a:t>
            </a:r>
            <a:r>
              <a:rPr b="0" dirty="0" err="1">
                <a:solidFill>
                  <a:srgbClr val="2A2119"/>
                </a:solidFill>
                <a:latin typeface="Aptos"/>
              </a:rPr>
              <a:t>maxEnergy</a:t>
            </a:r>
            <a:r>
              <a:rPr b="0" dirty="0">
                <a:solidFill>
                  <a:srgbClr val="2A2119"/>
                </a:solidFill>
                <a:latin typeface="Aptos"/>
              </a:rPr>
              <a:t>: </a:t>
            </a:r>
            <a:r>
              <a:rPr b="0" dirty="0" err="1">
                <a:solidFill>
                  <a:srgbClr val="2A2119"/>
                </a:solidFill>
                <a:latin typeface="Aptos"/>
              </a:rPr>
              <a:t>năng</a:t>
            </a:r>
            <a:r>
              <a:rPr b="0" dirty="0">
                <a:solidFill>
                  <a:srgbClr val="2A2119"/>
                </a:solidFill>
                <a:latin typeface="Aptos"/>
              </a:rPr>
              <a:t> </a:t>
            </a:r>
            <a:r>
              <a:rPr b="0" dirty="0" err="1">
                <a:solidFill>
                  <a:srgbClr val="2A2119"/>
                </a:solidFill>
                <a:latin typeface="Aptos"/>
              </a:rPr>
              <a:t>lượng</a:t>
            </a:r>
            <a:r>
              <a:rPr b="0" dirty="0">
                <a:solidFill>
                  <a:srgbClr val="2A2119"/>
                </a:solidFill>
                <a:latin typeface="Aptos"/>
              </a:rPr>
              <a:t> </a:t>
            </a:r>
            <a:r>
              <a:rPr b="0" dirty="0" err="1">
                <a:solidFill>
                  <a:srgbClr val="2A2119"/>
                </a:solidFill>
                <a:latin typeface="Aptos"/>
              </a:rPr>
              <a:t>lớn</a:t>
            </a:r>
            <a:r>
              <a:rPr b="0" dirty="0">
                <a:solidFill>
                  <a:srgbClr val="2A2119"/>
                </a:solidFill>
                <a:latin typeface="Aptos"/>
              </a:rPr>
              <a:t> </a:t>
            </a:r>
            <a:r>
              <a:rPr b="0" dirty="0" err="1">
                <a:solidFill>
                  <a:srgbClr val="2A2119"/>
                </a:solidFill>
                <a:latin typeface="Aptos"/>
              </a:rPr>
              <a:t>nhất</a:t>
            </a:r>
            <a:r>
              <a:rPr b="0" dirty="0">
                <a:solidFill>
                  <a:srgbClr val="2A2119"/>
                </a:solidFill>
                <a:latin typeface="Aptos"/>
              </a:rPr>
              <a:t>
3. </a:t>
            </a:r>
            <a:r>
              <a:rPr b="0" dirty="0" err="1">
                <a:solidFill>
                  <a:srgbClr val="2A2119"/>
                </a:solidFill>
                <a:latin typeface="Aptos"/>
              </a:rPr>
              <a:t>stdEnergy</a:t>
            </a:r>
            <a:r>
              <a:rPr b="0" dirty="0">
                <a:solidFill>
                  <a:srgbClr val="2A2119"/>
                </a:solidFill>
                <a:latin typeface="Aptos"/>
              </a:rPr>
              <a:t>: </a:t>
            </a:r>
            <a:r>
              <a:rPr b="0" dirty="0" err="1">
                <a:solidFill>
                  <a:srgbClr val="2A2119"/>
                </a:solidFill>
                <a:latin typeface="Aptos"/>
              </a:rPr>
              <a:t>độ</a:t>
            </a:r>
            <a:r>
              <a:rPr b="0" dirty="0">
                <a:solidFill>
                  <a:srgbClr val="2A2119"/>
                </a:solidFill>
                <a:latin typeface="Aptos"/>
              </a:rPr>
              <a:t> </a:t>
            </a:r>
            <a:r>
              <a:rPr b="0" dirty="0" err="1">
                <a:solidFill>
                  <a:srgbClr val="2A2119"/>
                </a:solidFill>
                <a:latin typeface="Aptos"/>
              </a:rPr>
              <a:t>lệch</a:t>
            </a:r>
            <a:r>
              <a:rPr b="0" dirty="0">
                <a:solidFill>
                  <a:srgbClr val="2A2119"/>
                </a:solidFill>
                <a:latin typeface="Aptos"/>
              </a:rPr>
              <a:t> </a:t>
            </a:r>
            <a:r>
              <a:rPr b="0" dirty="0" err="1">
                <a:solidFill>
                  <a:srgbClr val="2A2119"/>
                </a:solidFill>
                <a:latin typeface="Aptos"/>
              </a:rPr>
              <a:t>chuẩn</a:t>
            </a:r>
            <a:r>
              <a:rPr b="0" dirty="0">
                <a:solidFill>
                  <a:srgbClr val="2A2119"/>
                </a:solidFill>
                <a:latin typeface="Aptos"/>
              </a:rPr>
              <a:t> </a:t>
            </a:r>
            <a:r>
              <a:rPr b="0" dirty="0" err="1">
                <a:solidFill>
                  <a:srgbClr val="2A2119"/>
                </a:solidFill>
                <a:latin typeface="Aptos"/>
              </a:rPr>
              <a:t>năng</a:t>
            </a:r>
            <a:r>
              <a:rPr b="0" dirty="0">
                <a:solidFill>
                  <a:srgbClr val="2A2119"/>
                </a:solidFill>
                <a:latin typeface="Aptos"/>
              </a:rPr>
              <a:t> </a:t>
            </a:r>
            <a:r>
              <a:rPr b="0" dirty="0" err="1">
                <a:solidFill>
                  <a:srgbClr val="2A2119"/>
                </a:solidFill>
                <a:latin typeface="Aptos"/>
              </a:rPr>
              <a:t>lượng</a:t>
            </a:r>
            <a:r>
              <a:rPr b="0" dirty="0">
                <a:solidFill>
                  <a:srgbClr val="2A2119"/>
                </a:solidFill>
                <a:latin typeface="Aptos"/>
              </a:rPr>
              <a:t>
4. </a:t>
            </a:r>
            <a:r>
              <a:rPr b="0" dirty="0" err="1">
                <a:solidFill>
                  <a:srgbClr val="2A2119"/>
                </a:solidFill>
                <a:latin typeface="Aptos"/>
              </a:rPr>
              <a:t>meanLoudness</a:t>
            </a:r>
            <a:r>
              <a:rPr b="0" dirty="0">
                <a:solidFill>
                  <a:srgbClr val="2A2119"/>
                </a:solidFill>
                <a:latin typeface="Aptos"/>
              </a:rPr>
              <a:t>: </a:t>
            </a:r>
            <a:r>
              <a:rPr b="0" dirty="0" err="1">
                <a:solidFill>
                  <a:srgbClr val="2A2119"/>
                </a:solidFill>
                <a:latin typeface="Aptos"/>
              </a:rPr>
              <a:t>độ</a:t>
            </a:r>
            <a:r>
              <a:rPr b="0" dirty="0">
                <a:solidFill>
                  <a:srgbClr val="2A2119"/>
                </a:solidFill>
                <a:latin typeface="Aptos"/>
              </a:rPr>
              <a:t> to </a:t>
            </a:r>
            <a:r>
              <a:rPr b="0" dirty="0" err="1">
                <a:solidFill>
                  <a:srgbClr val="2A2119"/>
                </a:solidFill>
                <a:latin typeface="Aptos"/>
              </a:rPr>
              <a:t>trung</a:t>
            </a:r>
            <a:r>
              <a:rPr b="0" dirty="0">
                <a:solidFill>
                  <a:srgbClr val="2A2119"/>
                </a:solidFill>
                <a:latin typeface="Aptos"/>
              </a:rPr>
              <a:t> </a:t>
            </a:r>
            <a:r>
              <a:rPr b="0" dirty="0" err="1">
                <a:solidFill>
                  <a:srgbClr val="2A2119"/>
                </a:solidFill>
                <a:latin typeface="Aptos"/>
              </a:rPr>
              <a:t>bình</a:t>
            </a:r>
            <a:r>
              <a:rPr b="0" dirty="0">
                <a:solidFill>
                  <a:srgbClr val="2A2119"/>
                </a:solidFill>
                <a:latin typeface="Aptos"/>
              </a:rPr>
              <a:t>
5. </a:t>
            </a:r>
            <a:r>
              <a:rPr b="0" dirty="0" err="1">
                <a:solidFill>
                  <a:srgbClr val="2A2119"/>
                </a:solidFill>
                <a:latin typeface="Aptos"/>
              </a:rPr>
              <a:t>stdLoudness</a:t>
            </a:r>
            <a:r>
              <a:rPr b="0" dirty="0">
                <a:solidFill>
                  <a:srgbClr val="2A2119"/>
                </a:solidFill>
                <a:latin typeface="Aptos"/>
              </a:rPr>
              <a:t>: </a:t>
            </a:r>
            <a:r>
              <a:rPr b="0" dirty="0" err="1">
                <a:solidFill>
                  <a:srgbClr val="2A2119"/>
                </a:solidFill>
                <a:latin typeface="Aptos"/>
              </a:rPr>
              <a:t>độ</a:t>
            </a:r>
            <a:r>
              <a:rPr b="0" dirty="0">
                <a:solidFill>
                  <a:srgbClr val="2A2119"/>
                </a:solidFill>
                <a:latin typeface="Aptos"/>
              </a:rPr>
              <a:t> </a:t>
            </a:r>
            <a:r>
              <a:rPr b="0" dirty="0" err="1">
                <a:solidFill>
                  <a:srgbClr val="2A2119"/>
                </a:solidFill>
                <a:latin typeface="Aptos"/>
              </a:rPr>
              <a:t>lệch</a:t>
            </a:r>
            <a:r>
              <a:rPr b="0" dirty="0">
                <a:solidFill>
                  <a:srgbClr val="2A2119"/>
                </a:solidFill>
                <a:latin typeface="Aptos"/>
              </a:rPr>
              <a:t> </a:t>
            </a:r>
            <a:r>
              <a:rPr b="0" dirty="0" err="1">
                <a:solidFill>
                  <a:srgbClr val="2A2119"/>
                </a:solidFill>
                <a:latin typeface="Aptos"/>
              </a:rPr>
              <a:t>chuẩn</a:t>
            </a:r>
            <a:r>
              <a:rPr b="0" dirty="0">
                <a:solidFill>
                  <a:srgbClr val="2A2119"/>
                </a:solidFill>
                <a:latin typeface="Aptos"/>
              </a:rPr>
              <a:t> loudness
6. </a:t>
            </a:r>
            <a:r>
              <a:rPr b="0" dirty="0" err="1">
                <a:solidFill>
                  <a:srgbClr val="2A2119"/>
                </a:solidFill>
                <a:latin typeface="Aptos"/>
              </a:rPr>
              <a:t>dominantPitchHz</a:t>
            </a:r>
            <a:r>
              <a:rPr b="0" dirty="0">
                <a:solidFill>
                  <a:srgbClr val="2A2119"/>
                </a:solidFill>
                <a:latin typeface="Aptos"/>
              </a:rPr>
              <a:t>: </a:t>
            </a:r>
            <a:r>
              <a:rPr b="0" dirty="0" err="1">
                <a:solidFill>
                  <a:srgbClr val="2A2119"/>
                </a:solidFill>
                <a:latin typeface="Aptos"/>
              </a:rPr>
              <a:t>cao</a:t>
            </a:r>
            <a:r>
              <a:rPr b="0" dirty="0">
                <a:solidFill>
                  <a:srgbClr val="2A2119"/>
                </a:solidFill>
                <a:latin typeface="Aptos"/>
              </a:rPr>
              <a:t> </a:t>
            </a:r>
            <a:r>
              <a:rPr b="0" dirty="0" err="1">
                <a:solidFill>
                  <a:srgbClr val="2A2119"/>
                </a:solidFill>
                <a:latin typeface="Aptos"/>
              </a:rPr>
              <a:t>độ</a:t>
            </a:r>
            <a:r>
              <a:rPr b="0" dirty="0">
                <a:solidFill>
                  <a:srgbClr val="2A2119"/>
                </a:solidFill>
                <a:latin typeface="Aptos"/>
              </a:rPr>
              <a:t> </a:t>
            </a:r>
            <a:r>
              <a:rPr b="0" dirty="0" err="1">
                <a:solidFill>
                  <a:srgbClr val="2A2119"/>
                </a:solidFill>
                <a:latin typeface="Aptos"/>
              </a:rPr>
              <a:t>trội</a:t>
            </a:r>
            <a:endParaRPr b="0" dirty="0">
              <a:solidFill>
                <a:srgbClr val="2A2119"/>
              </a:solidFill>
              <a:latin typeface="Aptos"/>
            </a:endParaRPr>
          </a:p>
        </p:txBody>
      </p:sp>
      <p:sp>
        <p:nvSpPr>
          <p:cNvPr id="7" name="Rounded Rectangle 6"/>
          <p:cNvSpPr/>
          <p:nvPr/>
        </p:nvSpPr>
        <p:spPr>
          <a:xfrm>
            <a:off x="6062472" y="1828800"/>
            <a:ext cx="5230368" cy="1975103"/>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27064" y="1993392"/>
            <a:ext cx="4901183" cy="1142999"/>
          </a:xfrm>
          <a:prstGeom prst="rect">
            <a:avLst/>
          </a:prstGeom>
          <a:noFill/>
        </p:spPr>
        <p:txBody>
          <a:bodyPr wrap="square" lIns="0" tIns="0" rIns="0" bIns="0">
            <a:noAutofit/>
          </a:bodyPr>
          <a:lstStyle/>
          <a:p>
            <a:r>
              <a:rPr b="0" dirty="0">
                <a:solidFill>
                  <a:srgbClr val="2A2119"/>
                </a:solidFill>
                <a:latin typeface="Aptos"/>
              </a:rPr>
              <a:t>7. </a:t>
            </a:r>
            <a:r>
              <a:rPr b="0" dirty="0" err="1">
                <a:solidFill>
                  <a:srgbClr val="2A2119"/>
                </a:solidFill>
                <a:latin typeface="Aptos"/>
              </a:rPr>
              <a:t>normalizedBrightness</a:t>
            </a:r>
            <a:r>
              <a:rPr b="0" dirty="0">
                <a:solidFill>
                  <a:srgbClr val="2A2119"/>
                </a:solidFill>
                <a:latin typeface="Aptos"/>
              </a:rPr>
              <a:t>: </a:t>
            </a:r>
            <a:r>
              <a:rPr b="0" dirty="0" err="1">
                <a:solidFill>
                  <a:srgbClr val="2A2119"/>
                </a:solidFill>
                <a:latin typeface="Aptos"/>
              </a:rPr>
              <a:t>độ</a:t>
            </a:r>
            <a:r>
              <a:rPr b="0" dirty="0">
                <a:solidFill>
                  <a:srgbClr val="2A2119"/>
                </a:solidFill>
                <a:latin typeface="Aptos"/>
              </a:rPr>
              <a:t> </a:t>
            </a:r>
            <a:r>
              <a:rPr b="0" dirty="0" err="1">
                <a:solidFill>
                  <a:srgbClr val="2A2119"/>
                </a:solidFill>
                <a:latin typeface="Aptos"/>
              </a:rPr>
              <a:t>sáng</a:t>
            </a:r>
            <a:r>
              <a:rPr b="0" dirty="0">
                <a:solidFill>
                  <a:srgbClr val="2A2119"/>
                </a:solidFill>
                <a:latin typeface="Aptos"/>
              </a:rPr>
              <a:t> </a:t>
            </a:r>
            <a:r>
              <a:rPr b="0" dirty="0" err="1">
                <a:solidFill>
                  <a:srgbClr val="2A2119"/>
                </a:solidFill>
                <a:latin typeface="Aptos"/>
              </a:rPr>
              <a:t>chuẩn</a:t>
            </a:r>
            <a:r>
              <a:rPr b="0" dirty="0">
                <a:solidFill>
                  <a:srgbClr val="2A2119"/>
                </a:solidFill>
                <a:latin typeface="Aptos"/>
              </a:rPr>
              <a:t> </a:t>
            </a:r>
            <a:r>
              <a:rPr b="0" dirty="0" err="1">
                <a:solidFill>
                  <a:srgbClr val="2A2119"/>
                </a:solidFill>
                <a:latin typeface="Aptos"/>
              </a:rPr>
              <a:t>hóa</a:t>
            </a:r>
            <a:r>
              <a:rPr b="0" dirty="0">
                <a:solidFill>
                  <a:srgbClr val="2A2119"/>
                </a:solidFill>
                <a:latin typeface="Aptos"/>
              </a:rPr>
              <a:t>
8. </a:t>
            </a:r>
            <a:r>
              <a:rPr b="0" dirty="0" err="1">
                <a:solidFill>
                  <a:srgbClr val="2A2119"/>
                </a:solidFill>
                <a:latin typeface="Aptos"/>
              </a:rPr>
              <a:t>meanZeroCrossingRate</a:t>
            </a:r>
            <a:r>
              <a:rPr b="0" dirty="0">
                <a:solidFill>
                  <a:srgbClr val="2A2119"/>
                </a:solidFill>
                <a:latin typeface="Aptos"/>
              </a:rPr>
              <a:t>: </a:t>
            </a:r>
            <a:r>
              <a:rPr b="0" dirty="0" err="1">
                <a:solidFill>
                  <a:srgbClr val="2A2119"/>
                </a:solidFill>
                <a:latin typeface="Aptos"/>
              </a:rPr>
              <a:t>tần</a:t>
            </a:r>
            <a:r>
              <a:rPr b="0" dirty="0">
                <a:solidFill>
                  <a:srgbClr val="2A2119"/>
                </a:solidFill>
                <a:latin typeface="Aptos"/>
              </a:rPr>
              <a:t> </a:t>
            </a:r>
            <a:r>
              <a:rPr b="0" dirty="0" err="1">
                <a:solidFill>
                  <a:srgbClr val="2A2119"/>
                </a:solidFill>
                <a:latin typeface="Aptos"/>
              </a:rPr>
              <a:t>suất</a:t>
            </a:r>
            <a:r>
              <a:rPr b="0" dirty="0">
                <a:solidFill>
                  <a:srgbClr val="2A2119"/>
                </a:solidFill>
                <a:latin typeface="Aptos"/>
              </a:rPr>
              <a:t> </a:t>
            </a:r>
            <a:r>
              <a:rPr b="0" dirty="0" err="1">
                <a:solidFill>
                  <a:srgbClr val="2A2119"/>
                </a:solidFill>
                <a:latin typeface="Aptos"/>
              </a:rPr>
              <a:t>đổi</a:t>
            </a:r>
            <a:r>
              <a:rPr b="0" dirty="0">
                <a:solidFill>
                  <a:srgbClr val="2A2119"/>
                </a:solidFill>
                <a:latin typeface="Aptos"/>
              </a:rPr>
              <a:t> </a:t>
            </a:r>
            <a:r>
              <a:rPr b="0" dirty="0" err="1">
                <a:solidFill>
                  <a:srgbClr val="2A2119"/>
                </a:solidFill>
                <a:latin typeface="Aptos"/>
              </a:rPr>
              <a:t>dấu</a:t>
            </a:r>
            <a:r>
              <a:rPr b="0" dirty="0">
                <a:solidFill>
                  <a:srgbClr val="2A2119"/>
                </a:solidFill>
                <a:latin typeface="Aptos"/>
              </a:rPr>
              <a:t> TB
9. </a:t>
            </a:r>
            <a:r>
              <a:rPr b="0" dirty="0" err="1">
                <a:solidFill>
                  <a:srgbClr val="2A2119"/>
                </a:solidFill>
                <a:latin typeface="Aptos"/>
              </a:rPr>
              <a:t>maxPeak</a:t>
            </a:r>
            <a:r>
              <a:rPr b="0" dirty="0">
                <a:solidFill>
                  <a:srgbClr val="2A2119"/>
                </a:solidFill>
                <a:latin typeface="Aptos"/>
              </a:rPr>
              <a:t>: </a:t>
            </a:r>
            <a:r>
              <a:rPr b="0" dirty="0" err="1">
                <a:solidFill>
                  <a:srgbClr val="2A2119"/>
                </a:solidFill>
                <a:latin typeface="Aptos"/>
              </a:rPr>
              <a:t>biên</a:t>
            </a:r>
            <a:r>
              <a:rPr b="0" dirty="0">
                <a:solidFill>
                  <a:srgbClr val="2A2119"/>
                </a:solidFill>
                <a:latin typeface="Aptos"/>
              </a:rPr>
              <a:t> </a:t>
            </a:r>
            <a:r>
              <a:rPr b="0" dirty="0" err="1">
                <a:solidFill>
                  <a:srgbClr val="2A2119"/>
                </a:solidFill>
                <a:latin typeface="Aptos"/>
              </a:rPr>
              <a:t>độ</a:t>
            </a:r>
            <a:r>
              <a:rPr b="0" dirty="0">
                <a:solidFill>
                  <a:srgbClr val="2A2119"/>
                </a:solidFill>
                <a:latin typeface="Aptos"/>
              </a:rPr>
              <a:t> </a:t>
            </a:r>
            <a:r>
              <a:rPr b="0" dirty="0" err="1">
                <a:solidFill>
                  <a:srgbClr val="2A2119"/>
                </a:solidFill>
                <a:latin typeface="Aptos"/>
              </a:rPr>
              <a:t>đỉnh</a:t>
            </a:r>
            <a:r>
              <a:rPr b="0" dirty="0">
                <a:solidFill>
                  <a:srgbClr val="2A2119"/>
                </a:solidFill>
                <a:latin typeface="Aptos"/>
              </a:rPr>
              <a:t> </a:t>
            </a:r>
            <a:r>
              <a:rPr b="0" dirty="0" err="1">
                <a:solidFill>
                  <a:srgbClr val="2A2119"/>
                </a:solidFill>
                <a:latin typeface="Aptos"/>
              </a:rPr>
              <a:t>lớn</a:t>
            </a:r>
            <a:r>
              <a:rPr b="0" dirty="0">
                <a:solidFill>
                  <a:srgbClr val="2A2119"/>
                </a:solidFill>
                <a:latin typeface="Aptos"/>
              </a:rPr>
              <a:t> </a:t>
            </a:r>
            <a:r>
              <a:rPr b="0" dirty="0" err="1">
                <a:solidFill>
                  <a:srgbClr val="2A2119"/>
                </a:solidFill>
                <a:latin typeface="Aptos"/>
              </a:rPr>
              <a:t>nhất</a:t>
            </a:r>
            <a:r>
              <a:rPr b="0" dirty="0">
                <a:solidFill>
                  <a:srgbClr val="2A2119"/>
                </a:solidFill>
                <a:latin typeface="Aptos"/>
              </a:rPr>
              <a:t>
10. </a:t>
            </a:r>
            <a:r>
              <a:rPr b="0" dirty="0" err="1">
                <a:solidFill>
                  <a:srgbClr val="2A2119"/>
                </a:solidFill>
                <a:latin typeface="Aptos"/>
              </a:rPr>
              <a:t>burstRatio</a:t>
            </a:r>
            <a:r>
              <a:rPr b="0" dirty="0">
                <a:solidFill>
                  <a:srgbClr val="2A2119"/>
                </a:solidFill>
                <a:latin typeface="Aptos"/>
              </a:rPr>
              <a:t> = </a:t>
            </a:r>
            <a:r>
              <a:rPr b="0" dirty="0" err="1">
                <a:solidFill>
                  <a:srgbClr val="2A2119"/>
                </a:solidFill>
                <a:latin typeface="Aptos"/>
              </a:rPr>
              <a:t>maxEnergy</a:t>
            </a:r>
            <a:r>
              <a:rPr b="0" dirty="0">
                <a:solidFill>
                  <a:srgbClr val="2A2119"/>
                </a:solidFill>
                <a:latin typeface="Aptos"/>
              </a:rPr>
              <a:t> / </a:t>
            </a:r>
            <a:r>
              <a:rPr b="0" dirty="0" err="1">
                <a:solidFill>
                  <a:srgbClr val="2A2119"/>
                </a:solidFill>
                <a:latin typeface="Aptos"/>
              </a:rPr>
              <a:t>meanEnergy</a:t>
            </a:r>
            <a:r>
              <a:rPr b="0" dirty="0">
                <a:solidFill>
                  <a:srgbClr val="2A2119"/>
                </a:solidFill>
                <a:latin typeface="Aptos"/>
              </a:rPr>
              <a:t>
11. </a:t>
            </a:r>
            <a:r>
              <a:rPr b="0" dirty="0" err="1">
                <a:solidFill>
                  <a:srgbClr val="2A2119"/>
                </a:solidFill>
                <a:latin typeface="Aptos"/>
              </a:rPr>
              <a:t>activeWindowRatio</a:t>
            </a:r>
            <a:r>
              <a:rPr b="0" dirty="0">
                <a:solidFill>
                  <a:srgbClr val="2A2119"/>
                </a:solidFill>
                <a:latin typeface="Aptos"/>
              </a:rPr>
              <a:t>: </a:t>
            </a:r>
            <a:r>
              <a:rPr b="0" dirty="0" err="1">
                <a:solidFill>
                  <a:srgbClr val="2A2119"/>
                </a:solidFill>
                <a:latin typeface="Aptos"/>
              </a:rPr>
              <a:t>tỉ</a:t>
            </a:r>
            <a:r>
              <a:rPr b="0" dirty="0">
                <a:solidFill>
                  <a:srgbClr val="2A2119"/>
                </a:solidFill>
                <a:latin typeface="Aptos"/>
              </a:rPr>
              <a:t> </a:t>
            </a:r>
            <a:r>
              <a:rPr b="0" dirty="0" err="1">
                <a:solidFill>
                  <a:srgbClr val="2A2119"/>
                </a:solidFill>
                <a:latin typeface="Aptos"/>
              </a:rPr>
              <a:t>lệ</a:t>
            </a:r>
            <a:r>
              <a:rPr b="0" dirty="0">
                <a:solidFill>
                  <a:srgbClr val="2A2119"/>
                </a:solidFill>
                <a:latin typeface="Aptos"/>
              </a:rPr>
              <a:t> </a:t>
            </a:r>
            <a:r>
              <a:rPr b="0" dirty="0" err="1">
                <a:solidFill>
                  <a:srgbClr val="2A2119"/>
                </a:solidFill>
                <a:latin typeface="Aptos"/>
              </a:rPr>
              <a:t>cửa</a:t>
            </a:r>
            <a:r>
              <a:rPr b="0" dirty="0">
                <a:solidFill>
                  <a:srgbClr val="2A2119"/>
                </a:solidFill>
                <a:latin typeface="Aptos"/>
              </a:rPr>
              <a:t> </a:t>
            </a:r>
            <a:r>
              <a:rPr b="0" dirty="0" err="1">
                <a:solidFill>
                  <a:srgbClr val="2A2119"/>
                </a:solidFill>
                <a:latin typeface="Aptos"/>
              </a:rPr>
              <a:t>sổ</a:t>
            </a:r>
            <a:r>
              <a:rPr b="0" dirty="0">
                <a:solidFill>
                  <a:srgbClr val="2A2119"/>
                </a:solidFill>
                <a:latin typeface="Aptos"/>
              </a:rPr>
              <a:t> </a:t>
            </a:r>
            <a:r>
              <a:rPr b="0" dirty="0" err="1">
                <a:solidFill>
                  <a:srgbClr val="2A2119"/>
                </a:solidFill>
                <a:latin typeface="Aptos"/>
              </a:rPr>
              <a:t>hoạt</a:t>
            </a:r>
            <a:r>
              <a:rPr b="0" dirty="0">
                <a:solidFill>
                  <a:srgbClr val="2A2119"/>
                </a:solidFill>
                <a:latin typeface="Aptos"/>
              </a:rPr>
              <a:t> </a:t>
            </a:r>
            <a:r>
              <a:rPr b="0" dirty="0" err="1">
                <a:solidFill>
                  <a:srgbClr val="2A2119"/>
                </a:solidFill>
                <a:latin typeface="Aptos"/>
              </a:rPr>
              <a:t>động</a:t>
            </a:r>
            <a:r>
              <a:rPr b="0" dirty="0">
                <a:solidFill>
                  <a:srgbClr val="2A2119"/>
                </a:solidFill>
                <a:latin typeface="Aptos"/>
              </a:rPr>
              <a:t>
12. </a:t>
            </a:r>
            <a:r>
              <a:rPr b="0" dirty="0" err="1">
                <a:solidFill>
                  <a:srgbClr val="2A2119"/>
                </a:solidFill>
                <a:latin typeface="Aptos"/>
              </a:rPr>
              <a:t>durationSeconds</a:t>
            </a:r>
            <a:r>
              <a:rPr b="0" dirty="0">
                <a:solidFill>
                  <a:srgbClr val="2A2119"/>
                </a:solidFill>
                <a:latin typeface="Aptos"/>
              </a:rPr>
              <a:t>: </a:t>
            </a:r>
            <a:r>
              <a:rPr b="0" dirty="0" err="1">
                <a:solidFill>
                  <a:srgbClr val="2A2119"/>
                </a:solidFill>
                <a:latin typeface="Aptos"/>
              </a:rPr>
              <a:t>thời</a:t>
            </a:r>
            <a:r>
              <a:rPr b="0" dirty="0">
                <a:solidFill>
                  <a:srgbClr val="2A2119"/>
                </a:solidFill>
                <a:latin typeface="Aptos"/>
              </a:rPr>
              <a:t> </a:t>
            </a:r>
            <a:r>
              <a:rPr b="0" dirty="0" err="1">
                <a:solidFill>
                  <a:srgbClr val="2A2119"/>
                </a:solidFill>
                <a:latin typeface="Aptos"/>
              </a:rPr>
              <a:t>lượng</a:t>
            </a:r>
            <a:r>
              <a:rPr b="0" dirty="0">
                <a:solidFill>
                  <a:srgbClr val="2A2119"/>
                </a:solidFill>
                <a:latin typeface="Aptos"/>
              </a:rPr>
              <a:t> file</a:t>
            </a:r>
          </a:p>
        </p:txBody>
      </p:sp>
      <p:sp>
        <p:nvSpPr>
          <p:cNvPr id="9" name="TextBox 8"/>
          <p:cNvSpPr txBox="1"/>
          <p:nvPr/>
        </p:nvSpPr>
        <p:spPr>
          <a:xfrm>
            <a:off x="813816" y="3639311"/>
            <a:ext cx="10058400" cy="1143000"/>
          </a:xfrm>
          <a:prstGeom prst="rect">
            <a:avLst/>
          </a:prstGeom>
          <a:noFill/>
        </p:spPr>
        <p:txBody>
          <a:bodyPr wrap="square" lIns="0" tIns="0" rIns="0" bIns="0">
            <a:normAutofit/>
          </a:bodyPr>
          <a:lstStyle/>
          <a:p>
            <a:pPr>
              <a:spcBef>
                <a:spcPts val="0"/>
              </a:spcBef>
              <a:spcAft>
                <a:spcPts val="1000"/>
              </a:spcAft>
            </a:pPr>
            <a:r>
              <a:rPr sz="1400" b="0" dirty="0">
                <a:solidFill>
                  <a:srgbClr val="726659"/>
                </a:solidFill>
                <a:latin typeface="Aptos"/>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GIẢI THÍCH CHỈ SỐ</a:t>
            </a:r>
          </a:p>
        </p:txBody>
      </p:sp>
      <p:sp>
        <p:nvSpPr>
          <p:cNvPr id="4" name="TextBox 3"/>
          <p:cNvSpPr txBox="1"/>
          <p:nvPr/>
        </p:nvSpPr>
        <p:spPr>
          <a:xfrm>
            <a:off x="713232" y="960120"/>
            <a:ext cx="9537192" cy="1874519"/>
          </a:xfrm>
          <a:prstGeom prst="rect">
            <a:avLst/>
          </a:prstGeom>
          <a:noFill/>
        </p:spPr>
        <p:txBody>
          <a:bodyPr wrap="square" lIns="0" tIns="0" rIns="0" bIns="0">
            <a:normAutofit/>
          </a:bodyPr>
          <a:lstStyle/>
          <a:p>
            <a:r>
              <a:rPr sz="3800" dirty="0">
                <a:solidFill>
                  <a:srgbClr val="2A2119"/>
                </a:solidFill>
                <a:latin typeface="Georgia"/>
              </a:rPr>
              <a:t>Ý </a:t>
            </a:r>
            <a:r>
              <a:rPr sz="3800" dirty="0" err="1">
                <a:solidFill>
                  <a:srgbClr val="2A2119"/>
                </a:solidFill>
                <a:latin typeface="Georgia"/>
              </a:rPr>
              <a:t>nghĩa</a:t>
            </a:r>
            <a:r>
              <a:rPr sz="3800" dirty="0">
                <a:solidFill>
                  <a:srgbClr val="2A2119"/>
                </a:solidFill>
                <a:latin typeface="Georgia"/>
              </a:rPr>
              <a:t> </a:t>
            </a:r>
            <a:r>
              <a:rPr sz="3800" dirty="0" err="1">
                <a:solidFill>
                  <a:srgbClr val="2A2119"/>
                </a:solidFill>
                <a:latin typeface="Georgia"/>
              </a:rPr>
              <a:t>của</a:t>
            </a:r>
            <a:r>
              <a:rPr sz="3800" dirty="0">
                <a:solidFill>
                  <a:srgbClr val="2A2119"/>
                </a:solidFill>
                <a:latin typeface="Georgia"/>
              </a:rPr>
              <a:t> </a:t>
            </a:r>
            <a:r>
              <a:rPr sz="3800" dirty="0" err="1">
                <a:solidFill>
                  <a:srgbClr val="2A2119"/>
                </a:solidFill>
                <a:latin typeface="Georgia"/>
              </a:rPr>
              <a:t>hai</a:t>
            </a:r>
            <a:r>
              <a:rPr sz="3800" dirty="0">
                <a:solidFill>
                  <a:srgbClr val="2A2119"/>
                </a:solidFill>
                <a:latin typeface="Georgia"/>
              </a:rPr>
              <a:t> </a:t>
            </a:r>
            <a:r>
              <a:rPr sz="3800" dirty="0" err="1">
                <a:solidFill>
                  <a:srgbClr val="2A2119"/>
                </a:solidFill>
                <a:latin typeface="Georgia"/>
              </a:rPr>
              <a:t>chỉ</a:t>
            </a:r>
            <a:r>
              <a:rPr sz="3800" dirty="0">
                <a:solidFill>
                  <a:srgbClr val="2A2119"/>
                </a:solidFill>
                <a:latin typeface="Georgia"/>
              </a:rPr>
              <a:t> </a:t>
            </a:r>
            <a:r>
              <a:rPr sz="3800" dirty="0" err="1">
                <a:solidFill>
                  <a:srgbClr val="2A2119"/>
                </a:solidFill>
                <a:latin typeface="Georgia"/>
              </a:rPr>
              <a:t>số</a:t>
            </a:r>
            <a:r>
              <a:rPr sz="3800" dirty="0">
                <a:solidFill>
                  <a:srgbClr val="2A2119"/>
                </a:solidFill>
                <a:latin typeface="Georgia"/>
              </a:rPr>
              <a:t> </a:t>
            </a:r>
            <a:r>
              <a:rPr sz="3800" dirty="0" err="1">
                <a:solidFill>
                  <a:srgbClr val="2A2119"/>
                </a:solidFill>
                <a:latin typeface="Georgia"/>
              </a:rPr>
              <a:t>trên</a:t>
            </a:r>
            <a:r>
              <a:rPr sz="3800" dirty="0">
                <a:solidFill>
                  <a:srgbClr val="2A2119"/>
                </a:solidFill>
                <a:latin typeface="Georgia"/>
              </a:rPr>
              <a:t> </a:t>
            </a:r>
            <a:r>
              <a:rPr sz="3800" dirty="0" err="1">
                <a:solidFill>
                  <a:srgbClr val="2A2119"/>
                </a:solidFill>
                <a:latin typeface="Georgia"/>
              </a:rPr>
              <a:t>bảng</a:t>
            </a:r>
            <a:r>
              <a:rPr sz="3800" dirty="0">
                <a:solidFill>
                  <a:srgbClr val="2A2119"/>
                </a:solidFill>
                <a:latin typeface="Georgia"/>
              </a:rPr>
              <a:t> </a:t>
            </a:r>
            <a:r>
              <a:rPr sz="3800" dirty="0" err="1">
                <a:solidFill>
                  <a:srgbClr val="2A2119"/>
                </a:solidFill>
                <a:latin typeface="Georgia"/>
              </a:rPr>
              <a:t>tổng</a:t>
            </a:r>
            <a:r>
              <a:rPr sz="3800" dirty="0">
                <a:solidFill>
                  <a:srgbClr val="2A2119"/>
                </a:solidFill>
                <a:latin typeface="Georgia"/>
              </a:rPr>
              <a:t> </a:t>
            </a:r>
            <a:r>
              <a:rPr sz="3800" dirty="0" err="1">
                <a:solidFill>
                  <a:srgbClr val="2A2119"/>
                </a:solidFill>
                <a:latin typeface="Georgia"/>
              </a:rPr>
              <a:t>quan</a:t>
            </a:r>
            <a:endParaRPr sz="3800" dirty="0">
              <a:solidFill>
                <a:srgbClr val="2A2119"/>
              </a:solidFill>
              <a:latin typeface="Georgia"/>
            </a:endParaRPr>
          </a:p>
        </p:txBody>
      </p:sp>
      <p:sp>
        <p:nvSpPr>
          <p:cNvPr id="5" name="Rounded Rectangle 4"/>
          <p:cNvSpPr/>
          <p:nvPr/>
        </p:nvSpPr>
        <p:spPr>
          <a:xfrm>
            <a:off x="749808" y="1828800"/>
            <a:ext cx="5074920" cy="3547872"/>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7552" y="2029968"/>
            <a:ext cx="2743200" cy="530352"/>
          </a:xfrm>
          <a:prstGeom prst="rect">
            <a:avLst/>
          </a:prstGeom>
          <a:noFill/>
        </p:spPr>
        <p:txBody>
          <a:bodyPr wrap="square" lIns="0" tIns="0" rIns="0" bIns="0">
            <a:normAutofit/>
          </a:bodyPr>
          <a:lstStyle/>
          <a:p>
            <a:r>
              <a:rPr sz="2400" b="0" dirty="0" err="1">
                <a:solidFill>
                  <a:srgbClr val="2A2119"/>
                </a:solidFill>
                <a:latin typeface="Georgia"/>
              </a:rPr>
              <a:t>Số</a:t>
            </a:r>
            <a:r>
              <a:rPr sz="2400" b="0" dirty="0">
                <a:solidFill>
                  <a:srgbClr val="2A2119"/>
                </a:solidFill>
                <a:latin typeface="Georgia"/>
              </a:rPr>
              <a:t> </a:t>
            </a:r>
            <a:r>
              <a:rPr sz="2400" b="0" dirty="0" err="1">
                <a:solidFill>
                  <a:srgbClr val="2A2119"/>
                </a:solidFill>
                <a:latin typeface="Georgia"/>
              </a:rPr>
              <a:t>cửa</a:t>
            </a:r>
            <a:r>
              <a:rPr sz="2400" b="0" dirty="0">
                <a:solidFill>
                  <a:srgbClr val="2A2119"/>
                </a:solidFill>
                <a:latin typeface="Georgia"/>
              </a:rPr>
              <a:t> </a:t>
            </a:r>
            <a:r>
              <a:rPr sz="2400" b="0" dirty="0" err="1">
                <a:solidFill>
                  <a:srgbClr val="2A2119"/>
                </a:solidFill>
                <a:latin typeface="Georgia"/>
              </a:rPr>
              <a:t>sổ</a:t>
            </a:r>
            <a:r>
              <a:rPr sz="2400" b="0" dirty="0">
                <a:solidFill>
                  <a:srgbClr val="2A2119"/>
                </a:solidFill>
                <a:latin typeface="Georgia"/>
              </a:rPr>
              <a:t> </a:t>
            </a:r>
            <a:r>
              <a:rPr sz="2400" b="0" dirty="0" err="1">
                <a:solidFill>
                  <a:srgbClr val="2A2119"/>
                </a:solidFill>
                <a:latin typeface="Georgia"/>
              </a:rPr>
              <a:t>tín</a:t>
            </a:r>
            <a:r>
              <a:rPr sz="2400" b="0" dirty="0">
                <a:solidFill>
                  <a:srgbClr val="2A2119"/>
                </a:solidFill>
                <a:latin typeface="Georgia"/>
              </a:rPr>
              <a:t> </a:t>
            </a:r>
            <a:r>
              <a:rPr sz="2400" b="0" dirty="0" err="1">
                <a:solidFill>
                  <a:srgbClr val="2A2119"/>
                </a:solidFill>
                <a:latin typeface="Georgia"/>
              </a:rPr>
              <a:t>hiệu</a:t>
            </a:r>
            <a:endParaRPr sz="2400" b="0" dirty="0">
              <a:solidFill>
                <a:srgbClr val="2A2119"/>
              </a:solidFill>
              <a:latin typeface="Georgia"/>
            </a:endParaRPr>
          </a:p>
        </p:txBody>
      </p:sp>
      <p:sp>
        <p:nvSpPr>
          <p:cNvPr id="7" name="TextBox 6"/>
          <p:cNvSpPr txBox="1"/>
          <p:nvPr/>
        </p:nvSpPr>
        <p:spPr>
          <a:xfrm>
            <a:off x="987552" y="2560320"/>
            <a:ext cx="4206240" cy="1563626"/>
          </a:xfrm>
          <a:prstGeom prst="rect">
            <a:avLst/>
          </a:prstGeom>
          <a:noFill/>
        </p:spPr>
        <p:txBody>
          <a:bodyPr wrap="square" lIns="0" tIns="0" rIns="0" bIns="0">
            <a:noAutofit/>
          </a:bodyPr>
          <a:lstStyle/>
          <a:p>
            <a:r>
              <a:rPr sz="1600" b="0" dirty="0" err="1">
                <a:solidFill>
                  <a:srgbClr val="726659"/>
                </a:solidFill>
                <a:latin typeface="Aptos"/>
              </a:rPr>
              <a:t>Đây</a:t>
            </a:r>
            <a:r>
              <a:rPr sz="1600" b="0" dirty="0">
                <a:solidFill>
                  <a:srgbClr val="726659"/>
                </a:solidFill>
                <a:latin typeface="Aptos"/>
              </a:rPr>
              <a:t> </a:t>
            </a:r>
            <a:r>
              <a:rPr sz="1600" b="0" dirty="0" err="1">
                <a:solidFill>
                  <a:srgbClr val="726659"/>
                </a:solidFill>
                <a:latin typeface="Aptos"/>
              </a:rPr>
              <a:t>là</a:t>
            </a:r>
            <a:r>
              <a:rPr sz="1600" b="0" dirty="0">
                <a:solidFill>
                  <a:srgbClr val="726659"/>
                </a:solidFill>
                <a:latin typeface="Aptos"/>
              </a:rPr>
              <a:t> </a:t>
            </a:r>
            <a:r>
              <a:rPr sz="1600" b="0" dirty="0" err="1">
                <a:solidFill>
                  <a:srgbClr val="726659"/>
                </a:solidFill>
                <a:latin typeface="Aptos"/>
              </a:rPr>
              <a:t>tổng</a:t>
            </a:r>
            <a:r>
              <a:rPr sz="1600" b="0" dirty="0">
                <a:solidFill>
                  <a:srgbClr val="726659"/>
                </a:solidFill>
                <a:latin typeface="Aptos"/>
              </a:rPr>
              <a:t> </a:t>
            </a:r>
            <a:r>
              <a:rPr sz="1600" b="0" dirty="0" err="1">
                <a:solidFill>
                  <a:srgbClr val="726659"/>
                </a:solidFill>
                <a:latin typeface="Aptos"/>
              </a:rPr>
              <a:t>số</a:t>
            </a:r>
            <a:r>
              <a:rPr sz="1600" b="0" dirty="0">
                <a:solidFill>
                  <a:srgbClr val="726659"/>
                </a:solidFill>
                <a:latin typeface="Aptos"/>
              </a:rPr>
              <a:t> </a:t>
            </a:r>
            <a:r>
              <a:rPr sz="1600" b="0" dirty="0" err="1">
                <a:solidFill>
                  <a:srgbClr val="726659"/>
                </a:solidFill>
                <a:latin typeface="Aptos"/>
              </a:rPr>
              <a:t>đoạn</a:t>
            </a:r>
            <a:r>
              <a:rPr sz="1600" b="0" dirty="0">
                <a:solidFill>
                  <a:srgbClr val="726659"/>
                </a:solidFill>
                <a:latin typeface="Aptos"/>
              </a:rPr>
              <a:t> </a:t>
            </a:r>
            <a:r>
              <a:rPr sz="1600" b="0" dirty="0" err="1">
                <a:solidFill>
                  <a:srgbClr val="726659"/>
                </a:solidFill>
                <a:latin typeface="Aptos"/>
              </a:rPr>
              <a:t>ngắn</a:t>
            </a:r>
            <a:r>
              <a:rPr sz="1600" b="0" dirty="0">
                <a:solidFill>
                  <a:srgbClr val="726659"/>
                </a:solidFill>
                <a:latin typeface="Aptos"/>
              </a:rPr>
              <a:t> </a:t>
            </a:r>
            <a:r>
              <a:rPr sz="1600" b="0" dirty="0" err="1">
                <a:solidFill>
                  <a:srgbClr val="726659"/>
                </a:solidFill>
                <a:latin typeface="Aptos"/>
              </a:rPr>
              <a:t>được</a:t>
            </a:r>
            <a:r>
              <a:rPr sz="1600" b="0" dirty="0">
                <a:solidFill>
                  <a:srgbClr val="726659"/>
                </a:solidFill>
                <a:latin typeface="Aptos"/>
              </a:rPr>
              <a:t> </a:t>
            </a:r>
            <a:r>
              <a:rPr sz="1600" b="0" dirty="0" err="1">
                <a:solidFill>
                  <a:srgbClr val="726659"/>
                </a:solidFill>
                <a:latin typeface="Aptos"/>
              </a:rPr>
              <a:t>tạo</a:t>
            </a:r>
            <a:r>
              <a:rPr sz="1600" b="0" dirty="0">
                <a:solidFill>
                  <a:srgbClr val="726659"/>
                </a:solidFill>
                <a:latin typeface="Aptos"/>
              </a:rPr>
              <a:t> </a:t>
            </a:r>
            <a:r>
              <a:rPr sz="1600" b="0" dirty="0" err="1">
                <a:solidFill>
                  <a:srgbClr val="726659"/>
                </a:solidFill>
                <a:latin typeface="Aptos"/>
              </a:rPr>
              <a:t>ra</a:t>
            </a:r>
            <a:r>
              <a:rPr sz="1600" b="0" dirty="0">
                <a:solidFill>
                  <a:srgbClr val="726659"/>
                </a:solidFill>
                <a:latin typeface="Aptos"/>
              </a:rPr>
              <a:t> </a:t>
            </a:r>
            <a:r>
              <a:rPr sz="1600" b="0" dirty="0" err="1">
                <a:solidFill>
                  <a:srgbClr val="726659"/>
                </a:solidFill>
                <a:latin typeface="Aptos"/>
              </a:rPr>
              <a:t>sau</a:t>
            </a:r>
            <a:r>
              <a:rPr sz="1600" b="0" dirty="0">
                <a:solidFill>
                  <a:srgbClr val="726659"/>
                </a:solidFill>
                <a:latin typeface="Aptos"/>
              </a:rPr>
              <a:t> </a:t>
            </a:r>
            <a:r>
              <a:rPr sz="1600" b="0" dirty="0" err="1">
                <a:solidFill>
                  <a:srgbClr val="726659"/>
                </a:solidFill>
                <a:latin typeface="Aptos"/>
              </a:rPr>
              <a:t>bước</a:t>
            </a:r>
            <a:r>
              <a:rPr sz="1600" b="0" dirty="0">
                <a:solidFill>
                  <a:srgbClr val="726659"/>
                </a:solidFill>
                <a:latin typeface="Aptos"/>
              </a:rPr>
              <a:t> segmentation. </a:t>
            </a:r>
            <a:r>
              <a:rPr sz="1600" b="0" dirty="0" err="1">
                <a:solidFill>
                  <a:srgbClr val="726659"/>
                </a:solidFill>
                <a:latin typeface="Aptos"/>
              </a:rPr>
              <a:t>Mỗi</a:t>
            </a:r>
            <a:r>
              <a:rPr sz="1600" b="0" dirty="0">
                <a:solidFill>
                  <a:srgbClr val="726659"/>
                </a:solidFill>
                <a:latin typeface="Aptos"/>
              </a:rPr>
              <a:t> </a:t>
            </a:r>
            <a:r>
              <a:rPr sz="1600" b="0" dirty="0" err="1">
                <a:solidFill>
                  <a:srgbClr val="726659"/>
                </a:solidFill>
                <a:latin typeface="Aptos"/>
              </a:rPr>
              <a:t>tệp</a:t>
            </a:r>
            <a:r>
              <a:rPr sz="1600" b="0" dirty="0">
                <a:solidFill>
                  <a:srgbClr val="726659"/>
                </a:solidFill>
                <a:latin typeface="Aptos"/>
              </a:rPr>
              <a:t> </a:t>
            </a:r>
            <a:r>
              <a:rPr sz="1600" b="0" dirty="0" err="1">
                <a:solidFill>
                  <a:srgbClr val="726659"/>
                </a:solidFill>
                <a:latin typeface="Aptos"/>
              </a:rPr>
              <a:t>âm</a:t>
            </a:r>
            <a:r>
              <a:rPr sz="1600" b="0" dirty="0">
                <a:solidFill>
                  <a:srgbClr val="726659"/>
                </a:solidFill>
                <a:latin typeface="Aptos"/>
              </a:rPr>
              <a:t> </a:t>
            </a:r>
            <a:r>
              <a:rPr sz="1600" b="0" dirty="0" err="1">
                <a:solidFill>
                  <a:srgbClr val="726659"/>
                </a:solidFill>
                <a:latin typeface="Aptos"/>
              </a:rPr>
              <a:t>thanh</a:t>
            </a:r>
            <a:r>
              <a:rPr sz="1600" b="0" dirty="0">
                <a:solidFill>
                  <a:srgbClr val="726659"/>
                </a:solidFill>
                <a:latin typeface="Aptos"/>
              </a:rPr>
              <a:t> </a:t>
            </a:r>
            <a:r>
              <a:rPr sz="1600" b="0" dirty="0" err="1">
                <a:solidFill>
                  <a:srgbClr val="726659"/>
                </a:solidFill>
                <a:latin typeface="Aptos"/>
              </a:rPr>
              <a:t>được</a:t>
            </a:r>
            <a:r>
              <a:rPr sz="1600" b="0" dirty="0">
                <a:solidFill>
                  <a:srgbClr val="726659"/>
                </a:solidFill>
                <a:latin typeface="Aptos"/>
              </a:rPr>
              <a:t> chia </a:t>
            </a:r>
            <a:r>
              <a:rPr sz="1600" b="0" dirty="0" err="1">
                <a:solidFill>
                  <a:srgbClr val="726659"/>
                </a:solidFill>
                <a:latin typeface="Aptos"/>
              </a:rPr>
              <a:t>thành</a:t>
            </a:r>
            <a:r>
              <a:rPr sz="1600" b="0" dirty="0">
                <a:solidFill>
                  <a:srgbClr val="726659"/>
                </a:solidFill>
                <a:latin typeface="Aptos"/>
              </a:rPr>
              <a:t> </a:t>
            </a:r>
            <a:r>
              <a:rPr sz="1600" b="0" dirty="0" err="1">
                <a:solidFill>
                  <a:srgbClr val="726659"/>
                </a:solidFill>
                <a:latin typeface="Aptos"/>
              </a:rPr>
              <a:t>nhiều</a:t>
            </a:r>
            <a:r>
              <a:rPr sz="1600" b="0" dirty="0">
                <a:solidFill>
                  <a:srgbClr val="726659"/>
                </a:solidFill>
                <a:latin typeface="Aptos"/>
              </a:rPr>
              <a:t> </a:t>
            </a:r>
            <a:r>
              <a:rPr sz="1600" b="0" dirty="0" err="1">
                <a:solidFill>
                  <a:srgbClr val="726659"/>
                </a:solidFill>
                <a:latin typeface="Aptos"/>
              </a:rPr>
              <a:t>cửa</a:t>
            </a:r>
            <a:r>
              <a:rPr sz="1600" b="0" dirty="0">
                <a:solidFill>
                  <a:srgbClr val="726659"/>
                </a:solidFill>
                <a:latin typeface="Aptos"/>
              </a:rPr>
              <a:t> </a:t>
            </a:r>
            <a:r>
              <a:rPr sz="1600" b="0" dirty="0" err="1">
                <a:solidFill>
                  <a:srgbClr val="726659"/>
                </a:solidFill>
                <a:latin typeface="Aptos"/>
              </a:rPr>
              <a:t>sổ</a:t>
            </a:r>
            <a:r>
              <a:rPr sz="1600" b="0" dirty="0">
                <a:solidFill>
                  <a:srgbClr val="726659"/>
                </a:solidFill>
                <a:latin typeface="Aptos"/>
              </a:rPr>
              <a:t> </a:t>
            </a:r>
            <a:r>
              <a:rPr sz="1600" b="0" dirty="0" err="1">
                <a:solidFill>
                  <a:srgbClr val="726659"/>
                </a:solidFill>
                <a:latin typeface="Aptos"/>
              </a:rPr>
              <a:t>nhỏ</a:t>
            </a:r>
            <a:r>
              <a:rPr sz="1600" b="0" dirty="0">
                <a:solidFill>
                  <a:srgbClr val="726659"/>
                </a:solidFill>
                <a:latin typeface="Aptos"/>
              </a:rPr>
              <a:t> </a:t>
            </a:r>
            <a:r>
              <a:rPr sz="1600" b="0" dirty="0" err="1">
                <a:solidFill>
                  <a:srgbClr val="726659"/>
                </a:solidFill>
                <a:latin typeface="Aptos"/>
              </a:rPr>
              <a:t>để</a:t>
            </a:r>
            <a:r>
              <a:rPr sz="1600" b="0" dirty="0">
                <a:solidFill>
                  <a:srgbClr val="726659"/>
                </a:solidFill>
                <a:latin typeface="Aptos"/>
              </a:rPr>
              <a:t> </a:t>
            </a:r>
            <a:r>
              <a:rPr sz="1600" b="0" dirty="0" err="1">
                <a:solidFill>
                  <a:srgbClr val="726659"/>
                </a:solidFill>
                <a:latin typeface="Aptos"/>
              </a:rPr>
              <a:t>hệ</a:t>
            </a:r>
            <a:r>
              <a:rPr sz="1600" b="0" dirty="0">
                <a:solidFill>
                  <a:srgbClr val="726659"/>
                </a:solidFill>
                <a:latin typeface="Aptos"/>
              </a:rPr>
              <a:t> </a:t>
            </a:r>
            <a:r>
              <a:rPr sz="1600" b="0" dirty="0" err="1">
                <a:solidFill>
                  <a:srgbClr val="726659"/>
                </a:solidFill>
                <a:latin typeface="Aptos"/>
              </a:rPr>
              <a:t>thống</a:t>
            </a:r>
            <a:r>
              <a:rPr sz="1600" b="0" dirty="0">
                <a:solidFill>
                  <a:srgbClr val="726659"/>
                </a:solidFill>
                <a:latin typeface="Aptos"/>
              </a:rPr>
              <a:t> </a:t>
            </a:r>
            <a:r>
              <a:rPr sz="1600" b="0" dirty="0" err="1">
                <a:solidFill>
                  <a:srgbClr val="726659"/>
                </a:solidFill>
                <a:latin typeface="Aptos"/>
              </a:rPr>
              <a:t>tính</a:t>
            </a:r>
            <a:r>
              <a:rPr sz="1600" b="0" dirty="0">
                <a:solidFill>
                  <a:srgbClr val="726659"/>
                </a:solidFill>
                <a:latin typeface="Aptos"/>
              </a:rPr>
              <a:t> energy, loudness, pitch </a:t>
            </a:r>
            <a:r>
              <a:rPr sz="1600" b="0" dirty="0" err="1">
                <a:solidFill>
                  <a:srgbClr val="726659"/>
                </a:solidFill>
                <a:latin typeface="Aptos"/>
              </a:rPr>
              <a:t>và</a:t>
            </a:r>
            <a:r>
              <a:rPr sz="1600" b="0" dirty="0">
                <a:solidFill>
                  <a:srgbClr val="726659"/>
                </a:solidFill>
                <a:latin typeface="Aptos"/>
              </a:rPr>
              <a:t> brightness.
Công </a:t>
            </a:r>
            <a:r>
              <a:rPr sz="1600" b="0" dirty="0" err="1">
                <a:solidFill>
                  <a:srgbClr val="726659"/>
                </a:solidFill>
                <a:latin typeface="Aptos"/>
              </a:rPr>
              <a:t>thức</a:t>
            </a:r>
            <a:r>
              <a:rPr sz="1600" b="0" dirty="0">
                <a:solidFill>
                  <a:srgbClr val="726659"/>
                </a:solidFill>
                <a:latin typeface="Aptos"/>
              </a:rPr>
              <a:t> chia segment:
</a:t>
            </a:r>
            <a:r>
              <a:rPr sz="1600" b="0" dirty="0" err="1">
                <a:solidFill>
                  <a:srgbClr val="726659"/>
                </a:solidFill>
                <a:latin typeface="Aptos"/>
              </a:rPr>
              <a:t>segmentCount</a:t>
            </a:r>
            <a:r>
              <a:rPr sz="1600" b="0" dirty="0">
                <a:solidFill>
                  <a:srgbClr val="726659"/>
                </a:solidFill>
                <a:latin typeface="Aptos"/>
              </a:rPr>
              <a:t> = floor((</a:t>
            </a:r>
            <a:r>
              <a:rPr sz="1600" b="0" dirty="0" err="1">
                <a:solidFill>
                  <a:srgbClr val="726659"/>
                </a:solidFill>
                <a:latin typeface="Aptos"/>
              </a:rPr>
              <a:t>sampleCount</a:t>
            </a:r>
            <a:r>
              <a:rPr sz="1600" b="0" dirty="0">
                <a:solidFill>
                  <a:srgbClr val="726659"/>
                </a:solidFill>
                <a:latin typeface="Aptos"/>
              </a:rPr>
              <a:t> - </a:t>
            </a:r>
            <a:r>
              <a:rPr sz="1600" b="0" dirty="0" err="1">
                <a:solidFill>
                  <a:srgbClr val="726659"/>
                </a:solidFill>
                <a:latin typeface="Aptos"/>
              </a:rPr>
              <a:t>windowSize</a:t>
            </a:r>
            <a:r>
              <a:rPr sz="1600" b="0" dirty="0">
                <a:solidFill>
                  <a:srgbClr val="726659"/>
                </a:solidFill>
                <a:latin typeface="Aptos"/>
              </a:rPr>
              <a:t>) / </a:t>
            </a:r>
            <a:r>
              <a:rPr sz="1600" b="0" dirty="0" err="1">
                <a:solidFill>
                  <a:srgbClr val="726659"/>
                </a:solidFill>
                <a:latin typeface="Aptos"/>
              </a:rPr>
              <a:t>hopSize</a:t>
            </a:r>
            <a:r>
              <a:rPr sz="1600" b="0" dirty="0">
                <a:solidFill>
                  <a:srgbClr val="726659"/>
                </a:solidFill>
                <a:latin typeface="Aptos"/>
              </a:rPr>
              <a:t>) + 1</a:t>
            </a:r>
          </a:p>
        </p:txBody>
      </p:sp>
      <p:sp>
        <p:nvSpPr>
          <p:cNvPr id="8" name="TextBox 7"/>
          <p:cNvSpPr txBox="1"/>
          <p:nvPr/>
        </p:nvSpPr>
        <p:spPr>
          <a:xfrm>
            <a:off x="987552" y="4590289"/>
            <a:ext cx="4160520" cy="320040"/>
          </a:xfrm>
          <a:prstGeom prst="rect">
            <a:avLst/>
          </a:prstGeom>
          <a:noFill/>
        </p:spPr>
        <p:txBody>
          <a:bodyPr wrap="square" lIns="0" tIns="0" rIns="0" bIns="0">
            <a:noAutofit/>
          </a:bodyPr>
          <a:lstStyle/>
          <a:p>
            <a:r>
              <a:rPr sz="1600" b="0" dirty="0">
                <a:solidFill>
                  <a:srgbClr val="726659"/>
                </a:solidFill>
                <a:latin typeface="Aptos"/>
              </a:rPr>
              <a:t>Ý </a:t>
            </a:r>
            <a:r>
              <a:rPr sz="1600" b="0" dirty="0" err="1">
                <a:solidFill>
                  <a:srgbClr val="726659"/>
                </a:solidFill>
                <a:latin typeface="Aptos"/>
              </a:rPr>
              <a:t>nghĩa</a:t>
            </a:r>
            <a:r>
              <a:rPr sz="1600" b="0" dirty="0">
                <a:solidFill>
                  <a:srgbClr val="726659"/>
                </a:solidFill>
                <a:latin typeface="Aptos"/>
              </a:rPr>
              <a:t>: </a:t>
            </a:r>
            <a:r>
              <a:rPr sz="1600" b="0" dirty="0" err="1">
                <a:solidFill>
                  <a:srgbClr val="726659"/>
                </a:solidFill>
                <a:latin typeface="Aptos"/>
              </a:rPr>
              <a:t>số</a:t>
            </a:r>
            <a:r>
              <a:rPr sz="1600" b="0" dirty="0">
                <a:solidFill>
                  <a:srgbClr val="726659"/>
                </a:solidFill>
                <a:latin typeface="Aptos"/>
              </a:rPr>
              <a:t> </a:t>
            </a:r>
            <a:r>
              <a:rPr sz="1600" b="0" dirty="0" err="1">
                <a:solidFill>
                  <a:srgbClr val="726659"/>
                </a:solidFill>
                <a:latin typeface="Aptos"/>
              </a:rPr>
              <a:t>này</a:t>
            </a:r>
            <a:r>
              <a:rPr sz="1600" b="0" dirty="0">
                <a:solidFill>
                  <a:srgbClr val="726659"/>
                </a:solidFill>
                <a:latin typeface="Aptos"/>
              </a:rPr>
              <a:t> </a:t>
            </a:r>
            <a:r>
              <a:rPr sz="1600" b="0" dirty="0" err="1">
                <a:solidFill>
                  <a:srgbClr val="726659"/>
                </a:solidFill>
                <a:latin typeface="Aptos"/>
              </a:rPr>
              <a:t>càng</a:t>
            </a:r>
            <a:r>
              <a:rPr sz="1600" b="0" dirty="0">
                <a:solidFill>
                  <a:srgbClr val="726659"/>
                </a:solidFill>
                <a:latin typeface="Aptos"/>
              </a:rPr>
              <a:t> </a:t>
            </a:r>
            <a:r>
              <a:rPr sz="1600" b="0" dirty="0" err="1">
                <a:solidFill>
                  <a:srgbClr val="726659"/>
                </a:solidFill>
                <a:latin typeface="Aptos"/>
              </a:rPr>
              <a:t>lớn</a:t>
            </a:r>
            <a:r>
              <a:rPr sz="1600" b="0" dirty="0">
                <a:solidFill>
                  <a:srgbClr val="726659"/>
                </a:solidFill>
                <a:latin typeface="Aptos"/>
              </a:rPr>
              <a:t> </a:t>
            </a:r>
            <a:r>
              <a:rPr sz="1600" b="0" dirty="0" err="1">
                <a:solidFill>
                  <a:srgbClr val="726659"/>
                </a:solidFill>
                <a:latin typeface="Aptos"/>
              </a:rPr>
              <a:t>thì</a:t>
            </a:r>
            <a:r>
              <a:rPr sz="1600" b="0" dirty="0">
                <a:solidFill>
                  <a:srgbClr val="726659"/>
                </a:solidFill>
                <a:latin typeface="Aptos"/>
              </a:rPr>
              <a:t> </a:t>
            </a:r>
            <a:r>
              <a:rPr sz="1600" b="0" dirty="0" err="1">
                <a:solidFill>
                  <a:srgbClr val="726659"/>
                </a:solidFill>
                <a:latin typeface="Aptos"/>
              </a:rPr>
              <a:t>mức</a:t>
            </a:r>
            <a:r>
              <a:rPr sz="1600" b="0" dirty="0">
                <a:solidFill>
                  <a:srgbClr val="726659"/>
                </a:solidFill>
                <a:latin typeface="Aptos"/>
              </a:rPr>
              <a:t> </a:t>
            </a:r>
            <a:r>
              <a:rPr sz="1600" b="0" dirty="0" err="1">
                <a:solidFill>
                  <a:srgbClr val="726659"/>
                </a:solidFill>
                <a:latin typeface="Aptos"/>
              </a:rPr>
              <a:t>phân</a:t>
            </a:r>
            <a:r>
              <a:rPr sz="1600" b="0" dirty="0">
                <a:solidFill>
                  <a:srgbClr val="726659"/>
                </a:solidFill>
                <a:latin typeface="Aptos"/>
              </a:rPr>
              <a:t> </a:t>
            </a:r>
            <a:r>
              <a:rPr sz="1600" b="0" dirty="0" err="1">
                <a:solidFill>
                  <a:srgbClr val="726659"/>
                </a:solidFill>
                <a:latin typeface="Aptos"/>
              </a:rPr>
              <a:t>tích</a:t>
            </a:r>
            <a:r>
              <a:rPr sz="1600" b="0" dirty="0">
                <a:solidFill>
                  <a:srgbClr val="726659"/>
                </a:solidFill>
                <a:latin typeface="Aptos"/>
              </a:rPr>
              <a:t> </a:t>
            </a:r>
            <a:r>
              <a:rPr sz="1600" b="0" dirty="0" err="1">
                <a:solidFill>
                  <a:srgbClr val="726659"/>
                </a:solidFill>
                <a:latin typeface="Aptos"/>
              </a:rPr>
              <a:t>theo</a:t>
            </a:r>
            <a:r>
              <a:rPr sz="1600" b="0" dirty="0">
                <a:solidFill>
                  <a:srgbClr val="726659"/>
                </a:solidFill>
                <a:latin typeface="Aptos"/>
              </a:rPr>
              <a:t> </a:t>
            </a:r>
            <a:r>
              <a:rPr sz="1600" b="0" dirty="0" err="1">
                <a:solidFill>
                  <a:srgbClr val="726659"/>
                </a:solidFill>
                <a:latin typeface="Aptos"/>
              </a:rPr>
              <a:t>thời</a:t>
            </a:r>
            <a:r>
              <a:rPr sz="1600" b="0" dirty="0">
                <a:solidFill>
                  <a:srgbClr val="726659"/>
                </a:solidFill>
                <a:latin typeface="Aptos"/>
              </a:rPr>
              <a:t> </a:t>
            </a:r>
            <a:r>
              <a:rPr sz="1600" b="0" dirty="0" err="1">
                <a:solidFill>
                  <a:srgbClr val="726659"/>
                </a:solidFill>
                <a:latin typeface="Aptos"/>
              </a:rPr>
              <a:t>gian</a:t>
            </a:r>
            <a:r>
              <a:rPr sz="1600" b="0" dirty="0">
                <a:solidFill>
                  <a:srgbClr val="726659"/>
                </a:solidFill>
                <a:latin typeface="Aptos"/>
              </a:rPr>
              <a:t> </a:t>
            </a:r>
            <a:r>
              <a:rPr sz="1600" b="0" dirty="0" err="1">
                <a:solidFill>
                  <a:srgbClr val="726659"/>
                </a:solidFill>
                <a:latin typeface="Aptos"/>
              </a:rPr>
              <a:t>càng</a:t>
            </a:r>
            <a:r>
              <a:rPr sz="1600" b="0" dirty="0">
                <a:solidFill>
                  <a:srgbClr val="726659"/>
                </a:solidFill>
                <a:latin typeface="Aptos"/>
              </a:rPr>
              <a:t> chi </a:t>
            </a:r>
            <a:r>
              <a:rPr sz="1600" b="0" dirty="0" err="1">
                <a:solidFill>
                  <a:srgbClr val="726659"/>
                </a:solidFill>
                <a:latin typeface="Aptos"/>
              </a:rPr>
              <a:t>tiết</a:t>
            </a:r>
            <a:r>
              <a:rPr sz="1600" b="0" dirty="0">
                <a:solidFill>
                  <a:srgbClr val="726659"/>
                </a:solidFill>
                <a:latin typeface="Aptos"/>
              </a:rPr>
              <a:t>.</a:t>
            </a:r>
          </a:p>
        </p:txBody>
      </p:sp>
      <p:sp>
        <p:nvSpPr>
          <p:cNvPr id="9" name="Rounded Rectangle 8"/>
          <p:cNvSpPr/>
          <p:nvPr/>
        </p:nvSpPr>
        <p:spPr>
          <a:xfrm>
            <a:off x="6217920" y="1828800"/>
            <a:ext cx="5074920" cy="3547872"/>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55664" y="2084831"/>
            <a:ext cx="2377440" cy="530352"/>
          </a:xfrm>
          <a:prstGeom prst="rect">
            <a:avLst/>
          </a:prstGeom>
          <a:noFill/>
        </p:spPr>
        <p:txBody>
          <a:bodyPr wrap="square" lIns="0" tIns="0" rIns="0" bIns="0">
            <a:normAutofit/>
          </a:bodyPr>
          <a:lstStyle/>
          <a:p>
            <a:r>
              <a:rPr sz="2400" b="0">
                <a:solidFill>
                  <a:srgbClr val="2A2119"/>
                </a:solidFill>
                <a:latin typeface="Georgia"/>
              </a:rPr>
              <a:t>Token metadata</a:t>
            </a:r>
          </a:p>
        </p:txBody>
      </p:sp>
      <p:sp>
        <p:nvSpPr>
          <p:cNvPr id="11" name="TextBox 10"/>
          <p:cNvSpPr txBox="1"/>
          <p:nvPr/>
        </p:nvSpPr>
        <p:spPr>
          <a:xfrm>
            <a:off x="6455664" y="2560320"/>
            <a:ext cx="4160520" cy="1837944"/>
          </a:xfrm>
          <a:prstGeom prst="rect">
            <a:avLst/>
          </a:prstGeom>
          <a:noFill/>
        </p:spPr>
        <p:txBody>
          <a:bodyPr wrap="square" lIns="0" tIns="0" rIns="0" bIns="0">
            <a:normAutofit lnSpcReduction="10000"/>
          </a:bodyPr>
          <a:lstStyle/>
          <a:p>
            <a:r>
              <a:rPr sz="1600" b="0" dirty="0" err="1">
                <a:solidFill>
                  <a:srgbClr val="726659"/>
                </a:solidFill>
                <a:latin typeface="Aptos"/>
              </a:rPr>
              <a:t>Đây</a:t>
            </a:r>
            <a:r>
              <a:rPr sz="1600" b="0" dirty="0">
                <a:solidFill>
                  <a:srgbClr val="726659"/>
                </a:solidFill>
                <a:latin typeface="Aptos"/>
              </a:rPr>
              <a:t> </a:t>
            </a:r>
            <a:r>
              <a:rPr sz="1600" b="0" dirty="0" err="1">
                <a:solidFill>
                  <a:srgbClr val="726659"/>
                </a:solidFill>
                <a:latin typeface="Aptos"/>
              </a:rPr>
              <a:t>là</a:t>
            </a:r>
            <a:r>
              <a:rPr sz="1600" b="0" dirty="0">
                <a:solidFill>
                  <a:srgbClr val="726659"/>
                </a:solidFill>
                <a:latin typeface="Aptos"/>
              </a:rPr>
              <a:t> </a:t>
            </a:r>
            <a:r>
              <a:rPr sz="1600" b="0" dirty="0" err="1">
                <a:solidFill>
                  <a:srgbClr val="726659"/>
                </a:solidFill>
                <a:latin typeface="Aptos"/>
              </a:rPr>
              <a:t>tổng</a:t>
            </a:r>
            <a:r>
              <a:rPr sz="1600" b="0" dirty="0">
                <a:solidFill>
                  <a:srgbClr val="726659"/>
                </a:solidFill>
                <a:latin typeface="Aptos"/>
              </a:rPr>
              <a:t> </a:t>
            </a:r>
            <a:r>
              <a:rPr sz="1600" b="0" dirty="0" err="1">
                <a:solidFill>
                  <a:srgbClr val="726659"/>
                </a:solidFill>
                <a:latin typeface="Aptos"/>
              </a:rPr>
              <a:t>số</a:t>
            </a:r>
            <a:r>
              <a:rPr sz="1600" b="0" dirty="0">
                <a:solidFill>
                  <a:srgbClr val="726659"/>
                </a:solidFill>
                <a:latin typeface="Aptos"/>
              </a:rPr>
              <a:t> </a:t>
            </a:r>
            <a:r>
              <a:rPr sz="1600" b="0" dirty="0" err="1">
                <a:solidFill>
                  <a:srgbClr val="726659"/>
                </a:solidFill>
                <a:latin typeface="Aptos"/>
              </a:rPr>
              <a:t>từ</a:t>
            </a:r>
            <a:r>
              <a:rPr sz="1600" b="0" dirty="0">
                <a:solidFill>
                  <a:srgbClr val="726659"/>
                </a:solidFill>
                <a:latin typeface="Aptos"/>
              </a:rPr>
              <a:t> </a:t>
            </a:r>
            <a:r>
              <a:rPr sz="1600" b="0" dirty="0" err="1">
                <a:solidFill>
                  <a:srgbClr val="726659"/>
                </a:solidFill>
                <a:latin typeface="Aptos"/>
              </a:rPr>
              <a:t>khóa</a:t>
            </a:r>
            <a:r>
              <a:rPr sz="1600" b="0" dirty="0">
                <a:solidFill>
                  <a:srgbClr val="726659"/>
                </a:solidFill>
                <a:latin typeface="Aptos"/>
              </a:rPr>
              <a:t> </a:t>
            </a:r>
            <a:r>
              <a:rPr sz="1600" b="0" dirty="0" err="1">
                <a:solidFill>
                  <a:srgbClr val="726659"/>
                </a:solidFill>
                <a:latin typeface="Aptos"/>
              </a:rPr>
              <a:t>mô</a:t>
            </a:r>
            <a:r>
              <a:rPr sz="1600" b="0" dirty="0">
                <a:solidFill>
                  <a:srgbClr val="726659"/>
                </a:solidFill>
                <a:latin typeface="Aptos"/>
              </a:rPr>
              <a:t> </a:t>
            </a:r>
            <a:r>
              <a:rPr sz="1600" b="0" dirty="0" err="1">
                <a:solidFill>
                  <a:srgbClr val="726659"/>
                </a:solidFill>
                <a:latin typeface="Aptos"/>
              </a:rPr>
              <a:t>tả</a:t>
            </a:r>
            <a:r>
              <a:rPr sz="1600" b="0" dirty="0">
                <a:solidFill>
                  <a:srgbClr val="726659"/>
                </a:solidFill>
                <a:latin typeface="Aptos"/>
              </a:rPr>
              <a:t> </a:t>
            </a:r>
            <a:r>
              <a:rPr sz="1600" b="0" dirty="0" err="1">
                <a:solidFill>
                  <a:srgbClr val="726659"/>
                </a:solidFill>
                <a:latin typeface="Aptos"/>
              </a:rPr>
              <a:t>được</a:t>
            </a:r>
            <a:r>
              <a:rPr sz="1600" b="0" dirty="0">
                <a:solidFill>
                  <a:srgbClr val="726659"/>
                </a:solidFill>
                <a:latin typeface="Aptos"/>
              </a:rPr>
              <a:t> </a:t>
            </a:r>
            <a:r>
              <a:rPr sz="1600" b="0" dirty="0" err="1">
                <a:solidFill>
                  <a:srgbClr val="726659"/>
                </a:solidFill>
                <a:latin typeface="Aptos"/>
              </a:rPr>
              <a:t>tách</a:t>
            </a:r>
            <a:r>
              <a:rPr sz="1600" b="0" dirty="0">
                <a:solidFill>
                  <a:srgbClr val="726659"/>
                </a:solidFill>
                <a:latin typeface="Aptos"/>
              </a:rPr>
              <a:t> </a:t>
            </a:r>
            <a:r>
              <a:rPr sz="1600" b="0" dirty="0" err="1">
                <a:solidFill>
                  <a:srgbClr val="726659"/>
                </a:solidFill>
                <a:latin typeface="Aptos"/>
              </a:rPr>
              <a:t>ra</a:t>
            </a:r>
            <a:r>
              <a:rPr sz="1600" b="0" dirty="0">
                <a:solidFill>
                  <a:srgbClr val="726659"/>
                </a:solidFill>
                <a:latin typeface="Aptos"/>
              </a:rPr>
              <a:t> </a:t>
            </a:r>
            <a:r>
              <a:rPr sz="1600" b="0" dirty="0" err="1">
                <a:solidFill>
                  <a:srgbClr val="726659"/>
                </a:solidFill>
                <a:latin typeface="Aptos"/>
              </a:rPr>
              <a:t>và</a:t>
            </a:r>
            <a:r>
              <a:rPr sz="1600" b="0" dirty="0">
                <a:solidFill>
                  <a:srgbClr val="726659"/>
                </a:solidFill>
                <a:latin typeface="Aptos"/>
              </a:rPr>
              <a:t> </a:t>
            </a:r>
            <a:r>
              <a:rPr sz="1600" b="0" dirty="0" err="1">
                <a:solidFill>
                  <a:srgbClr val="726659"/>
                </a:solidFill>
                <a:latin typeface="Aptos"/>
              </a:rPr>
              <a:t>đưa</a:t>
            </a:r>
            <a:r>
              <a:rPr sz="1600" b="0" dirty="0">
                <a:solidFill>
                  <a:srgbClr val="726659"/>
                </a:solidFill>
                <a:latin typeface="Aptos"/>
              </a:rPr>
              <a:t> </a:t>
            </a:r>
            <a:r>
              <a:rPr sz="1600" b="0" dirty="0" err="1">
                <a:solidFill>
                  <a:srgbClr val="726659"/>
                </a:solidFill>
                <a:latin typeface="Aptos"/>
              </a:rPr>
              <a:t>vào</a:t>
            </a:r>
            <a:r>
              <a:rPr sz="1600" b="0" dirty="0">
                <a:solidFill>
                  <a:srgbClr val="726659"/>
                </a:solidFill>
                <a:latin typeface="Aptos"/>
              </a:rPr>
              <a:t> </a:t>
            </a:r>
            <a:r>
              <a:rPr sz="1600" b="0" dirty="0" err="1">
                <a:solidFill>
                  <a:srgbClr val="726659"/>
                </a:solidFill>
                <a:latin typeface="Aptos"/>
              </a:rPr>
              <a:t>chỉ</a:t>
            </a:r>
            <a:r>
              <a:rPr sz="1600" b="0" dirty="0">
                <a:solidFill>
                  <a:srgbClr val="726659"/>
                </a:solidFill>
                <a:latin typeface="Aptos"/>
              </a:rPr>
              <a:t> </a:t>
            </a:r>
            <a:r>
              <a:rPr sz="1600" b="0" dirty="0" err="1">
                <a:solidFill>
                  <a:srgbClr val="726659"/>
                </a:solidFill>
                <a:latin typeface="Aptos"/>
              </a:rPr>
              <a:t>mục</a:t>
            </a:r>
            <a:r>
              <a:rPr sz="1600" b="0" dirty="0">
                <a:solidFill>
                  <a:srgbClr val="726659"/>
                </a:solidFill>
                <a:latin typeface="Aptos"/>
              </a:rPr>
              <a:t> </a:t>
            </a:r>
            <a:r>
              <a:rPr sz="1600" b="0" dirty="0" err="1">
                <a:solidFill>
                  <a:srgbClr val="726659"/>
                </a:solidFill>
                <a:latin typeface="Aptos"/>
              </a:rPr>
              <a:t>đảo</a:t>
            </a:r>
            <a:r>
              <a:rPr sz="1600" b="0" dirty="0">
                <a:solidFill>
                  <a:srgbClr val="726659"/>
                </a:solidFill>
                <a:latin typeface="Aptos"/>
              </a:rPr>
              <a:t> metadata. Các token </a:t>
            </a:r>
            <a:r>
              <a:rPr sz="1600" b="0" dirty="0" err="1">
                <a:solidFill>
                  <a:srgbClr val="726659"/>
                </a:solidFill>
                <a:latin typeface="Aptos"/>
              </a:rPr>
              <a:t>đến</a:t>
            </a:r>
            <a:r>
              <a:rPr sz="1600" b="0" dirty="0">
                <a:solidFill>
                  <a:srgbClr val="726659"/>
                </a:solidFill>
                <a:latin typeface="Aptos"/>
              </a:rPr>
              <a:t> </a:t>
            </a:r>
            <a:r>
              <a:rPr sz="1600" b="0" dirty="0" err="1">
                <a:solidFill>
                  <a:srgbClr val="726659"/>
                </a:solidFill>
                <a:latin typeface="Aptos"/>
              </a:rPr>
              <a:t>từ</a:t>
            </a:r>
            <a:r>
              <a:rPr sz="1600" b="0" dirty="0">
                <a:solidFill>
                  <a:srgbClr val="726659"/>
                </a:solidFill>
                <a:latin typeface="Aptos"/>
              </a:rPr>
              <a:t> </a:t>
            </a:r>
            <a:r>
              <a:rPr sz="1600" b="0" dirty="0" err="1">
                <a:solidFill>
                  <a:srgbClr val="726659"/>
                </a:solidFill>
                <a:latin typeface="Aptos"/>
              </a:rPr>
              <a:t>tiêu</a:t>
            </a:r>
            <a:r>
              <a:rPr sz="1600" b="0" dirty="0">
                <a:solidFill>
                  <a:srgbClr val="726659"/>
                </a:solidFill>
                <a:latin typeface="Aptos"/>
              </a:rPr>
              <a:t> </a:t>
            </a:r>
            <a:r>
              <a:rPr sz="1600" b="0" dirty="0" err="1">
                <a:solidFill>
                  <a:srgbClr val="726659"/>
                </a:solidFill>
                <a:latin typeface="Aptos"/>
              </a:rPr>
              <a:t>đề</a:t>
            </a:r>
            <a:r>
              <a:rPr sz="1600" b="0" dirty="0">
                <a:solidFill>
                  <a:srgbClr val="726659"/>
                </a:solidFill>
                <a:latin typeface="Aptos"/>
              </a:rPr>
              <a:t>, </a:t>
            </a:r>
            <a:r>
              <a:rPr sz="1600" b="0" dirty="0" err="1">
                <a:solidFill>
                  <a:srgbClr val="726659"/>
                </a:solidFill>
                <a:latin typeface="Aptos"/>
              </a:rPr>
              <a:t>mô</a:t>
            </a:r>
            <a:r>
              <a:rPr sz="1600" b="0" dirty="0">
                <a:solidFill>
                  <a:srgbClr val="726659"/>
                </a:solidFill>
                <a:latin typeface="Aptos"/>
              </a:rPr>
              <a:t> </a:t>
            </a:r>
            <a:r>
              <a:rPr sz="1600" b="0" dirty="0" err="1">
                <a:solidFill>
                  <a:srgbClr val="726659"/>
                </a:solidFill>
                <a:latin typeface="Aptos"/>
              </a:rPr>
              <a:t>tả</a:t>
            </a:r>
            <a:r>
              <a:rPr sz="1600" b="0" dirty="0">
                <a:solidFill>
                  <a:srgbClr val="726659"/>
                </a:solidFill>
                <a:latin typeface="Aptos"/>
              </a:rPr>
              <a:t>, </a:t>
            </a:r>
            <a:r>
              <a:rPr sz="1600" b="0" dirty="0" err="1">
                <a:solidFill>
                  <a:srgbClr val="726659"/>
                </a:solidFill>
                <a:latin typeface="Aptos"/>
              </a:rPr>
              <a:t>danh</a:t>
            </a:r>
            <a:r>
              <a:rPr sz="1600" b="0" dirty="0">
                <a:solidFill>
                  <a:srgbClr val="726659"/>
                </a:solidFill>
                <a:latin typeface="Aptos"/>
              </a:rPr>
              <a:t> </a:t>
            </a:r>
            <a:r>
              <a:rPr sz="1600" b="0" dirty="0" err="1">
                <a:solidFill>
                  <a:srgbClr val="726659"/>
                </a:solidFill>
                <a:latin typeface="Aptos"/>
              </a:rPr>
              <a:t>mục</a:t>
            </a:r>
            <a:r>
              <a:rPr sz="1600" b="0" dirty="0">
                <a:solidFill>
                  <a:srgbClr val="726659"/>
                </a:solidFill>
                <a:latin typeface="Aptos"/>
              </a:rPr>
              <a:t>, </a:t>
            </a:r>
            <a:r>
              <a:rPr sz="1600" b="0" dirty="0" err="1">
                <a:solidFill>
                  <a:srgbClr val="726659"/>
                </a:solidFill>
                <a:latin typeface="Aptos"/>
              </a:rPr>
              <a:t>thẻ</a:t>
            </a:r>
            <a:r>
              <a:rPr sz="1600" b="0" dirty="0">
                <a:solidFill>
                  <a:srgbClr val="726659"/>
                </a:solidFill>
                <a:latin typeface="Aptos"/>
              </a:rPr>
              <a:t> </a:t>
            </a:r>
            <a:r>
              <a:rPr sz="1600" b="0" dirty="0" err="1">
                <a:solidFill>
                  <a:srgbClr val="726659"/>
                </a:solidFill>
                <a:latin typeface="Aptos"/>
              </a:rPr>
              <a:t>và</a:t>
            </a:r>
            <a:r>
              <a:rPr sz="1600" b="0" dirty="0">
                <a:solidFill>
                  <a:srgbClr val="726659"/>
                </a:solidFill>
                <a:latin typeface="Aptos"/>
              </a:rPr>
              <a:t> </a:t>
            </a:r>
            <a:r>
              <a:rPr sz="1600" b="0" dirty="0" err="1">
                <a:solidFill>
                  <a:srgbClr val="726659"/>
                </a:solidFill>
                <a:latin typeface="Aptos"/>
              </a:rPr>
              <a:t>các</a:t>
            </a:r>
            <a:r>
              <a:rPr sz="1600" b="0" dirty="0">
                <a:solidFill>
                  <a:srgbClr val="726659"/>
                </a:solidFill>
                <a:latin typeface="Aptos"/>
              </a:rPr>
              <a:t> </a:t>
            </a:r>
            <a:r>
              <a:rPr sz="1600" b="0" dirty="0" err="1">
                <a:solidFill>
                  <a:srgbClr val="726659"/>
                </a:solidFill>
                <a:latin typeface="Aptos"/>
              </a:rPr>
              <a:t>trường</a:t>
            </a:r>
            <a:r>
              <a:rPr sz="1600" b="0" dirty="0">
                <a:solidFill>
                  <a:srgbClr val="726659"/>
                </a:solidFill>
                <a:latin typeface="Aptos"/>
              </a:rPr>
              <a:t> metadata </a:t>
            </a:r>
            <a:r>
              <a:rPr sz="1600" b="0" dirty="0" err="1">
                <a:solidFill>
                  <a:srgbClr val="726659"/>
                </a:solidFill>
                <a:latin typeface="Aptos"/>
              </a:rPr>
              <a:t>khác</a:t>
            </a:r>
            <a:r>
              <a:rPr sz="1600" b="0" dirty="0">
                <a:solidFill>
                  <a:srgbClr val="726659"/>
                </a:solidFill>
                <a:latin typeface="Aptos"/>
              </a:rPr>
              <a:t>.
</a:t>
            </a:r>
            <a:r>
              <a:rPr sz="1600" b="0" dirty="0" err="1">
                <a:solidFill>
                  <a:srgbClr val="726659"/>
                </a:solidFill>
                <a:latin typeface="Aptos"/>
              </a:rPr>
              <a:t>Ví</a:t>
            </a:r>
            <a:r>
              <a:rPr sz="1600" b="0" dirty="0">
                <a:solidFill>
                  <a:srgbClr val="726659"/>
                </a:solidFill>
                <a:latin typeface="Aptos"/>
              </a:rPr>
              <a:t> </a:t>
            </a:r>
            <a:r>
              <a:rPr sz="1600" b="0" dirty="0" err="1">
                <a:solidFill>
                  <a:srgbClr val="726659"/>
                </a:solidFill>
                <a:latin typeface="Aptos"/>
              </a:rPr>
              <a:t>dụ</a:t>
            </a:r>
            <a:r>
              <a:rPr sz="1600" b="0" dirty="0">
                <a:solidFill>
                  <a:srgbClr val="726659"/>
                </a:solidFill>
                <a:latin typeface="Aptos"/>
              </a:rPr>
              <a:t>:
"</a:t>
            </a:r>
            <a:r>
              <a:rPr sz="1600" b="0" dirty="0" err="1">
                <a:solidFill>
                  <a:srgbClr val="726659"/>
                </a:solidFill>
                <a:latin typeface="Aptos"/>
              </a:rPr>
              <a:t>Tiếng</a:t>
            </a:r>
            <a:r>
              <a:rPr sz="1600" b="0" dirty="0">
                <a:solidFill>
                  <a:srgbClr val="726659"/>
                </a:solidFill>
                <a:latin typeface="Aptos"/>
              </a:rPr>
              <a:t> </a:t>
            </a:r>
            <a:r>
              <a:rPr sz="1600" b="0" dirty="0" err="1">
                <a:solidFill>
                  <a:srgbClr val="726659"/>
                </a:solidFill>
                <a:latin typeface="Aptos"/>
              </a:rPr>
              <a:t>chuông</a:t>
            </a:r>
            <a:r>
              <a:rPr sz="1600" b="0" dirty="0">
                <a:solidFill>
                  <a:srgbClr val="726659"/>
                </a:solidFill>
                <a:latin typeface="Aptos"/>
              </a:rPr>
              <a:t> </a:t>
            </a:r>
            <a:r>
              <a:rPr sz="1600" b="0" dirty="0" err="1">
                <a:solidFill>
                  <a:srgbClr val="726659"/>
                </a:solidFill>
                <a:latin typeface="Aptos"/>
              </a:rPr>
              <a:t>cảnh</a:t>
            </a:r>
            <a:r>
              <a:rPr sz="1600" b="0" dirty="0">
                <a:solidFill>
                  <a:srgbClr val="726659"/>
                </a:solidFill>
                <a:latin typeface="Aptos"/>
              </a:rPr>
              <a:t> </a:t>
            </a:r>
            <a:r>
              <a:rPr sz="1600" b="0" dirty="0" err="1">
                <a:solidFill>
                  <a:srgbClr val="726659"/>
                </a:solidFill>
                <a:latin typeface="Aptos"/>
              </a:rPr>
              <a:t>báo</a:t>
            </a:r>
            <a:r>
              <a:rPr sz="1600" b="0" dirty="0">
                <a:solidFill>
                  <a:srgbClr val="726659"/>
                </a:solidFill>
                <a:latin typeface="Aptos"/>
              </a:rPr>
              <a:t>" → ["</a:t>
            </a:r>
            <a:r>
              <a:rPr sz="1600" b="0" dirty="0" err="1">
                <a:solidFill>
                  <a:srgbClr val="726659"/>
                </a:solidFill>
                <a:latin typeface="Aptos"/>
              </a:rPr>
              <a:t>tiếng</a:t>
            </a:r>
            <a:r>
              <a:rPr sz="1600" b="0" dirty="0">
                <a:solidFill>
                  <a:srgbClr val="726659"/>
                </a:solidFill>
                <a:latin typeface="Aptos"/>
              </a:rPr>
              <a:t>", "</a:t>
            </a:r>
            <a:r>
              <a:rPr sz="1600" b="0" dirty="0" err="1">
                <a:solidFill>
                  <a:srgbClr val="726659"/>
                </a:solidFill>
                <a:latin typeface="Aptos"/>
              </a:rPr>
              <a:t>chuông</a:t>
            </a:r>
            <a:r>
              <a:rPr sz="1600" b="0" dirty="0">
                <a:solidFill>
                  <a:srgbClr val="726659"/>
                </a:solidFill>
                <a:latin typeface="Aptos"/>
              </a:rPr>
              <a:t>", "</a:t>
            </a:r>
            <a:r>
              <a:rPr sz="1600" b="0" dirty="0" err="1">
                <a:solidFill>
                  <a:srgbClr val="726659"/>
                </a:solidFill>
                <a:latin typeface="Aptos"/>
              </a:rPr>
              <a:t>cảnh</a:t>
            </a:r>
            <a:r>
              <a:rPr sz="1600" b="0" dirty="0">
                <a:solidFill>
                  <a:srgbClr val="726659"/>
                </a:solidFill>
                <a:latin typeface="Aptos"/>
              </a:rPr>
              <a:t>", "</a:t>
            </a:r>
            <a:r>
              <a:rPr sz="1600" b="0" dirty="0" err="1">
                <a:solidFill>
                  <a:srgbClr val="726659"/>
                </a:solidFill>
                <a:latin typeface="Aptos"/>
              </a:rPr>
              <a:t>báo</a:t>
            </a:r>
            <a:r>
              <a:rPr sz="1600" b="0" dirty="0">
                <a:solidFill>
                  <a:srgbClr val="726659"/>
                </a:solidFill>
                <a:latin typeface="Aptos"/>
              </a:rPr>
              <a:t>"]</a:t>
            </a:r>
          </a:p>
        </p:txBody>
      </p:sp>
      <p:sp>
        <p:nvSpPr>
          <p:cNvPr id="12" name="TextBox 11"/>
          <p:cNvSpPr txBox="1"/>
          <p:nvPr/>
        </p:nvSpPr>
        <p:spPr>
          <a:xfrm>
            <a:off x="6455664" y="4617720"/>
            <a:ext cx="4160520" cy="320040"/>
          </a:xfrm>
          <a:prstGeom prst="rect">
            <a:avLst/>
          </a:prstGeom>
          <a:noFill/>
        </p:spPr>
        <p:txBody>
          <a:bodyPr wrap="square" lIns="0" tIns="0" rIns="0" bIns="0">
            <a:noAutofit/>
          </a:bodyPr>
          <a:lstStyle/>
          <a:p>
            <a:r>
              <a:rPr sz="1600" b="0" dirty="0">
                <a:solidFill>
                  <a:srgbClr val="726659"/>
                </a:solidFill>
                <a:latin typeface="Aptos"/>
              </a:rPr>
              <a:t>Ý </a:t>
            </a:r>
            <a:r>
              <a:rPr sz="1600" b="0" dirty="0" err="1">
                <a:solidFill>
                  <a:srgbClr val="726659"/>
                </a:solidFill>
                <a:latin typeface="Aptos"/>
              </a:rPr>
              <a:t>nghĩa</a:t>
            </a:r>
            <a:r>
              <a:rPr sz="1600" b="0" dirty="0">
                <a:solidFill>
                  <a:srgbClr val="726659"/>
                </a:solidFill>
                <a:latin typeface="Aptos"/>
              </a:rPr>
              <a:t>: </a:t>
            </a:r>
            <a:r>
              <a:rPr sz="1600" b="0" dirty="0" err="1">
                <a:solidFill>
                  <a:srgbClr val="726659"/>
                </a:solidFill>
                <a:latin typeface="Aptos"/>
              </a:rPr>
              <a:t>số</a:t>
            </a:r>
            <a:r>
              <a:rPr sz="1600" b="0" dirty="0">
                <a:solidFill>
                  <a:srgbClr val="726659"/>
                </a:solidFill>
                <a:latin typeface="Aptos"/>
              </a:rPr>
              <a:t> </a:t>
            </a:r>
            <a:r>
              <a:rPr sz="1600" b="0" dirty="0" err="1">
                <a:solidFill>
                  <a:srgbClr val="726659"/>
                </a:solidFill>
                <a:latin typeface="Aptos"/>
              </a:rPr>
              <a:t>này</a:t>
            </a:r>
            <a:r>
              <a:rPr sz="1600" b="0" dirty="0">
                <a:solidFill>
                  <a:srgbClr val="726659"/>
                </a:solidFill>
                <a:latin typeface="Aptos"/>
              </a:rPr>
              <a:t> </a:t>
            </a:r>
            <a:r>
              <a:rPr sz="1600" b="0" dirty="0" err="1">
                <a:solidFill>
                  <a:srgbClr val="726659"/>
                </a:solidFill>
                <a:latin typeface="Aptos"/>
              </a:rPr>
              <a:t>phản</a:t>
            </a:r>
            <a:r>
              <a:rPr sz="1600" b="0" dirty="0">
                <a:solidFill>
                  <a:srgbClr val="726659"/>
                </a:solidFill>
                <a:latin typeface="Aptos"/>
              </a:rPr>
              <a:t> </a:t>
            </a:r>
            <a:r>
              <a:rPr sz="1600" b="0" dirty="0" err="1">
                <a:solidFill>
                  <a:srgbClr val="726659"/>
                </a:solidFill>
                <a:latin typeface="Aptos"/>
              </a:rPr>
              <a:t>ánh</a:t>
            </a:r>
            <a:r>
              <a:rPr sz="1600" b="0" dirty="0">
                <a:solidFill>
                  <a:srgbClr val="726659"/>
                </a:solidFill>
                <a:latin typeface="Aptos"/>
              </a:rPr>
              <a:t> </a:t>
            </a:r>
            <a:r>
              <a:rPr sz="1600" b="0" dirty="0" err="1">
                <a:solidFill>
                  <a:srgbClr val="726659"/>
                </a:solidFill>
                <a:latin typeface="Aptos"/>
              </a:rPr>
              <a:t>quy</a:t>
            </a:r>
            <a:r>
              <a:rPr sz="1600" b="0" dirty="0">
                <a:solidFill>
                  <a:srgbClr val="726659"/>
                </a:solidFill>
                <a:latin typeface="Aptos"/>
              </a:rPr>
              <a:t> </a:t>
            </a:r>
            <a:r>
              <a:rPr sz="1600" b="0" dirty="0" err="1">
                <a:solidFill>
                  <a:srgbClr val="726659"/>
                </a:solidFill>
                <a:latin typeface="Aptos"/>
              </a:rPr>
              <a:t>mô</a:t>
            </a:r>
            <a:r>
              <a:rPr sz="1600" b="0" dirty="0">
                <a:solidFill>
                  <a:srgbClr val="726659"/>
                </a:solidFill>
                <a:latin typeface="Aptos"/>
              </a:rPr>
              <a:t> </a:t>
            </a:r>
            <a:r>
              <a:rPr sz="1600" b="0" dirty="0" err="1">
                <a:solidFill>
                  <a:srgbClr val="726659"/>
                </a:solidFill>
                <a:latin typeface="Aptos"/>
              </a:rPr>
              <a:t>chỉ</a:t>
            </a:r>
            <a:r>
              <a:rPr sz="1600" b="0" dirty="0">
                <a:solidFill>
                  <a:srgbClr val="726659"/>
                </a:solidFill>
                <a:latin typeface="Aptos"/>
              </a:rPr>
              <a:t> </a:t>
            </a:r>
            <a:r>
              <a:rPr sz="1600" b="0" dirty="0" err="1">
                <a:solidFill>
                  <a:srgbClr val="726659"/>
                </a:solidFill>
                <a:latin typeface="Aptos"/>
              </a:rPr>
              <a:t>mục</a:t>
            </a:r>
            <a:r>
              <a:rPr sz="1600" b="0" dirty="0">
                <a:solidFill>
                  <a:srgbClr val="726659"/>
                </a:solidFill>
                <a:latin typeface="Aptos"/>
              </a:rPr>
              <a:t> metadata </a:t>
            </a:r>
            <a:r>
              <a:rPr sz="1600" b="0" dirty="0" err="1">
                <a:solidFill>
                  <a:srgbClr val="726659"/>
                </a:solidFill>
                <a:latin typeface="Aptos"/>
              </a:rPr>
              <a:t>phục</a:t>
            </a:r>
            <a:r>
              <a:rPr sz="1600" b="0" dirty="0">
                <a:solidFill>
                  <a:srgbClr val="726659"/>
                </a:solidFill>
                <a:latin typeface="Aptos"/>
              </a:rPr>
              <a:t> </a:t>
            </a:r>
            <a:r>
              <a:rPr sz="1600" b="0" dirty="0" err="1">
                <a:solidFill>
                  <a:srgbClr val="726659"/>
                </a:solidFill>
                <a:latin typeface="Aptos"/>
              </a:rPr>
              <a:t>vụ</a:t>
            </a:r>
            <a:r>
              <a:rPr sz="1600" b="0" dirty="0">
                <a:solidFill>
                  <a:srgbClr val="726659"/>
                </a:solidFill>
                <a:latin typeface="Aptos"/>
              </a:rPr>
              <a:t> </a:t>
            </a:r>
            <a:r>
              <a:rPr sz="1600" b="0" dirty="0" err="1">
                <a:solidFill>
                  <a:srgbClr val="726659"/>
                </a:solidFill>
                <a:latin typeface="Aptos"/>
              </a:rPr>
              <a:t>tìm</a:t>
            </a:r>
            <a:r>
              <a:rPr sz="1600" b="0" dirty="0">
                <a:solidFill>
                  <a:srgbClr val="726659"/>
                </a:solidFill>
                <a:latin typeface="Aptos"/>
              </a:rPr>
              <a:t> </a:t>
            </a:r>
            <a:r>
              <a:rPr sz="1600" b="0" dirty="0" err="1">
                <a:solidFill>
                  <a:srgbClr val="726659"/>
                </a:solidFill>
                <a:latin typeface="Aptos"/>
              </a:rPr>
              <a:t>kiếm</a:t>
            </a:r>
            <a:r>
              <a:rPr sz="1600" b="0" dirty="0">
                <a:solidFill>
                  <a:srgbClr val="726659"/>
                </a:solidFill>
                <a:latin typeface="Aptos"/>
              </a:rPr>
              <a:t> </a:t>
            </a:r>
            <a:r>
              <a:rPr sz="1600" b="0" dirty="0" err="1">
                <a:solidFill>
                  <a:srgbClr val="726659"/>
                </a:solidFill>
                <a:latin typeface="Aptos"/>
              </a:rPr>
              <a:t>theo</a:t>
            </a:r>
            <a:r>
              <a:rPr sz="1600" b="0" dirty="0">
                <a:solidFill>
                  <a:srgbClr val="726659"/>
                </a:solidFill>
                <a:latin typeface="Aptos"/>
              </a:rPr>
              <a:t> </a:t>
            </a:r>
            <a:r>
              <a:rPr sz="1600" b="0" dirty="0" err="1">
                <a:solidFill>
                  <a:srgbClr val="726659"/>
                </a:solidFill>
                <a:latin typeface="Aptos"/>
              </a:rPr>
              <a:t>từ</a:t>
            </a:r>
            <a:r>
              <a:rPr sz="1600" b="0" dirty="0">
                <a:solidFill>
                  <a:srgbClr val="726659"/>
                </a:solidFill>
                <a:latin typeface="Aptos"/>
              </a:rPr>
              <a:t> </a:t>
            </a:r>
            <a:r>
              <a:rPr sz="1600" b="0" dirty="0" err="1">
                <a:solidFill>
                  <a:srgbClr val="726659"/>
                </a:solidFill>
                <a:latin typeface="Aptos"/>
              </a:rPr>
              <a:t>khóa</a:t>
            </a:r>
            <a:r>
              <a:rPr sz="1600" b="0" dirty="0">
                <a:solidFill>
                  <a:srgbClr val="726659"/>
                </a:solidFill>
                <a:latin typeface="Aptos"/>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LẬP CHỈ MỤC</a:t>
            </a:r>
          </a:p>
        </p:txBody>
      </p:sp>
      <p:sp>
        <p:nvSpPr>
          <p:cNvPr id="4" name="TextBox 3"/>
          <p:cNvSpPr txBox="1"/>
          <p:nvPr/>
        </p:nvSpPr>
        <p:spPr>
          <a:xfrm>
            <a:off x="713232" y="960120"/>
            <a:ext cx="7680960" cy="1874519"/>
          </a:xfrm>
          <a:prstGeom prst="rect">
            <a:avLst/>
          </a:prstGeom>
          <a:noFill/>
        </p:spPr>
        <p:txBody>
          <a:bodyPr wrap="square" lIns="0" tIns="0" rIns="0" bIns="0">
            <a:normAutofit/>
          </a:bodyPr>
          <a:lstStyle/>
          <a:p>
            <a:r>
              <a:rPr sz="3800" dirty="0">
                <a:solidFill>
                  <a:srgbClr val="2A2119"/>
                </a:solidFill>
                <a:latin typeface="Georgia"/>
              </a:rPr>
              <a:t>Hai </a:t>
            </a:r>
            <a:r>
              <a:rPr sz="3800" dirty="0" err="1">
                <a:solidFill>
                  <a:srgbClr val="2A2119"/>
                </a:solidFill>
                <a:latin typeface="Georgia"/>
              </a:rPr>
              <a:t>loại</a:t>
            </a:r>
            <a:r>
              <a:rPr sz="3800" dirty="0">
                <a:solidFill>
                  <a:srgbClr val="2A2119"/>
                </a:solidFill>
                <a:latin typeface="Georgia"/>
              </a:rPr>
              <a:t> </a:t>
            </a:r>
            <a:r>
              <a:rPr sz="3800" dirty="0" err="1">
                <a:solidFill>
                  <a:srgbClr val="2A2119"/>
                </a:solidFill>
                <a:latin typeface="Georgia"/>
              </a:rPr>
              <a:t>chỉ</a:t>
            </a:r>
            <a:r>
              <a:rPr sz="3800" dirty="0">
                <a:solidFill>
                  <a:srgbClr val="2A2119"/>
                </a:solidFill>
                <a:latin typeface="Georgia"/>
              </a:rPr>
              <a:t> </a:t>
            </a:r>
            <a:r>
              <a:rPr sz="3800" dirty="0" err="1">
                <a:solidFill>
                  <a:srgbClr val="2A2119"/>
                </a:solidFill>
                <a:latin typeface="Georgia"/>
              </a:rPr>
              <a:t>mục</a:t>
            </a:r>
            <a:r>
              <a:rPr sz="3800" dirty="0">
                <a:solidFill>
                  <a:srgbClr val="2A2119"/>
                </a:solidFill>
                <a:latin typeface="Georgia"/>
              </a:rPr>
              <a:t> </a:t>
            </a:r>
            <a:r>
              <a:rPr sz="3800" dirty="0" err="1">
                <a:solidFill>
                  <a:srgbClr val="2A2119"/>
                </a:solidFill>
                <a:latin typeface="Georgia"/>
              </a:rPr>
              <a:t>của</a:t>
            </a:r>
            <a:r>
              <a:rPr sz="3800" dirty="0">
                <a:solidFill>
                  <a:srgbClr val="2A2119"/>
                </a:solidFill>
                <a:latin typeface="Georgia"/>
              </a:rPr>
              <a:t> </a:t>
            </a:r>
            <a:r>
              <a:rPr sz="3800" dirty="0" err="1">
                <a:solidFill>
                  <a:srgbClr val="2A2119"/>
                </a:solidFill>
                <a:latin typeface="Georgia"/>
              </a:rPr>
              <a:t>hệ</a:t>
            </a:r>
            <a:r>
              <a:rPr sz="3800" dirty="0">
                <a:solidFill>
                  <a:srgbClr val="2A2119"/>
                </a:solidFill>
                <a:latin typeface="Georgia"/>
              </a:rPr>
              <a:t> </a:t>
            </a:r>
            <a:r>
              <a:rPr sz="3800" dirty="0" err="1">
                <a:solidFill>
                  <a:srgbClr val="2A2119"/>
                </a:solidFill>
                <a:latin typeface="Georgia"/>
              </a:rPr>
              <a:t>thống</a:t>
            </a:r>
            <a:endParaRPr sz="3800" dirty="0">
              <a:solidFill>
                <a:srgbClr val="2A2119"/>
              </a:solidFill>
              <a:latin typeface="Georgia"/>
            </a:endParaRPr>
          </a:p>
        </p:txBody>
      </p:sp>
      <p:sp>
        <p:nvSpPr>
          <p:cNvPr id="5" name="Rounded Rectangle 4"/>
          <p:cNvSpPr/>
          <p:nvPr/>
        </p:nvSpPr>
        <p:spPr>
          <a:xfrm>
            <a:off x="749808" y="1828800"/>
            <a:ext cx="5074920" cy="160020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7552" y="2084831"/>
            <a:ext cx="2377440" cy="530352"/>
          </a:xfrm>
          <a:prstGeom prst="rect">
            <a:avLst/>
          </a:prstGeom>
          <a:noFill/>
        </p:spPr>
        <p:txBody>
          <a:bodyPr wrap="square" lIns="0" tIns="0" rIns="0" bIns="0">
            <a:normAutofit/>
          </a:bodyPr>
          <a:lstStyle/>
          <a:p>
            <a:r>
              <a:rPr sz="2200" dirty="0" err="1">
                <a:solidFill>
                  <a:srgbClr val="2A2119"/>
                </a:solidFill>
                <a:latin typeface="Georgia"/>
              </a:rPr>
              <a:t>Chỉ</a:t>
            </a:r>
            <a:r>
              <a:rPr sz="2200" dirty="0">
                <a:solidFill>
                  <a:srgbClr val="2A2119"/>
                </a:solidFill>
                <a:latin typeface="Georgia"/>
              </a:rPr>
              <a:t> </a:t>
            </a:r>
            <a:r>
              <a:rPr sz="2200" dirty="0" err="1">
                <a:solidFill>
                  <a:srgbClr val="2A2119"/>
                </a:solidFill>
                <a:latin typeface="Georgia"/>
              </a:rPr>
              <a:t>mục</a:t>
            </a:r>
            <a:r>
              <a:rPr sz="2200" dirty="0">
                <a:solidFill>
                  <a:srgbClr val="2A2119"/>
                </a:solidFill>
                <a:latin typeface="Georgia"/>
              </a:rPr>
              <a:t> vector</a:t>
            </a:r>
          </a:p>
        </p:txBody>
      </p:sp>
      <p:sp>
        <p:nvSpPr>
          <p:cNvPr id="7" name="TextBox 6"/>
          <p:cNvSpPr txBox="1"/>
          <p:nvPr/>
        </p:nvSpPr>
        <p:spPr>
          <a:xfrm>
            <a:off x="987552" y="2542032"/>
            <a:ext cx="4251960" cy="1005840"/>
          </a:xfrm>
          <a:prstGeom prst="rect">
            <a:avLst/>
          </a:prstGeom>
          <a:noFill/>
        </p:spPr>
        <p:txBody>
          <a:bodyPr wrap="square" lIns="0" tIns="0" rIns="0" bIns="0">
            <a:normAutofit fontScale="85000" lnSpcReduction="10000"/>
          </a:bodyPr>
          <a:lstStyle/>
          <a:p>
            <a:pPr algn="just"/>
            <a:r>
              <a:rPr lang="vi-VN" dirty="0">
                <a:latin typeface="Aptos" panose="020B0004020202020204" pitchFamily="34" charset="0"/>
              </a:rPr>
              <a:t>Mỗi bản ghi âm thanh được biểu diễn bởi một vector so sánh gồm 12 đại lượng rút ra từ các cửa sổ tín hiệu và thông tin tóm tắt. Chỉ mục này phục vụ truy vấn âm thanh tương tự bằng khoảng cách Euclid.</a:t>
            </a:r>
            <a:endParaRPr sz="1700" dirty="0">
              <a:solidFill>
                <a:srgbClr val="726659"/>
              </a:solidFill>
              <a:latin typeface="Aptos" panose="020B0004020202020204" pitchFamily="34" charset="0"/>
            </a:endParaRPr>
          </a:p>
        </p:txBody>
      </p:sp>
      <p:sp>
        <p:nvSpPr>
          <p:cNvPr id="8" name="Rounded Rectangle 7"/>
          <p:cNvSpPr/>
          <p:nvPr/>
        </p:nvSpPr>
        <p:spPr>
          <a:xfrm>
            <a:off x="6217920" y="1856231"/>
            <a:ext cx="5074920" cy="1572769"/>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55664" y="2084831"/>
            <a:ext cx="2468880" cy="530352"/>
          </a:xfrm>
          <a:prstGeom prst="rect">
            <a:avLst/>
          </a:prstGeom>
          <a:noFill/>
        </p:spPr>
        <p:txBody>
          <a:bodyPr wrap="square" lIns="0" tIns="0" rIns="0" bIns="0">
            <a:normAutofit/>
          </a:bodyPr>
          <a:lstStyle/>
          <a:p>
            <a:r>
              <a:rPr sz="2200">
                <a:solidFill>
                  <a:srgbClr val="2A2119"/>
                </a:solidFill>
                <a:latin typeface="Georgia"/>
              </a:rPr>
              <a:t>Chỉ mục metadata</a:t>
            </a:r>
          </a:p>
        </p:txBody>
      </p:sp>
      <p:sp>
        <p:nvSpPr>
          <p:cNvPr id="10" name="TextBox 9"/>
          <p:cNvSpPr txBox="1"/>
          <p:nvPr/>
        </p:nvSpPr>
        <p:spPr>
          <a:xfrm>
            <a:off x="6455664" y="2542032"/>
            <a:ext cx="4114800" cy="960120"/>
          </a:xfrm>
          <a:prstGeom prst="rect">
            <a:avLst/>
          </a:prstGeom>
          <a:noFill/>
        </p:spPr>
        <p:txBody>
          <a:bodyPr wrap="square" lIns="0" tIns="0" rIns="0" bIns="0">
            <a:normAutofit fontScale="92500"/>
          </a:bodyPr>
          <a:lstStyle/>
          <a:p>
            <a:pPr algn="just"/>
            <a:r>
              <a:rPr lang="vi-VN" dirty="0">
                <a:latin typeface="Aptos" panose="020B0004020202020204" pitchFamily="34" charset="0"/>
              </a:rPr>
              <a:t>Metadata được tách từ khóa và tổ chức dưới dạng inverted index để hỗ trợ tìm kiếm theo từ khóa, danh mục, thẻ và người phụ trách.</a:t>
            </a:r>
            <a:endParaRPr lang="vi-VN" sz="1700" dirty="0">
              <a:solidFill>
                <a:srgbClr val="726659"/>
              </a:solidFill>
              <a:latin typeface="Aptos" panose="020B0004020202020204" pitchFamily="34" charset="0"/>
            </a:endParaRPr>
          </a:p>
        </p:txBody>
      </p:sp>
      <p:sp>
        <p:nvSpPr>
          <p:cNvPr id="14" name="TextBox 13">
            <a:extLst>
              <a:ext uri="{FF2B5EF4-FFF2-40B4-BE49-F238E27FC236}">
                <a16:creationId xmlns:a16="http://schemas.microsoft.com/office/drawing/2014/main" id="{DE4C7F4E-D81E-FF40-A866-5A87EB02D2F5}"/>
              </a:ext>
            </a:extLst>
          </p:cNvPr>
          <p:cNvSpPr txBox="1"/>
          <p:nvPr/>
        </p:nvSpPr>
        <p:spPr>
          <a:xfrm>
            <a:off x="6217920" y="3520440"/>
            <a:ext cx="6094476" cy="3313728"/>
          </a:xfrm>
          <a:prstGeom prst="rect">
            <a:avLst/>
          </a:prstGeom>
          <a:noFill/>
        </p:spPr>
        <p:txBody>
          <a:bodyPr wrap="square">
            <a:spAutoFit/>
          </a:bodyPr>
          <a:lstStyle/>
          <a:p>
            <a:pPr algn="l">
              <a:buNone/>
            </a:pPr>
            <a:r>
              <a:rPr lang="vi-VN" sz="1600" b="0" i="0" dirty="0">
                <a:solidFill>
                  <a:srgbClr val="000000"/>
                </a:solidFill>
                <a:effectLst/>
                <a:latin typeface="Aptos" panose="020B0004020202020204" pitchFamily="34" charset="0"/>
              </a:rPr>
              <a:t>Giả sử có 3 bản ghi âm thanh:</a:t>
            </a:r>
          </a:p>
          <a:p>
            <a:pPr algn="l">
              <a:spcAft>
                <a:spcPts val="450"/>
              </a:spcAft>
              <a:buFont typeface="Arial" panose="020B0604020202020204" pitchFamily="34" charset="0"/>
              <a:buChar char="•"/>
            </a:pPr>
            <a:r>
              <a:rPr lang="vi-VN" sz="1600" b="0" i="0" dirty="0">
                <a:solidFill>
                  <a:srgbClr val="000000"/>
                </a:solidFill>
                <a:effectLst/>
                <a:latin typeface="Aptos" panose="020B0004020202020204" pitchFamily="34" charset="0"/>
              </a:rPr>
              <a:t>A1: </a:t>
            </a:r>
            <a:r>
              <a:rPr lang="vi-VN" sz="1600" b="1" i="0" dirty="0">
                <a:solidFill>
                  <a:srgbClr val="000000"/>
                </a:solidFill>
                <a:effectLst/>
                <a:latin typeface="Aptos" panose="020B0004020202020204" pitchFamily="34" charset="0"/>
              </a:rPr>
              <a:t>Tiếng chuông cảnh báo</a:t>
            </a:r>
            <a:endParaRPr lang="vi-VN" sz="1600" b="0" i="0" dirty="0">
              <a:solidFill>
                <a:srgbClr val="000000"/>
              </a:solidFill>
              <a:effectLst/>
              <a:latin typeface="Aptos" panose="020B0004020202020204" pitchFamily="34" charset="0"/>
            </a:endParaRPr>
          </a:p>
          <a:p>
            <a:pPr algn="l">
              <a:spcAft>
                <a:spcPts val="450"/>
              </a:spcAft>
              <a:buFont typeface="Arial" panose="020B0604020202020204" pitchFamily="34" charset="0"/>
              <a:buChar char="•"/>
            </a:pPr>
            <a:r>
              <a:rPr lang="vi-VN" sz="1600" b="0" i="0" dirty="0">
                <a:solidFill>
                  <a:srgbClr val="000000"/>
                </a:solidFill>
                <a:effectLst/>
                <a:latin typeface="Aptos" panose="020B0004020202020204" pitchFamily="34" charset="0"/>
              </a:rPr>
              <a:t>A2: </a:t>
            </a:r>
            <a:r>
              <a:rPr lang="vi-VN" sz="1600" b="1" i="0" dirty="0">
                <a:solidFill>
                  <a:srgbClr val="000000"/>
                </a:solidFill>
                <a:effectLst/>
                <a:latin typeface="Aptos" panose="020B0004020202020204" pitchFamily="34" charset="0"/>
              </a:rPr>
              <a:t>Tiếng trống lễ hội</a:t>
            </a:r>
            <a:endParaRPr lang="vi-VN" sz="1600" b="0" i="0" dirty="0">
              <a:solidFill>
                <a:srgbClr val="000000"/>
              </a:solidFill>
              <a:effectLst/>
              <a:latin typeface="Aptos" panose="020B0004020202020204" pitchFamily="34" charset="0"/>
            </a:endParaRPr>
          </a:p>
          <a:p>
            <a:pPr algn="l">
              <a:spcAft>
                <a:spcPts val="450"/>
              </a:spcAft>
              <a:buFont typeface="Arial" panose="020B0604020202020204" pitchFamily="34" charset="0"/>
              <a:buChar char="•"/>
            </a:pPr>
            <a:r>
              <a:rPr lang="vi-VN" sz="1600" b="0" i="0" dirty="0">
                <a:solidFill>
                  <a:srgbClr val="000000"/>
                </a:solidFill>
                <a:effectLst/>
                <a:latin typeface="Aptos" panose="020B0004020202020204" pitchFamily="34" charset="0"/>
              </a:rPr>
              <a:t>A3: </a:t>
            </a:r>
            <a:r>
              <a:rPr lang="vi-VN" sz="1600" b="1" i="0" dirty="0">
                <a:solidFill>
                  <a:srgbClr val="000000"/>
                </a:solidFill>
                <a:effectLst/>
                <a:latin typeface="Aptos" panose="020B0004020202020204" pitchFamily="34" charset="0"/>
              </a:rPr>
              <a:t>Chuông cửa điện tử</a:t>
            </a:r>
            <a:endParaRPr lang="vi-VN" sz="1600" b="0" i="0" dirty="0">
              <a:solidFill>
                <a:srgbClr val="000000"/>
              </a:solidFill>
              <a:effectLst/>
              <a:latin typeface="Aptos" panose="020B0004020202020204" pitchFamily="34" charset="0"/>
            </a:endParaRPr>
          </a:p>
          <a:p>
            <a:pPr algn="l">
              <a:buNone/>
            </a:pPr>
            <a:r>
              <a:rPr lang="vi-VN" sz="1600" b="0" i="0" dirty="0">
                <a:solidFill>
                  <a:srgbClr val="000000"/>
                </a:solidFill>
                <a:effectLst/>
                <a:latin typeface="Aptos" panose="020B0004020202020204" pitchFamily="34" charset="0"/>
              </a:rPr>
              <a:t>Sau khi tách từ khóa, hệ thống tạo inverted index như sau:</a:t>
            </a:r>
          </a:p>
          <a:p>
            <a:pPr algn="l">
              <a:spcAft>
                <a:spcPts val="450"/>
              </a:spcAft>
              <a:buFont typeface="Arial" panose="020B0604020202020204" pitchFamily="34" charset="0"/>
              <a:buChar char="•"/>
            </a:pPr>
            <a:r>
              <a:rPr lang="vi-VN" sz="1600" b="0" i="0" dirty="0">
                <a:solidFill>
                  <a:srgbClr val="000000"/>
                </a:solidFill>
                <a:effectLst/>
                <a:latin typeface="Aptos" panose="020B0004020202020204" pitchFamily="34" charset="0"/>
              </a:rPr>
              <a:t>tiếng → A1, A2</a:t>
            </a:r>
          </a:p>
          <a:p>
            <a:pPr algn="l">
              <a:spcAft>
                <a:spcPts val="450"/>
              </a:spcAft>
              <a:buFont typeface="Arial" panose="020B0604020202020204" pitchFamily="34" charset="0"/>
              <a:buChar char="•"/>
            </a:pPr>
            <a:r>
              <a:rPr lang="vi-VN" sz="1600" b="0" i="0" dirty="0">
                <a:solidFill>
                  <a:srgbClr val="000000"/>
                </a:solidFill>
                <a:effectLst/>
                <a:latin typeface="Aptos" panose="020B0004020202020204" pitchFamily="34" charset="0"/>
              </a:rPr>
              <a:t>chuông → A1, A3</a:t>
            </a:r>
          </a:p>
          <a:p>
            <a:pPr algn="l">
              <a:spcAft>
                <a:spcPts val="450"/>
              </a:spcAft>
              <a:buFont typeface="Arial" panose="020B0604020202020204" pitchFamily="34" charset="0"/>
              <a:buChar char="•"/>
            </a:pPr>
            <a:r>
              <a:rPr lang="vi-VN" sz="1600" b="0" i="0" dirty="0">
                <a:solidFill>
                  <a:srgbClr val="000000"/>
                </a:solidFill>
                <a:effectLst/>
                <a:latin typeface="Aptos" panose="020B0004020202020204" pitchFamily="34" charset="0"/>
              </a:rPr>
              <a:t>cảnh báo → A1</a:t>
            </a:r>
          </a:p>
          <a:p>
            <a:pPr algn="l">
              <a:spcAft>
                <a:spcPts val="450"/>
              </a:spcAft>
              <a:buFont typeface="Arial" panose="020B0604020202020204" pitchFamily="34" charset="0"/>
              <a:buChar char="•"/>
            </a:pPr>
            <a:r>
              <a:rPr lang="vi-VN" sz="1600" b="0" i="0" dirty="0">
                <a:solidFill>
                  <a:srgbClr val="000000"/>
                </a:solidFill>
                <a:effectLst/>
                <a:latin typeface="Aptos" panose="020B0004020202020204" pitchFamily="34" charset="0"/>
              </a:rPr>
              <a:t>trống → A2</a:t>
            </a:r>
          </a:p>
          <a:p>
            <a:pPr algn="l">
              <a:spcAft>
                <a:spcPts val="450"/>
              </a:spcAft>
              <a:buFont typeface="Arial" panose="020B0604020202020204" pitchFamily="34" charset="0"/>
              <a:buChar char="•"/>
            </a:pPr>
            <a:r>
              <a:rPr lang="vi-VN" sz="1600" b="0" i="0" dirty="0">
                <a:solidFill>
                  <a:srgbClr val="000000"/>
                </a:solidFill>
                <a:effectLst/>
                <a:latin typeface="Aptos" panose="020B0004020202020204" pitchFamily="34" charset="0"/>
              </a:rPr>
              <a:t>cửa → A3</a:t>
            </a:r>
          </a:p>
          <a:p>
            <a:pPr algn="l">
              <a:spcAft>
                <a:spcPts val="450"/>
              </a:spcAft>
              <a:buFont typeface="Arial" panose="020B0604020202020204" pitchFamily="34" charset="0"/>
              <a:buChar char="•"/>
            </a:pPr>
            <a:r>
              <a:rPr lang="vi-VN" sz="1600" b="0" i="0" dirty="0">
                <a:solidFill>
                  <a:srgbClr val="000000"/>
                </a:solidFill>
                <a:effectLst/>
                <a:latin typeface="Aptos" panose="020B0004020202020204" pitchFamily="34" charset="0"/>
              </a:rPr>
              <a:t>điện tử → A3</a:t>
            </a:r>
          </a:p>
        </p:txBody>
      </p:sp>
      <p:sp>
        <p:nvSpPr>
          <p:cNvPr id="16" name="TextBox 15">
            <a:extLst>
              <a:ext uri="{FF2B5EF4-FFF2-40B4-BE49-F238E27FC236}">
                <a16:creationId xmlns:a16="http://schemas.microsoft.com/office/drawing/2014/main" id="{FE985C03-E0B0-47EE-B0CC-33EBBAE8016F}"/>
              </a:ext>
            </a:extLst>
          </p:cNvPr>
          <p:cNvSpPr txBox="1"/>
          <p:nvPr/>
        </p:nvSpPr>
        <p:spPr>
          <a:xfrm>
            <a:off x="749808" y="3593592"/>
            <a:ext cx="6158484" cy="2564805"/>
          </a:xfrm>
          <a:prstGeom prst="rect">
            <a:avLst/>
          </a:prstGeom>
          <a:noFill/>
        </p:spPr>
        <p:txBody>
          <a:bodyPr wrap="square">
            <a:spAutoFit/>
          </a:bodyPr>
          <a:lstStyle/>
          <a:p>
            <a:pPr algn="l">
              <a:buNone/>
            </a:pPr>
            <a:r>
              <a:rPr lang="en-US" b="1" i="0" dirty="0" err="1">
                <a:solidFill>
                  <a:srgbClr val="000000"/>
                </a:solidFill>
                <a:effectLst/>
                <a:latin typeface="Segoe WPC"/>
              </a:rPr>
              <a:t>Ví</a:t>
            </a:r>
            <a:r>
              <a:rPr lang="en-US" b="1" i="0" dirty="0">
                <a:solidFill>
                  <a:srgbClr val="000000"/>
                </a:solidFill>
                <a:effectLst/>
                <a:latin typeface="Segoe WPC"/>
              </a:rPr>
              <a:t> </a:t>
            </a:r>
            <a:r>
              <a:rPr lang="en-US" b="1" i="0" dirty="0" err="1">
                <a:solidFill>
                  <a:srgbClr val="000000"/>
                </a:solidFill>
                <a:effectLst/>
                <a:latin typeface="Segoe WPC"/>
              </a:rPr>
              <a:t>dụ</a:t>
            </a:r>
            <a:r>
              <a:rPr lang="en-US" b="1" i="0" dirty="0">
                <a:solidFill>
                  <a:srgbClr val="000000"/>
                </a:solidFill>
                <a:effectLst/>
                <a:latin typeface="Segoe WPC"/>
              </a:rPr>
              <a:t> </a:t>
            </a:r>
            <a:r>
              <a:rPr lang="en-US" b="1" i="0" dirty="0" err="1">
                <a:solidFill>
                  <a:srgbClr val="000000"/>
                </a:solidFill>
                <a:effectLst/>
                <a:latin typeface="Segoe WPC"/>
              </a:rPr>
              <a:t>chỉ</a:t>
            </a:r>
            <a:r>
              <a:rPr lang="en-US" b="1" i="0" dirty="0">
                <a:solidFill>
                  <a:srgbClr val="000000"/>
                </a:solidFill>
                <a:effectLst/>
                <a:latin typeface="Segoe WPC"/>
              </a:rPr>
              <a:t> </a:t>
            </a:r>
            <a:r>
              <a:rPr lang="en-US" b="1" i="0" dirty="0" err="1">
                <a:solidFill>
                  <a:srgbClr val="000000"/>
                </a:solidFill>
                <a:effectLst/>
                <a:latin typeface="Segoe WPC"/>
              </a:rPr>
              <a:t>mục</a:t>
            </a:r>
            <a:r>
              <a:rPr lang="en-US" b="1" i="0" dirty="0">
                <a:solidFill>
                  <a:srgbClr val="000000"/>
                </a:solidFill>
                <a:effectLst/>
                <a:latin typeface="Segoe WPC"/>
              </a:rPr>
              <a:t> vector</a:t>
            </a:r>
            <a:endParaRPr lang="en-US" b="0" i="0" dirty="0">
              <a:solidFill>
                <a:srgbClr val="000000"/>
              </a:solidFill>
              <a:effectLst/>
              <a:latin typeface="Segoe WPC"/>
            </a:endParaRPr>
          </a:p>
          <a:p>
            <a:pPr algn="l">
              <a:spcAft>
                <a:spcPts val="450"/>
              </a:spcAft>
              <a:buFont typeface="Arial" panose="020B0604020202020204" pitchFamily="34" charset="0"/>
              <a:buChar char="•"/>
            </a:pPr>
            <a:r>
              <a:rPr lang="en-US" b="0" i="0" dirty="0">
                <a:solidFill>
                  <a:srgbClr val="000000"/>
                </a:solidFill>
                <a:effectLst/>
                <a:latin typeface="Consolas" panose="020B0609020204030204" pitchFamily="49" charset="0"/>
              </a:rPr>
              <a:t>A1</a:t>
            </a:r>
            <a:r>
              <a:rPr lang="en-US" b="0" i="0" dirty="0">
                <a:solidFill>
                  <a:srgbClr val="000000"/>
                </a:solidFill>
                <a:effectLst/>
                <a:latin typeface="Segoe WPC"/>
              </a:rPr>
              <a:t> → </a:t>
            </a:r>
            <a:r>
              <a:rPr lang="en-US" b="0" i="0" dirty="0">
                <a:solidFill>
                  <a:srgbClr val="000000"/>
                </a:solidFill>
                <a:effectLst/>
                <a:latin typeface="Consolas" panose="020B0609020204030204" pitchFamily="49" charset="0"/>
              </a:rPr>
              <a:t>[0.82, 0.30, 0.75]</a:t>
            </a:r>
            <a:endParaRPr lang="en-US" b="0" i="0" dirty="0">
              <a:solidFill>
                <a:srgbClr val="000000"/>
              </a:solidFill>
              <a:effectLst/>
              <a:latin typeface="Segoe WPC"/>
            </a:endParaRPr>
          </a:p>
          <a:p>
            <a:pPr algn="l">
              <a:spcAft>
                <a:spcPts val="450"/>
              </a:spcAft>
              <a:buFont typeface="Arial" panose="020B0604020202020204" pitchFamily="34" charset="0"/>
              <a:buChar char="•"/>
            </a:pPr>
            <a:r>
              <a:rPr lang="en-US" b="0" i="0" dirty="0">
                <a:solidFill>
                  <a:srgbClr val="000000"/>
                </a:solidFill>
                <a:effectLst/>
                <a:latin typeface="Consolas" panose="020B0609020204030204" pitchFamily="49" charset="0"/>
              </a:rPr>
              <a:t>A2</a:t>
            </a:r>
            <a:r>
              <a:rPr lang="en-US" b="0" i="0" dirty="0">
                <a:solidFill>
                  <a:srgbClr val="000000"/>
                </a:solidFill>
                <a:effectLst/>
                <a:latin typeface="Segoe WPC"/>
              </a:rPr>
              <a:t> → </a:t>
            </a:r>
            <a:r>
              <a:rPr lang="en-US" b="0" i="0" dirty="0">
                <a:solidFill>
                  <a:srgbClr val="000000"/>
                </a:solidFill>
                <a:effectLst/>
                <a:latin typeface="Consolas" panose="020B0609020204030204" pitchFamily="49" charset="0"/>
              </a:rPr>
              <a:t>[0.90, 0.15, 0.40]</a:t>
            </a:r>
            <a:endParaRPr lang="en-US" b="0" i="0" dirty="0">
              <a:solidFill>
                <a:srgbClr val="000000"/>
              </a:solidFill>
              <a:effectLst/>
              <a:latin typeface="Segoe WPC"/>
            </a:endParaRPr>
          </a:p>
          <a:p>
            <a:pPr algn="l">
              <a:spcAft>
                <a:spcPts val="450"/>
              </a:spcAft>
              <a:buFont typeface="Arial" panose="020B0604020202020204" pitchFamily="34" charset="0"/>
              <a:buChar char="•"/>
            </a:pPr>
            <a:r>
              <a:rPr lang="en-US" b="0" i="0" dirty="0">
                <a:solidFill>
                  <a:srgbClr val="000000"/>
                </a:solidFill>
                <a:effectLst/>
                <a:latin typeface="Consolas" panose="020B0609020204030204" pitchFamily="49" charset="0"/>
              </a:rPr>
              <a:t>A3</a:t>
            </a:r>
            <a:r>
              <a:rPr lang="en-US" b="0" i="0" dirty="0">
                <a:solidFill>
                  <a:srgbClr val="000000"/>
                </a:solidFill>
                <a:effectLst/>
                <a:latin typeface="Segoe WPC"/>
              </a:rPr>
              <a:t> → </a:t>
            </a:r>
            <a:r>
              <a:rPr lang="en-US" b="0" i="0" dirty="0">
                <a:solidFill>
                  <a:srgbClr val="000000"/>
                </a:solidFill>
                <a:effectLst/>
                <a:latin typeface="Consolas" panose="020B0609020204030204" pitchFamily="49" charset="0"/>
              </a:rPr>
              <a:t>[0.35, 0.88, 0.20]</a:t>
            </a:r>
            <a:endParaRPr lang="en-US" b="0" i="0" dirty="0">
              <a:solidFill>
                <a:srgbClr val="000000"/>
              </a:solidFill>
              <a:effectLst/>
              <a:latin typeface="Segoe WPC"/>
            </a:endParaRPr>
          </a:p>
          <a:p>
            <a:pPr algn="l">
              <a:buNone/>
            </a:pPr>
            <a:r>
              <a:rPr lang="en-US" b="1" i="0" dirty="0" err="1">
                <a:solidFill>
                  <a:srgbClr val="000000"/>
                </a:solidFill>
                <a:effectLst/>
                <a:latin typeface="Segoe WPC"/>
              </a:rPr>
              <a:t>Âm</a:t>
            </a:r>
            <a:r>
              <a:rPr lang="en-US" b="1" i="0" dirty="0">
                <a:solidFill>
                  <a:srgbClr val="000000"/>
                </a:solidFill>
                <a:effectLst/>
                <a:latin typeface="Segoe WPC"/>
              </a:rPr>
              <a:t> </a:t>
            </a:r>
            <a:r>
              <a:rPr lang="en-US" b="1" i="0" dirty="0" err="1">
                <a:solidFill>
                  <a:srgbClr val="000000"/>
                </a:solidFill>
                <a:effectLst/>
                <a:latin typeface="Segoe WPC"/>
              </a:rPr>
              <a:t>thanh</a:t>
            </a:r>
            <a:r>
              <a:rPr lang="en-US" b="1" i="0" dirty="0">
                <a:solidFill>
                  <a:srgbClr val="000000"/>
                </a:solidFill>
                <a:effectLst/>
                <a:latin typeface="Segoe WPC"/>
              </a:rPr>
              <a:t> </a:t>
            </a:r>
            <a:r>
              <a:rPr lang="en-US" b="1" i="0" dirty="0" err="1">
                <a:solidFill>
                  <a:srgbClr val="000000"/>
                </a:solidFill>
                <a:effectLst/>
                <a:latin typeface="Segoe WPC"/>
              </a:rPr>
              <a:t>truy</a:t>
            </a:r>
            <a:r>
              <a:rPr lang="en-US" b="1" i="0" dirty="0">
                <a:solidFill>
                  <a:srgbClr val="000000"/>
                </a:solidFill>
                <a:effectLst/>
                <a:latin typeface="Segoe WPC"/>
              </a:rPr>
              <a:t> </a:t>
            </a:r>
            <a:r>
              <a:rPr lang="en-US" b="1" i="0" dirty="0" err="1">
                <a:solidFill>
                  <a:srgbClr val="000000"/>
                </a:solidFill>
                <a:effectLst/>
                <a:latin typeface="Segoe WPC"/>
              </a:rPr>
              <a:t>vấn</a:t>
            </a:r>
            <a:endParaRPr lang="en-US" b="0" i="0" dirty="0">
              <a:solidFill>
                <a:srgbClr val="000000"/>
              </a:solidFill>
              <a:effectLst/>
              <a:latin typeface="Segoe WPC"/>
            </a:endParaRPr>
          </a:p>
          <a:p>
            <a:pPr algn="l">
              <a:spcAft>
                <a:spcPts val="450"/>
              </a:spcAft>
              <a:buFont typeface="Arial" panose="020B0604020202020204" pitchFamily="34" charset="0"/>
              <a:buChar char="•"/>
            </a:pPr>
            <a:r>
              <a:rPr lang="en-US" b="0" i="0" dirty="0">
                <a:solidFill>
                  <a:srgbClr val="000000"/>
                </a:solidFill>
                <a:effectLst/>
                <a:latin typeface="Consolas" panose="020B0609020204030204" pitchFamily="49" charset="0"/>
              </a:rPr>
              <a:t>Q</a:t>
            </a:r>
            <a:r>
              <a:rPr lang="en-US" b="0" i="0" dirty="0">
                <a:solidFill>
                  <a:srgbClr val="000000"/>
                </a:solidFill>
                <a:effectLst/>
                <a:latin typeface="Segoe WPC"/>
              </a:rPr>
              <a:t> → </a:t>
            </a:r>
            <a:r>
              <a:rPr lang="en-US" b="0" i="0" dirty="0">
                <a:solidFill>
                  <a:srgbClr val="000000"/>
                </a:solidFill>
                <a:effectLst/>
                <a:latin typeface="Consolas" panose="020B0609020204030204" pitchFamily="49" charset="0"/>
              </a:rPr>
              <a:t>[0.80, 0.28, 0.70]</a:t>
            </a:r>
            <a:endParaRPr lang="en-US" b="0" i="0" dirty="0">
              <a:solidFill>
                <a:srgbClr val="000000"/>
              </a:solidFill>
              <a:effectLst/>
              <a:latin typeface="Segoe WPC"/>
            </a:endParaRPr>
          </a:p>
          <a:p>
            <a:pPr algn="l">
              <a:buNone/>
            </a:pPr>
            <a:r>
              <a:rPr lang="en-US" b="1" i="0" dirty="0">
                <a:solidFill>
                  <a:srgbClr val="000000"/>
                </a:solidFill>
                <a:effectLst/>
                <a:latin typeface="Segoe WPC"/>
              </a:rPr>
              <a:t>So </a:t>
            </a:r>
            <a:r>
              <a:rPr lang="en-US" b="1" i="0" dirty="0" err="1">
                <a:solidFill>
                  <a:srgbClr val="000000"/>
                </a:solidFill>
                <a:effectLst/>
                <a:latin typeface="Segoe WPC"/>
              </a:rPr>
              <a:t>sánh</a:t>
            </a:r>
            <a:endParaRPr lang="en-US" b="0" i="0" dirty="0">
              <a:solidFill>
                <a:srgbClr val="000000"/>
              </a:solidFill>
              <a:effectLst/>
              <a:latin typeface="Segoe WPC"/>
            </a:endParaRPr>
          </a:p>
          <a:p>
            <a:pPr algn="l">
              <a:spcAft>
                <a:spcPts val="450"/>
              </a:spcAft>
              <a:buFont typeface="Arial" panose="020B0604020202020204" pitchFamily="34" charset="0"/>
              <a:buChar char="•"/>
            </a:pPr>
            <a:r>
              <a:rPr lang="en-US" b="0" i="0" dirty="0" err="1">
                <a:solidFill>
                  <a:srgbClr val="000000"/>
                </a:solidFill>
                <a:effectLst/>
                <a:latin typeface="Consolas" panose="020B0609020204030204" pitchFamily="49" charset="0"/>
              </a:rPr>
              <a:t>dist</a:t>
            </a:r>
            <a:r>
              <a:rPr lang="en-US" b="0" i="0" dirty="0">
                <a:solidFill>
                  <a:srgbClr val="000000"/>
                </a:solidFill>
                <a:effectLst/>
                <a:latin typeface="Consolas" panose="020B0609020204030204" pitchFamily="49" charset="0"/>
              </a:rPr>
              <a:t>(Q, A1)</a:t>
            </a:r>
            <a:r>
              <a:rPr lang="en-US" b="0" i="0" dirty="0">
                <a:solidFill>
                  <a:srgbClr val="000000"/>
                </a:solidFill>
                <a:effectLst/>
                <a:latin typeface="Segoe WPC"/>
              </a:rPr>
              <a:t> </a:t>
            </a:r>
            <a:r>
              <a:rPr lang="en-US" b="0" i="0" dirty="0" err="1">
                <a:solidFill>
                  <a:srgbClr val="000000"/>
                </a:solidFill>
                <a:effectLst/>
                <a:latin typeface="Segoe WPC"/>
              </a:rPr>
              <a:t>nhỏ</a:t>
            </a:r>
            <a:r>
              <a:rPr lang="en-US" b="0" i="0" dirty="0">
                <a:solidFill>
                  <a:srgbClr val="000000"/>
                </a:solidFill>
                <a:effectLst/>
                <a:latin typeface="Segoe WPC"/>
              </a:rPr>
              <a:t> </a:t>
            </a:r>
            <a:r>
              <a:rPr lang="en-US" b="0" i="0" dirty="0" err="1">
                <a:solidFill>
                  <a:srgbClr val="000000"/>
                </a:solidFill>
                <a:effectLst/>
                <a:latin typeface="Segoe WPC"/>
              </a:rPr>
              <a:t>nhất</a:t>
            </a:r>
            <a:r>
              <a:rPr lang="en-US" b="0" i="0" dirty="0">
                <a:solidFill>
                  <a:srgbClr val="000000"/>
                </a:solidFill>
                <a:effectLst/>
                <a:latin typeface="Segoe WPC"/>
              </a:rPr>
              <a:t> → </a:t>
            </a:r>
            <a:r>
              <a:rPr lang="en-US" b="0" i="0" dirty="0" err="1">
                <a:solidFill>
                  <a:srgbClr val="000000"/>
                </a:solidFill>
                <a:effectLst/>
                <a:latin typeface="Segoe WPC"/>
              </a:rPr>
              <a:t>chọn</a:t>
            </a:r>
            <a:r>
              <a:rPr lang="en-US" b="0" i="0" dirty="0">
                <a:solidFill>
                  <a:srgbClr val="000000"/>
                </a:solidFill>
                <a:effectLst/>
                <a:latin typeface="Segoe WPC"/>
              </a:rPr>
              <a:t> </a:t>
            </a:r>
            <a:r>
              <a:rPr lang="en-US" b="0" i="0" dirty="0">
                <a:solidFill>
                  <a:srgbClr val="000000"/>
                </a:solidFill>
                <a:effectLst/>
                <a:latin typeface="Consolas" panose="020B0609020204030204" pitchFamily="49" charset="0"/>
              </a:rPr>
              <a:t>A1</a:t>
            </a:r>
            <a:endParaRPr lang="en-US" b="0" i="0" dirty="0">
              <a:solidFill>
                <a:srgbClr val="000000"/>
              </a:solidFill>
              <a:effectLst/>
              <a:latin typeface="Segoe WP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DỮ LIỆU THẬT</a:t>
            </a:r>
          </a:p>
        </p:txBody>
      </p:sp>
      <p:sp>
        <p:nvSpPr>
          <p:cNvPr id="4" name="TextBox 3"/>
          <p:cNvSpPr txBox="1"/>
          <p:nvPr/>
        </p:nvSpPr>
        <p:spPr>
          <a:xfrm>
            <a:off x="713232" y="960120"/>
            <a:ext cx="7680960" cy="1874519"/>
          </a:xfrm>
          <a:prstGeom prst="rect">
            <a:avLst/>
          </a:prstGeom>
          <a:noFill/>
        </p:spPr>
        <p:txBody>
          <a:bodyPr wrap="square" lIns="0" tIns="0" rIns="0" bIns="0">
            <a:normAutofit/>
          </a:bodyPr>
          <a:lstStyle/>
          <a:p>
            <a:r>
              <a:rPr sz="3800">
                <a:solidFill>
                  <a:srgbClr val="2A2119"/>
                </a:solidFill>
                <a:latin typeface="Georgia"/>
              </a:rPr>
              <a:t>Bộ dữ liệu dùng để demo</a:t>
            </a:r>
          </a:p>
        </p:txBody>
      </p:sp>
      <p:sp>
        <p:nvSpPr>
          <p:cNvPr id="5" name="Rounded Rectangle 4"/>
          <p:cNvSpPr/>
          <p:nvPr/>
        </p:nvSpPr>
        <p:spPr>
          <a:xfrm>
            <a:off x="749808" y="1828800"/>
            <a:ext cx="3154680" cy="205740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084831"/>
            <a:ext cx="2148840" cy="530352"/>
          </a:xfrm>
          <a:prstGeom prst="rect">
            <a:avLst/>
          </a:prstGeom>
          <a:noFill/>
        </p:spPr>
        <p:txBody>
          <a:bodyPr wrap="square" lIns="0" tIns="0" rIns="0" bIns="0">
            <a:normAutofit/>
          </a:bodyPr>
          <a:lstStyle/>
          <a:p>
            <a:r>
              <a:rPr sz="2200">
                <a:solidFill>
                  <a:srgbClr val="2A2119"/>
                </a:solidFill>
                <a:latin typeface="Georgia"/>
              </a:rPr>
              <a:t>Tiếng vỗ tay</a:t>
            </a:r>
          </a:p>
        </p:txBody>
      </p:sp>
      <p:sp>
        <p:nvSpPr>
          <p:cNvPr id="7" name="TextBox 6"/>
          <p:cNvSpPr txBox="1"/>
          <p:nvPr/>
        </p:nvSpPr>
        <p:spPr>
          <a:xfrm>
            <a:off x="932688" y="2578608"/>
            <a:ext cx="2514600" cy="777240"/>
          </a:xfrm>
          <a:prstGeom prst="rect">
            <a:avLst/>
          </a:prstGeom>
          <a:noFill/>
        </p:spPr>
        <p:txBody>
          <a:bodyPr wrap="square" lIns="0" tIns="0" rIns="0" bIns="0">
            <a:normAutofit/>
          </a:bodyPr>
          <a:lstStyle/>
          <a:p>
            <a:r>
              <a:rPr sz="1500">
                <a:solidFill>
                  <a:srgbClr val="726659"/>
                </a:solidFill>
                <a:latin typeface="Aptos"/>
              </a:rPr>
              <a:t>Âm thanh ngắn, đỉnh năng lượng cao và dễ nhận ra.</a:t>
            </a:r>
          </a:p>
        </p:txBody>
      </p:sp>
      <p:sp>
        <p:nvSpPr>
          <p:cNvPr id="8" name="Rounded Rectangle 7"/>
          <p:cNvSpPr/>
          <p:nvPr/>
        </p:nvSpPr>
        <p:spPr>
          <a:xfrm>
            <a:off x="4279392" y="1828800"/>
            <a:ext cx="3154680" cy="205740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62272" y="2084831"/>
            <a:ext cx="2148840" cy="530352"/>
          </a:xfrm>
          <a:prstGeom prst="rect">
            <a:avLst/>
          </a:prstGeom>
          <a:noFill/>
        </p:spPr>
        <p:txBody>
          <a:bodyPr wrap="square" lIns="0" tIns="0" rIns="0" bIns="0">
            <a:normAutofit/>
          </a:bodyPr>
          <a:lstStyle/>
          <a:p>
            <a:r>
              <a:rPr sz="2200">
                <a:solidFill>
                  <a:srgbClr val="2A2119"/>
                </a:solidFill>
                <a:latin typeface="Georgia"/>
              </a:rPr>
              <a:t>Tiếng trống</a:t>
            </a:r>
          </a:p>
        </p:txBody>
      </p:sp>
      <p:sp>
        <p:nvSpPr>
          <p:cNvPr id="10" name="TextBox 9"/>
          <p:cNvSpPr txBox="1"/>
          <p:nvPr/>
        </p:nvSpPr>
        <p:spPr>
          <a:xfrm>
            <a:off x="4462272" y="2578608"/>
            <a:ext cx="2514600" cy="777240"/>
          </a:xfrm>
          <a:prstGeom prst="rect">
            <a:avLst/>
          </a:prstGeom>
          <a:noFill/>
        </p:spPr>
        <p:txBody>
          <a:bodyPr wrap="square" lIns="0" tIns="0" rIns="0" bIns="0">
            <a:normAutofit/>
          </a:bodyPr>
          <a:lstStyle/>
          <a:p>
            <a:r>
              <a:rPr sz="1500">
                <a:solidFill>
                  <a:srgbClr val="726659"/>
                </a:solidFill>
                <a:latin typeface="Aptos"/>
              </a:rPr>
              <a:t>Âm trầm hơn, biên độ lớn và có cấu trúc nhịp rõ hơn.</a:t>
            </a:r>
          </a:p>
        </p:txBody>
      </p:sp>
      <p:sp>
        <p:nvSpPr>
          <p:cNvPr id="11" name="Rounded Rectangle 10"/>
          <p:cNvSpPr/>
          <p:nvPr/>
        </p:nvSpPr>
        <p:spPr>
          <a:xfrm>
            <a:off x="7808975" y="1828800"/>
            <a:ext cx="3154680" cy="205740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91855" y="2084831"/>
            <a:ext cx="2148840" cy="530352"/>
          </a:xfrm>
          <a:prstGeom prst="rect">
            <a:avLst/>
          </a:prstGeom>
          <a:noFill/>
        </p:spPr>
        <p:txBody>
          <a:bodyPr wrap="square" lIns="0" tIns="0" rIns="0" bIns="0">
            <a:normAutofit/>
          </a:bodyPr>
          <a:lstStyle/>
          <a:p>
            <a:r>
              <a:rPr sz="2200">
                <a:solidFill>
                  <a:srgbClr val="2A2119"/>
                </a:solidFill>
                <a:latin typeface="Georgia"/>
              </a:rPr>
              <a:t>Tiếng chuông</a:t>
            </a:r>
          </a:p>
        </p:txBody>
      </p:sp>
      <p:sp>
        <p:nvSpPr>
          <p:cNvPr id="13" name="TextBox 12"/>
          <p:cNvSpPr txBox="1"/>
          <p:nvPr/>
        </p:nvSpPr>
        <p:spPr>
          <a:xfrm>
            <a:off x="7991855" y="2578608"/>
            <a:ext cx="2514600" cy="777240"/>
          </a:xfrm>
          <a:prstGeom prst="rect">
            <a:avLst/>
          </a:prstGeom>
          <a:noFill/>
        </p:spPr>
        <p:txBody>
          <a:bodyPr wrap="square" lIns="0" tIns="0" rIns="0" bIns="0">
            <a:normAutofit/>
          </a:bodyPr>
          <a:lstStyle/>
          <a:p>
            <a:r>
              <a:rPr sz="1500">
                <a:solidFill>
                  <a:srgbClr val="726659"/>
                </a:solidFill>
                <a:latin typeface="Aptos"/>
              </a:rPr>
              <a:t>Âm sáng hơn, ngân dài và có phổ khác biệt.</a:t>
            </a:r>
          </a:p>
        </p:txBody>
      </p:sp>
      <p:sp>
        <p:nvSpPr>
          <p:cNvPr id="14" name="TextBox 13"/>
          <p:cNvSpPr txBox="1"/>
          <p:nvPr/>
        </p:nvSpPr>
        <p:spPr>
          <a:xfrm>
            <a:off x="749808" y="4434840"/>
            <a:ext cx="7589520" cy="822960"/>
          </a:xfrm>
          <a:prstGeom prst="rect">
            <a:avLst/>
          </a:prstGeom>
          <a:noFill/>
        </p:spPr>
        <p:txBody>
          <a:bodyPr wrap="square" lIns="0" tIns="0" rIns="0" bIns="0">
            <a:normAutofit/>
          </a:bodyPr>
          <a:lstStyle/>
          <a:p>
            <a:r>
              <a:rPr sz="1800">
                <a:solidFill>
                  <a:srgbClr val="726659"/>
                </a:solidFill>
                <a:latin typeface="Aptos"/>
              </a:rPr>
              <a:t>Ba lớp âm thanh này đủ khác nhau để minh họa rõ việc trích đặc trưng, lập chỉ mục và truy vấn tương tự trên dữ liệu thật.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685800" y="502920"/>
            <a:ext cx="1051560" cy="15240"/>
          </a:xfrm>
          <a:prstGeom prst="rect">
            <a:avLst/>
          </a:prstGeom>
          <a:solidFill>
            <a:srgbClr val="8C7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58368"/>
            <a:ext cx="3108960" cy="365760"/>
          </a:xfrm>
          <a:prstGeom prst="rect">
            <a:avLst/>
          </a:prstGeom>
          <a:noFill/>
        </p:spPr>
        <p:txBody>
          <a:bodyPr wrap="square" lIns="0" tIns="0" rIns="0" bIns="0">
            <a:normAutofit/>
          </a:bodyPr>
          <a:lstStyle/>
          <a:p>
            <a:r>
              <a:rPr sz="1700" b="1">
                <a:solidFill>
                  <a:srgbClr val="8C7B68"/>
                </a:solidFill>
                <a:latin typeface="Aptos"/>
              </a:rPr>
              <a:t>KẾT THÚC</a:t>
            </a:r>
          </a:p>
        </p:txBody>
      </p:sp>
      <p:sp>
        <p:nvSpPr>
          <p:cNvPr id="4" name="TextBox 3"/>
          <p:cNvSpPr txBox="1"/>
          <p:nvPr/>
        </p:nvSpPr>
        <p:spPr>
          <a:xfrm>
            <a:off x="713232" y="960120"/>
            <a:ext cx="7680960" cy="1874519"/>
          </a:xfrm>
          <a:prstGeom prst="rect">
            <a:avLst/>
          </a:prstGeom>
          <a:noFill/>
        </p:spPr>
        <p:txBody>
          <a:bodyPr wrap="square" lIns="0" tIns="0" rIns="0" bIns="0">
            <a:normAutofit/>
          </a:bodyPr>
          <a:lstStyle/>
          <a:p>
            <a:r>
              <a:rPr sz="3800">
                <a:solidFill>
                  <a:srgbClr val="2A2119"/>
                </a:solidFill>
                <a:latin typeface="Georgia"/>
              </a:rPr>
              <a:t>Xin cảm ơn thầy cô đã lắng nghe</a:t>
            </a:r>
          </a:p>
        </p:txBody>
      </p:sp>
      <p:sp>
        <p:nvSpPr>
          <p:cNvPr id="5" name="TextBox 4"/>
          <p:cNvSpPr txBox="1"/>
          <p:nvPr/>
        </p:nvSpPr>
        <p:spPr>
          <a:xfrm>
            <a:off x="749808" y="1874519"/>
            <a:ext cx="6400800" cy="1051560"/>
          </a:xfrm>
          <a:prstGeom prst="rect">
            <a:avLst/>
          </a:prstGeom>
          <a:noFill/>
        </p:spPr>
        <p:txBody>
          <a:bodyPr wrap="square" lIns="0" tIns="0" rIns="0" bIns="0">
            <a:normAutofit/>
          </a:bodyPr>
          <a:lstStyle/>
          <a:p>
            <a:r>
              <a:rPr sz="2000" dirty="0" err="1">
                <a:solidFill>
                  <a:srgbClr val="726659"/>
                </a:solidFill>
                <a:latin typeface="Aptos"/>
              </a:rPr>
              <a:t>Hệ</a:t>
            </a:r>
            <a:r>
              <a:rPr sz="2000" dirty="0">
                <a:solidFill>
                  <a:srgbClr val="726659"/>
                </a:solidFill>
                <a:latin typeface="Aptos"/>
              </a:rPr>
              <a:t> </a:t>
            </a:r>
            <a:r>
              <a:rPr sz="2000" dirty="0" err="1">
                <a:solidFill>
                  <a:srgbClr val="726659"/>
                </a:solidFill>
                <a:latin typeface="Aptos"/>
              </a:rPr>
              <a:t>thống</a:t>
            </a:r>
            <a:r>
              <a:rPr sz="2000" dirty="0">
                <a:solidFill>
                  <a:srgbClr val="726659"/>
                </a:solidFill>
                <a:latin typeface="Aptos"/>
              </a:rPr>
              <a:t> </a:t>
            </a:r>
            <a:r>
              <a:rPr sz="2000" dirty="0" err="1">
                <a:solidFill>
                  <a:srgbClr val="726659"/>
                </a:solidFill>
                <a:latin typeface="Aptos"/>
              </a:rPr>
              <a:t>sẵn</a:t>
            </a:r>
            <a:r>
              <a:rPr sz="2000" dirty="0">
                <a:solidFill>
                  <a:srgbClr val="726659"/>
                </a:solidFill>
                <a:latin typeface="Aptos"/>
              </a:rPr>
              <a:t> </a:t>
            </a:r>
            <a:r>
              <a:rPr sz="2000" dirty="0" err="1">
                <a:solidFill>
                  <a:srgbClr val="726659"/>
                </a:solidFill>
                <a:latin typeface="Aptos"/>
              </a:rPr>
              <a:t>sàng</a:t>
            </a:r>
            <a:r>
              <a:rPr sz="2000" dirty="0">
                <a:solidFill>
                  <a:srgbClr val="726659"/>
                </a:solidFill>
                <a:latin typeface="Aptos"/>
              </a:rPr>
              <a:t> </a:t>
            </a:r>
            <a:r>
              <a:rPr sz="2000" dirty="0" err="1">
                <a:solidFill>
                  <a:srgbClr val="726659"/>
                </a:solidFill>
                <a:latin typeface="Aptos"/>
              </a:rPr>
              <a:t>cho</a:t>
            </a:r>
            <a:r>
              <a:rPr sz="2000" dirty="0">
                <a:solidFill>
                  <a:srgbClr val="726659"/>
                </a:solidFill>
                <a:latin typeface="Aptos"/>
              </a:rPr>
              <a:t> </a:t>
            </a:r>
            <a:r>
              <a:rPr sz="2000" dirty="0" err="1">
                <a:solidFill>
                  <a:srgbClr val="726659"/>
                </a:solidFill>
                <a:latin typeface="Aptos"/>
              </a:rPr>
              <a:t>phần</a:t>
            </a:r>
            <a:r>
              <a:rPr sz="2000" dirty="0">
                <a:solidFill>
                  <a:srgbClr val="726659"/>
                </a:solidFill>
                <a:latin typeface="Aptos"/>
              </a:rPr>
              <a:t> demo </a:t>
            </a:r>
            <a:r>
              <a:rPr sz="2000" dirty="0" err="1">
                <a:solidFill>
                  <a:srgbClr val="726659"/>
                </a:solidFill>
                <a:latin typeface="Aptos"/>
              </a:rPr>
              <a:t>trực</a:t>
            </a:r>
            <a:r>
              <a:rPr sz="2000" dirty="0">
                <a:solidFill>
                  <a:srgbClr val="726659"/>
                </a:solidFill>
                <a:latin typeface="Aptos"/>
              </a:rPr>
              <a:t> </a:t>
            </a:r>
            <a:r>
              <a:rPr sz="2000" dirty="0" err="1">
                <a:solidFill>
                  <a:srgbClr val="726659"/>
                </a:solidFill>
                <a:latin typeface="Aptos"/>
              </a:rPr>
              <a:t>tiếp</a:t>
            </a:r>
            <a:r>
              <a:rPr sz="2000" dirty="0">
                <a:solidFill>
                  <a:srgbClr val="726659"/>
                </a:solidFill>
                <a:latin typeface="Aptos"/>
              </a:rPr>
              <a:t>: </a:t>
            </a:r>
            <a:r>
              <a:rPr sz="2000" dirty="0" err="1">
                <a:solidFill>
                  <a:srgbClr val="726659"/>
                </a:solidFill>
                <a:latin typeface="Aptos"/>
              </a:rPr>
              <a:t>tải</a:t>
            </a:r>
            <a:r>
              <a:rPr sz="2000" dirty="0">
                <a:solidFill>
                  <a:srgbClr val="726659"/>
                </a:solidFill>
                <a:latin typeface="Aptos"/>
              </a:rPr>
              <a:t> </a:t>
            </a:r>
            <a:r>
              <a:rPr sz="2000" dirty="0" err="1">
                <a:solidFill>
                  <a:srgbClr val="726659"/>
                </a:solidFill>
                <a:latin typeface="Aptos"/>
              </a:rPr>
              <a:t>dữ</a:t>
            </a:r>
            <a:r>
              <a:rPr sz="2000" dirty="0">
                <a:solidFill>
                  <a:srgbClr val="726659"/>
                </a:solidFill>
                <a:latin typeface="Aptos"/>
              </a:rPr>
              <a:t> </a:t>
            </a:r>
            <a:r>
              <a:rPr sz="2000" dirty="0" err="1">
                <a:solidFill>
                  <a:srgbClr val="726659"/>
                </a:solidFill>
                <a:latin typeface="Aptos"/>
              </a:rPr>
              <a:t>liệu</a:t>
            </a:r>
            <a:r>
              <a:rPr sz="2000" dirty="0">
                <a:solidFill>
                  <a:srgbClr val="726659"/>
                </a:solidFill>
                <a:latin typeface="Aptos"/>
              </a:rPr>
              <a:t>, </a:t>
            </a:r>
            <a:r>
              <a:rPr sz="2000" dirty="0" err="1">
                <a:solidFill>
                  <a:srgbClr val="726659"/>
                </a:solidFill>
                <a:latin typeface="Aptos"/>
              </a:rPr>
              <a:t>xem</a:t>
            </a:r>
            <a:r>
              <a:rPr sz="2000" dirty="0">
                <a:solidFill>
                  <a:srgbClr val="726659"/>
                </a:solidFill>
                <a:latin typeface="Aptos"/>
              </a:rPr>
              <a:t> </a:t>
            </a:r>
            <a:r>
              <a:rPr sz="2000" dirty="0" err="1">
                <a:solidFill>
                  <a:srgbClr val="726659"/>
                </a:solidFill>
                <a:latin typeface="Aptos"/>
              </a:rPr>
              <a:t>đặc</a:t>
            </a:r>
            <a:r>
              <a:rPr sz="2000" dirty="0">
                <a:solidFill>
                  <a:srgbClr val="726659"/>
                </a:solidFill>
                <a:latin typeface="Aptos"/>
              </a:rPr>
              <a:t> </a:t>
            </a:r>
            <a:r>
              <a:rPr sz="2000" dirty="0" err="1">
                <a:solidFill>
                  <a:srgbClr val="726659"/>
                </a:solidFill>
                <a:latin typeface="Aptos"/>
              </a:rPr>
              <a:t>trưng</a:t>
            </a:r>
            <a:r>
              <a:rPr sz="2000" dirty="0">
                <a:solidFill>
                  <a:srgbClr val="726659"/>
                </a:solidFill>
                <a:latin typeface="Aptos"/>
              </a:rPr>
              <a:t> </a:t>
            </a:r>
            <a:r>
              <a:rPr sz="2000" dirty="0" err="1">
                <a:solidFill>
                  <a:srgbClr val="726659"/>
                </a:solidFill>
                <a:latin typeface="Aptos"/>
              </a:rPr>
              <a:t>tín</a:t>
            </a:r>
            <a:r>
              <a:rPr sz="2000" dirty="0">
                <a:solidFill>
                  <a:srgbClr val="726659"/>
                </a:solidFill>
                <a:latin typeface="Aptos"/>
              </a:rPr>
              <a:t> </a:t>
            </a:r>
            <a:r>
              <a:rPr sz="2000" dirty="0" err="1">
                <a:solidFill>
                  <a:srgbClr val="726659"/>
                </a:solidFill>
                <a:latin typeface="Aptos"/>
              </a:rPr>
              <a:t>hiệu</a:t>
            </a:r>
            <a:r>
              <a:rPr sz="2000" dirty="0">
                <a:solidFill>
                  <a:srgbClr val="726659"/>
                </a:solidFill>
                <a:latin typeface="Aptos"/>
              </a:rPr>
              <a:t>, </a:t>
            </a:r>
            <a:r>
              <a:rPr sz="2000" dirty="0" err="1">
                <a:solidFill>
                  <a:srgbClr val="726659"/>
                </a:solidFill>
                <a:latin typeface="Aptos"/>
              </a:rPr>
              <a:t>tìm</a:t>
            </a:r>
            <a:r>
              <a:rPr sz="2000" dirty="0">
                <a:solidFill>
                  <a:srgbClr val="726659"/>
                </a:solidFill>
                <a:latin typeface="Aptos"/>
              </a:rPr>
              <a:t> </a:t>
            </a:r>
            <a:r>
              <a:rPr sz="2000" dirty="0" err="1">
                <a:solidFill>
                  <a:srgbClr val="726659"/>
                </a:solidFill>
                <a:latin typeface="Aptos"/>
              </a:rPr>
              <a:t>âm</a:t>
            </a:r>
            <a:r>
              <a:rPr sz="2000" dirty="0">
                <a:solidFill>
                  <a:srgbClr val="726659"/>
                </a:solidFill>
                <a:latin typeface="Aptos"/>
              </a:rPr>
              <a:t> </a:t>
            </a:r>
            <a:r>
              <a:rPr sz="2000" dirty="0" err="1">
                <a:solidFill>
                  <a:srgbClr val="726659"/>
                </a:solidFill>
                <a:latin typeface="Aptos"/>
              </a:rPr>
              <a:t>thanh</a:t>
            </a:r>
            <a:r>
              <a:rPr sz="2000" dirty="0">
                <a:solidFill>
                  <a:srgbClr val="726659"/>
                </a:solidFill>
                <a:latin typeface="Aptos"/>
              </a:rPr>
              <a:t> </a:t>
            </a:r>
            <a:r>
              <a:rPr sz="2000" dirty="0" err="1">
                <a:solidFill>
                  <a:srgbClr val="726659"/>
                </a:solidFill>
                <a:latin typeface="Aptos"/>
              </a:rPr>
              <a:t>tương</a:t>
            </a:r>
            <a:r>
              <a:rPr sz="2000" dirty="0">
                <a:solidFill>
                  <a:srgbClr val="726659"/>
                </a:solidFill>
                <a:latin typeface="Aptos"/>
              </a:rPr>
              <a:t> </a:t>
            </a:r>
            <a:r>
              <a:rPr sz="2000" dirty="0" err="1">
                <a:solidFill>
                  <a:srgbClr val="726659"/>
                </a:solidFill>
                <a:latin typeface="Aptos"/>
              </a:rPr>
              <a:t>tự</a:t>
            </a:r>
            <a:r>
              <a:rPr sz="2000" dirty="0">
                <a:solidFill>
                  <a:srgbClr val="726659"/>
                </a:solidFill>
                <a:latin typeface="Aptos"/>
              </a:rPr>
              <a:t>.</a:t>
            </a:r>
          </a:p>
        </p:txBody>
      </p:sp>
      <p:sp>
        <p:nvSpPr>
          <p:cNvPr id="6" name="Rounded Rectangle 5"/>
          <p:cNvSpPr/>
          <p:nvPr/>
        </p:nvSpPr>
        <p:spPr>
          <a:xfrm>
            <a:off x="7360920" y="1737360"/>
            <a:ext cx="3886200" cy="2606040"/>
          </a:xfrm>
          <a:prstGeom prst="roundRect">
            <a:avLst/>
          </a:prstGeom>
          <a:solidFill>
            <a:srgbClr val="FBF8F2"/>
          </a:solidFill>
          <a:ln>
            <a:solidFill>
              <a:srgbClr val="D8CF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0" y="2084831"/>
            <a:ext cx="2011680" cy="530352"/>
          </a:xfrm>
          <a:prstGeom prst="rect">
            <a:avLst/>
          </a:prstGeom>
          <a:noFill/>
        </p:spPr>
        <p:txBody>
          <a:bodyPr wrap="square" lIns="0" tIns="0" rIns="0" bIns="0">
            <a:normAutofit/>
          </a:bodyPr>
          <a:lstStyle/>
          <a:p>
            <a:r>
              <a:rPr sz="2200">
                <a:solidFill>
                  <a:srgbClr val="2A2119"/>
                </a:solidFill>
                <a:latin typeface="Georgia"/>
              </a:rPr>
              <a:t>Sẵn sàng demo</a:t>
            </a:r>
          </a:p>
        </p:txBody>
      </p:sp>
      <p:sp>
        <p:nvSpPr>
          <p:cNvPr id="8" name="TextBox 7"/>
          <p:cNvSpPr txBox="1"/>
          <p:nvPr/>
        </p:nvSpPr>
        <p:spPr>
          <a:xfrm>
            <a:off x="7680960" y="2697480"/>
            <a:ext cx="2926080" cy="1188720"/>
          </a:xfrm>
          <a:prstGeom prst="rect">
            <a:avLst/>
          </a:prstGeom>
          <a:noFill/>
        </p:spPr>
        <p:txBody>
          <a:bodyPr wrap="square" lIns="0" tIns="0" rIns="0" bIns="0">
            <a:normAutofit/>
          </a:bodyPr>
          <a:lstStyle/>
          <a:p>
            <a:r>
              <a:rPr sz="1700">
                <a:solidFill>
                  <a:srgbClr val="726659"/>
                </a:solidFill>
                <a:latin typeface="Aptos"/>
              </a:rPr>
              <a:t>1. Tải tệp âm thanh
2. Xem đặc trưng tín hiệu
3. Tìm âm thanh tương tự
4. Chạy AudioSQL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67</TotalTime>
  <Words>1765</Words>
  <Application>Microsoft Office PowerPoint</Application>
  <PresentationFormat>Widescreen</PresentationFormat>
  <Paragraphs>147</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Calibri</vt:lpstr>
      <vt:lpstr>Consolas</vt:lpstr>
      <vt:lpstr>Georgia</vt:lpstr>
      <vt:lpstr>Segoe WPC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Phan Công Hoài</cp:lastModifiedBy>
  <cp:revision>11</cp:revision>
  <dcterms:created xsi:type="dcterms:W3CDTF">2013-01-27T09:14:16Z</dcterms:created>
  <dcterms:modified xsi:type="dcterms:W3CDTF">2026-04-06T04:52:02Z</dcterms:modified>
  <cp:category/>
</cp:coreProperties>
</file>